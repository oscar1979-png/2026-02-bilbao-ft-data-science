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media/image62.gif" ContentType="image/gif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</p:sldIdLst>
  <p:sldSz cx="9144000" cy="5143500"/>
  <p:notesSz cx="6858000" cy="9144000"/>
  <p:embeddedFontLst>
    <p:embeddedFont>
      <p:font typeface="Jost"/>
      <p:regular r:id="rId90"/>
      <p:bold r:id="rId91"/>
      <p:italic r:id="rId92"/>
      <p:boldItalic r:id="rId93"/>
    </p:embeddedFont>
    <p:embeddedFont>
      <p:font typeface="Lucida Sans"/>
      <p:regular r:id="rId9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font" Target="fonts/Font_1_Jost_Regular.fntdata"/><Relationship Id="rId91" Type="http://schemas.openxmlformats.org/officeDocument/2006/relationships/font" Target="fonts/Font_2_Jost_Bold.fntdata"/><Relationship Id="rId92" Type="http://schemas.openxmlformats.org/officeDocument/2006/relationships/font" Target="fonts/Font_3_Jost_Italic.fntdata"/><Relationship Id="rId93" Type="http://schemas.openxmlformats.org/officeDocument/2006/relationships/font" Target="fonts/Font_4_Jost_BoldItalic.fntdata"/><Relationship Id="rId94" Type="http://schemas.openxmlformats.org/officeDocument/2006/relationships/font" Target="fonts/Font_5_Lucida_Sans_Regular.fntdata"/><Relationship Id="rId9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s-E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72532B-8353-4C63-A1D2-8698E5F097A0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s-E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s-E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s-E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39B1635-B369-444C-82CF-72057244C3A2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F8AA84-0F21-44FC-8629-915FC0142F49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tad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9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B08502-81D1-4FDC-8A37-8DAC8336C976}" type="slidenum">
              <a:rPr lang="es" sz="9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indent="0" algn="l">
              <a:buNone/>
              <a:defRPr lang="es-E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CBA93B-39C5-49C9-A956-D8CD542FE565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26CEC7-A7CC-40CB-82C8-144A1DDBC85F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69B2397-F433-4C59-9E06-2A2F28BA6816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CCCEE3-0532-45F4-A4B0-C75FD025B6F5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0000" lnSpcReduction="19999"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7E0656-7B60-4084-A520-7F410F208173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s-E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366EDAB-08C8-4BE8-B204-125A30C2E821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>
            <a:lvl1pPr indent="0" algn="l">
              <a:buNone/>
              <a:defRPr lang="es-E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82D8EF-AB98-4A71-B6E3-242646977114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00D9E2-A6FE-44CF-8B96-5026726D23D1}" type="slidenum">
              <a:rPr lang="e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jpeg"/><Relationship Id="rId18" Type="http://schemas.openxmlformats.org/officeDocument/2006/relationships/image" Target="../media/image24.jpe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jpe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jpeg"/><Relationship Id="rId27" Type="http://schemas.openxmlformats.org/officeDocument/2006/relationships/image" Target="../media/image10.png"/><Relationship Id="rId28" Type="http://schemas.openxmlformats.org/officeDocument/2006/relationships/image" Target="../media/image10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image" Target="../media/image5.png"/><Relationship Id="rId9" Type="http://schemas.openxmlformats.org/officeDocument/2006/relationships/image" Target="../media/image5.png"/><Relationship Id="rId10" Type="http://schemas.openxmlformats.org/officeDocument/2006/relationships/image" Target="../media/image5.png"/><Relationship Id="rId1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35.jpeg"/><Relationship Id="rId6" Type="http://schemas.openxmlformats.org/officeDocument/2006/relationships/image" Target="../media/image7.png"/><Relationship Id="rId7" Type="http://schemas.openxmlformats.org/officeDocument/2006/relationships/image" Target="../media/image36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7.jpeg"/><Relationship Id="rId6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8.png"/><Relationship Id="rId7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49.png"/><Relationship Id="rId3" Type="http://schemas.openxmlformats.org/officeDocument/2006/relationships/image" Target="../media/image49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5.png"/><Relationship Id="rId9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50.png"/><Relationship Id="rId7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1.jpeg"/><Relationship Id="rId7" Type="http://schemas.openxmlformats.org/officeDocument/2006/relationships/image" Target="../media/image36.png"/><Relationship Id="rId8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54.png"/><Relationship Id="rId7" Type="http://schemas.openxmlformats.org/officeDocument/2006/relationships/image" Target="../media/image54.png"/><Relationship Id="rId8" Type="http://schemas.openxmlformats.org/officeDocument/2006/relationships/image" Target="../media/image54.png"/><Relationship Id="rId9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55.png"/><Relationship Id="rId7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57.jpeg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58.jpeg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59.jpeg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60.png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2.gif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3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4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65.jpeg"/><Relationship Id="rId7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6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7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68.png"/><Relationship Id="rId7" Type="http://schemas.openxmlformats.org/officeDocument/2006/relationships/image" Target="../media/image69.jpeg"/><Relationship Id="rId8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54.png"/><Relationship Id="rId7" Type="http://schemas.openxmlformats.org/officeDocument/2006/relationships/image" Target="../media/image54.png"/><Relationship Id="rId8" Type="http://schemas.openxmlformats.org/officeDocument/2006/relationships/image" Target="../media/image54.png"/><Relationship Id="rId9" Type="http://schemas.openxmlformats.org/officeDocument/2006/relationships/image" Target="../media/image54.png"/><Relationship Id="rId10" Type="http://schemas.openxmlformats.org/officeDocument/2006/relationships/image" Target="../media/image54.png"/><Relationship Id="rId11" Type="http://schemas.openxmlformats.org/officeDocument/2006/relationships/image" Target="../media/image54.png"/><Relationship Id="rId12" Type="http://schemas.openxmlformats.org/officeDocument/2006/relationships/image" Target="../media/image54.png"/><Relationship Id="rId13" Type="http://schemas.openxmlformats.org/officeDocument/2006/relationships/image" Target="../media/image54.png"/><Relationship Id="rId14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70.jpeg"/><Relationship Id="rId2" Type="http://schemas.openxmlformats.org/officeDocument/2006/relationships/image" Target="../media/image8.jpe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71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72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8.jpe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74.png"/><Relationship Id="rId6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5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76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77.jpeg"/><Relationship Id="rId2" Type="http://schemas.openxmlformats.org/officeDocument/2006/relationships/image" Target="../media/image8.jpe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78.jpeg"/><Relationship Id="rId5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.jpe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80.jpeg"/><Relationship Id="rId5" Type="http://schemas.openxmlformats.org/officeDocument/2006/relationships/slideLayout" Target="../slideLayouts/slideLayout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81.jpeg"/><Relationship Id="rId5" Type="http://schemas.openxmlformats.org/officeDocument/2006/relationships/slideLayout" Target="../slideLayouts/slideLayout5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82.png"/><Relationship Id="rId5" Type="http://schemas.openxmlformats.org/officeDocument/2006/relationships/slideLayout" Target="../slideLayouts/slideLayout5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83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84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54.png"/><Relationship Id="rId7" Type="http://schemas.openxmlformats.org/officeDocument/2006/relationships/image" Target="../media/image54.png"/><Relationship Id="rId8" Type="http://schemas.openxmlformats.org/officeDocument/2006/relationships/image" Target="../media/image54.png"/><Relationship Id="rId9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85.png"/><Relationship Id="rId5" Type="http://schemas.openxmlformats.org/officeDocument/2006/relationships/slideLayout" Target="../slideLayouts/slideLayout5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86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87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88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89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90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91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92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93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94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95.jpeg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hyperlink" Target="https://www.canva.com/es_es/" TargetMode="External"/><Relationship Id="rId2" Type="http://schemas.openxmlformats.org/officeDocument/2006/relationships/hyperlink" Target="https://www.slidescarnival.com/" TargetMode="External"/><Relationship Id="rId3" Type="http://schemas.openxmlformats.org/officeDocument/2006/relationships/hyperlink" Target="http://gamma.ai" TargetMode="External"/><Relationship Id="rId4" Type="http://schemas.openxmlformats.org/officeDocument/2006/relationships/hyperlink" Target="https://pixabay.com/es/" TargetMode="External"/><Relationship Id="rId5" Type="http://schemas.openxmlformats.org/officeDocument/2006/relationships/hyperlink" Target="https://www.flaticon.com/" TargetMode="External"/><Relationship Id="rId6" Type="http://schemas.openxmlformats.org/officeDocument/2006/relationships/image" Target="../media/image8.jpeg"/><Relationship Id="rId7" Type="http://schemas.openxmlformats.org/officeDocument/2006/relationships/hyperlink" Target="http://www.lanbide.euskadi.eus" TargetMode="External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5.png"/><Relationship Id="rId1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hyperlink" Target="https://www.youtube.com/watch?v=-ZY8MTUz8pk&amp;ab_channel=TheBridge" TargetMode="External"/><Relationship Id="rId7" Type="http://schemas.openxmlformats.org/officeDocument/2006/relationships/hyperlink" Target="https://www.youtube.com/watch?v=W34SDi5_K6I&amp;ab_channel=ITTheBridgeSchool" TargetMode="External"/><Relationship Id="rId8" Type="http://schemas.openxmlformats.org/officeDocument/2006/relationships/hyperlink" Target="https://www.youtube.com/watch?v=YQKsbF0X0fs&amp;ab_channel=TheBridge" TargetMode="External"/><Relationship Id="rId9" Type="http://schemas.openxmlformats.org/officeDocument/2006/relationships/hyperlink" Target="https://www.youtube.com/watch?v=FhTj4RXV-LE&amp;ab_channel=TheBridge" TargetMode="External"/><Relationship Id="rId10" Type="http://schemas.openxmlformats.org/officeDocument/2006/relationships/hyperlink" Target="https://www.youtube.com/watch?v=kT9zSZpbKo0" TargetMode="External"/><Relationship Id="rId1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slideLayout" Target="../slideLayouts/slideLayout5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43120" y="1713600"/>
            <a:ext cx="85201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DISC &amp; Elevator Pitch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920520" y="2711520"/>
            <a:ext cx="85201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¡Comienza el desafío!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64;p15"/>
          <p:cNvSpPr/>
          <p:nvPr/>
        </p:nvSpPr>
        <p:spPr>
          <a:xfrm>
            <a:off x="0" y="1937880"/>
            <a:ext cx="770400" cy="162360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65;p15"/>
          <p:cNvPicPr/>
          <p:nvPr/>
        </p:nvPicPr>
        <p:blipFill>
          <a:blip r:embed="rId2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66;p15"/>
          <p:cNvPicPr/>
          <p:nvPr/>
        </p:nvPicPr>
        <p:blipFill>
          <a:blip r:embed="rId3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71;p16"/>
          <p:cNvPicPr/>
          <p:nvPr/>
        </p:nvPicPr>
        <p:blipFill>
          <a:blip r:embed="rId1"/>
          <a:stretch/>
        </p:blipFill>
        <p:spPr>
          <a:xfrm>
            <a:off x="0" y="-51480"/>
            <a:ext cx="3112560" cy="52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75760" y="22320"/>
            <a:ext cx="27169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ÍNDICE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Google Shape;73;p16"/>
          <p:cNvPicPr/>
          <p:nvPr/>
        </p:nvPicPr>
        <p:blipFill>
          <a:blip r:embed="rId2"/>
          <a:stretch/>
        </p:blipFill>
        <p:spPr>
          <a:xfrm>
            <a:off x="2993040" y="42051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74;p16"/>
          <p:cNvPicPr/>
          <p:nvPr/>
        </p:nvPicPr>
        <p:blipFill>
          <a:blip r:embed="rId3"/>
          <a:stretch/>
        </p:blipFill>
        <p:spPr>
          <a:xfrm>
            <a:off x="6152040" y="413604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oogle Shape;75;p16"/>
          <p:cNvPicPr/>
          <p:nvPr/>
        </p:nvPicPr>
        <p:blipFill>
          <a:blip r:embed="rId4"/>
          <a:stretch/>
        </p:blipFill>
        <p:spPr>
          <a:xfrm>
            <a:off x="7757640" y="4308480"/>
            <a:ext cx="1256400" cy="56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3171240" y="1454040"/>
            <a:ext cx="5214960" cy="216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9999"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01</a:t>
            </a: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	</a:t>
            </a:r>
            <a:r>
              <a:rPr lang="es" sz="33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¿Qué es DISC?</a:t>
            </a:r>
            <a:endParaRPr lang="es-E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02</a:t>
            </a: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	</a:t>
            </a:r>
            <a:r>
              <a:rPr lang="es" sz="33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Tips para presentaciones</a:t>
            </a:r>
            <a:endParaRPr lang="es-E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03</a:t>
            </a:r>
            <a:r>
              <a:rPr lang="es" sz="4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	</a:t>
            </a:r>
            <a:r>
              <a:rPr lang="es" sz="33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Casos prácticos </a:t>
            </a:r>
            <a:endParaRPr lang="es-E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81;p17"/>
          <p:cNvSpPr/>
          <p:nvPr/>
        </p:nvSpPr>
        <p:spPr>
          <a:xfrm>
            <a:off x="0" y="0"/>
            <a:ext cx="4862160" cy="514332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95280" y="1691280"/>
            <a:ext cx="52837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Sobre mí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83;p17"/>
          <p:cNvPicPr/>
          <p:nvPr/>
        </p:nvPicPr>
        <p:blipFill>
          <a:blip r:embed="rId2"/>
          <a:stretch/>
        </p:blipFill>
        <p:spPr>
          <a:xfrm>
            <a:off x="223200" y="404820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84;p17"/>
          <p:cNvPicPr/>
          <p:nvPr/>
        </p:nvPicPr>
        <p:blipFill>
          <a:blip r:embed="rId3"/>
          <a:stretch/>
        </p:blipFill>
        <p:spPr>
          <a:xfrm>
            <a:off x="3382200" y="397908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85;p17"/>
          <p:cNvPicPr/>
          <p:nvPr/>
        </p:nvPicPr>
        <p:blipFill>
          <a:blip r:embed="rId4"/>
          <a:stretch/>
        </p:blipFill>
        <p:spPr>
          <a:xfrm>
            <a:off x="395280" y="306720"/>
            <a:ext cx="636840" cy="63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86;p17"/>
          <p:cNvPicPr/>
          <p:nvPr/>
        </p:nvPicPr>
        <p:blipFill>
          <a:blip r:embed="rId5"/>
          <a:stretch/>
        </p:blipFill>
        <p:spPr>
          <a:xfrm>
            <a:off x="4983840" y="4167360"/>
            <a:ext cx="1159200" cy="52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91;p18"/>
          <p:cNvSpPr/>
          <p:nvPr/>
        </p:nvSpPr>
        <p:spPr>
          <a:xfrm>
            <a:off x="848520" y="1093320"/>
            <a:ext cx="786528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    Tecnología           Emprendimiento       Soft Skills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92;p18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93;p18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Google Shape;94;p18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95;p18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oogle Shape;96;p18"/>
          <p:cNvPicPr/>
          <p:nvPr/>
        </p:nvPicPr>
        <p:blipFill>
          <a:blip r:embed="rId4"/>
          <a:stretch/>
        </p:blipFill>
        <p:spPr>
          <a:xfrm>
            <a:off x="6151320" y="1269000"/>
            <a:ext cx="3650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97;p18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98;p18"/>
          <p:cNvPicPr/>
          <p:nvPr/>
        </p:nvPicPr>
        <p:blipFill>
          <a:blip r:embed="rId5"/>
          <a:stretch/>
        </p:blipFill>
        <p:spPr>
          <a:xfrm>
            <a:off x="990360" y="3630240"/>
            <a:ext cx="415800" cy="4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oogle Shape;99;p18"/>
          <p:cNvPicPr/>
          <p:nvPr/>
        </p:nvPicPr>
        <p:blipFill>
          <a:blip r:embed="rId6"/>
          <a:stretch/>
        </p:blipFill>
        <p:spPr>
          <a:xfrm>
            <a:off x="1629360" y="3666600"/>
            <a:ext cx="1459440" cy="36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100;p18"/>
          <p:cNvPicPr/>
          <p:nvPr/>
        </p:nvPicPr>
        <p:blipFill>
          <a:blip r:embed="rId7"/>
          <a:stretch/>
        </p:blipFill>
        <p:spPr>
          <a:xfrm>
            <a:off x="806760" y="3029040"/>
            <a:ext cx="1153080" cy="31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101;p18"/>
          <p:cNvPicPr/>
          <p:nvPr/>
        </p:nvPicPr>
        <p:blipFill>
          <a:blip r:embed="rId8"/>
          <a:stretch/>
        </p:blipFill>
        <p:spPr>
          <a:xfrm>
            <a:off x="5915160" y="3645000"/>
            <a:ext cx="849600" cy="8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02;p18"/>
          <p:cNvPicPr/>
          <p:nvPr/>
        </p:nvPicPr>
        <p:blipFill>
          <a:blip r:embed="rId9"/>
          <a:stretch/>
        </p:blipFill>
        <p:spPr>
          <a:xfrm>
            <a:off x="3435840" y="3669120"/>
            <a:ext cx="849600" cy="60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03;p18"/>
          <p:cNvPicPr/>
          <p:nvPr/>
        </p:nvPicPr>
        <p:blipFill>
          <a:blip r:embed="rId10"/>
          <a:stretch/>
        </p:blipFill>
        <p:spPr>
          <a:xfrm>
            <a:off x="4653360" y="3912840"/>
            <a:ext cx="703080" cy="11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104;p18"/>
          <p:cNvPicPr/>
          <p:nvPr/>
        </p:nvPicPr>
        <p:blipFill>
          <a:blip r:embed="rId11"/>
          <a:stretch/>
        </p:blipFill>
        <p:spPr>
          <a:xfrm>
            <a:off x="4121280" y="3733920"/>
            <a:ext cx="465120" cy="4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05;p18"/>
          <p:cNvPicPr/>
          <p:nvPr/>
        </p:nvPicPr>
        <p:blipFill>
          <a:blip r:embed="rId12"/>
          <a:stretch/>
        </p:blipFill>
        <p:spPr>
          <a:xfrm>
            <a:off x="2524680" y="4325400"/>
            <a:ext cx="365040" cy="31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106;p18"/>
          <p:cNvPicPr/>
          <p:nvPr/>
        </p:nvPicPr>
        <p:blipFill>
          <a:blip r:embed="rId13"/>
          <a:stretch/>
        </p:blipFill>
        <p:spPr>
          <a:xfrm>
            <a:off x="3738600" y="437544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07;p18" descr="Frikitek – Diseño Web a medida en Bilbao | Marketing Digital"/>
          <p:cNvPicPr/>
          <p:nvPr/>
        </p:nvPicPr>
        <p:blipFill>
          <a:blip r:embed="rId14"/>
          <a:stretch/>
        </p:blipFill>
        <p:spPr>
          <a:xfrm>
            <a:off x="2014200" y="3011760"/>
            <a:ext cx="1135080" cy="34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8;p18" descr="Matchday Innovation Fund de Demium - FinalScore"/>
          <p:cNvPicPr/>
          <p:nvPr/>
        </p:nvPicPr>
        <p:blipFill>
          <a:blip r:embed="rId15"/>
          <a:stretch/>
        </p:blipFill>
        <p:spPr>
          <a:xfrm>
            <a:off x="3261240" y="1667160"/>
            <a:ext cx="2419920" cy="64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9;p18" descr="Icono&#10;&#10;El contenido generado por IA puede ser incorrecto."/>
          <p:cNvPicPr/>
          <p:nvPr/>
        </p:nvPicPr>
        <p:blipFill>
          <a:blip r:embed="rId16"/>
          <a:stretch/>
        </p:blipFill>
        <p:spPr>
          <a:xfrm>
            <a:off x="3543480" y="3080160"/>
            <a:ext cx="505800" cy="5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10;p18" descr="Aste Nagusia 2014 (@astenagusiabio) / X"/>
          <p:cNvPicPr/>
          <p:nvPr/>
        </p:nvPicPr>
        <p:blipFill>
          <a:blip r:embed="rId17"/>
          <a:stretch/>
        </p:blipFill>
        <p:spPr>
          <a:xfrm>
            <a:off x="4477320" y="431496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11;p18" descr="Un dibujo animado con letras&#10;&#10;El contenido generado por IA puede ser incorrecto."/>
          <p:cNvPicPr/>
          <p:nvPr/>
        </p:nvPicPr>
        <p:blipFill>
          <a:blip r:embed="rId18"/>
          <a:stretch/>
        </p:blipFill>
        <p:spPr>
          <a:xfrm>
            <a:off x="828720" y="1738800"/>
            <a:ext cx="2266560" cy="54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12;p18" descr="Forma&#10;&#10;El contenido generado por IA puede ser incorrecto."/>
          <p:cNvPicPr/>
          <p:nvPr/>
        </p:nvPicPr>
        <p:blipFill>
          <a:blip r:embed="rId19"/>
          <a:stretch/>
        </p:blipFill>
        <p:spPr>
          <a:xfrm>
            <a:off x="770400" y="2344320"/>
            <a:ext cx="2345400" cy="51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13;p18"/>
          <p:cNvPicPr/>
          <p:nvPr/>
        </p:nvPicPr>
        <p:blipFill>
          <a:blip r:embed="rId20"/>
          <a:stretch/>
        </p:blipFill>
        <p:spPr>
          <a:xfrm>
            <a:off x="3543480" y="2498040"/>
            <a:ext cx="788040" cy="36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oogle Shape;114;p18"/>
          <p:cNvPicPr/>
          <p:nvPr/>
        </p:nvPicPr>
        <p:blipFill>
          <a:blip r:embed="rId21"/>
          <a:stretch/>
        </p:blipFill>
        <p:spPr>
          <a:xfrm>
            <a:off x="4999680" y="3133800"/>
            <a:ext cx="421200" cy="4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15;p18"/>
          <p:cNvPicPr/>
          <p:nvPr/>
        </p:nvPicPr>
        <p:blipFill>
          <a:blip r:embed="rId22"/>
          <a:stretch/>
        </p:blipFill>
        <p:spPr>
          <a:xfrm>
            <a:off x="4477320" y="2418840"/>
            <a:ext cx="926640" cy="52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16;p18" descr="Diagrama&#10;&#10;El contenido generado por IA puede ser incorrecto."/>
          <p:cNvPicPr/>
          <p:nvPr/>
        </p:nvPicPr>
        <p:blipFill>
          <a:blip r:embed="rId23"/>
          <a:stretch/>
        </p:blipFill>
        <p:spPr>
          <a:xfrm>
            <a:off x="6824520" y="1718640"/>
            <a:ext cx="2295720" cy="211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17;p18"/>
          <p:cNvPicPr/>
          <p:nvPr/>
        </p:nvPicPr>
        <p:blipFill>
          <a:blip r:embed="rId24"/>
          <a:srcRect l="23723" t="0" r="0" b="0"/>
          <a:stretch/>
        </p:blipFill>
        <p:spPr>
          <a:xfrm>
            <a:off x="5981040" y="1693080"/>
            <a:ext cx="2114640" cy="212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18;p18" descr="CoachingdelMárketing - Coach con Programación Neurolingüística (PNL)"/>
          <p:cNvPicPr/>
          <p:nvPr/>
        </p:nvPicPr>
        <p:blipFill>
          <a:blip r:embed="rId25"/>
          <a:stretch/>
        </p:blipFill>
        <p:spPr>
          <a:xfrm>
            <a:off x="7332480" y="3870720"/>
            <a:ext cx="1394280" cy="39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19;p18" descr="12 Líderes"/>
          <p:cNvPicPr/>
          <p:nvPr/>
        </p:nvPicPr>
        <p:blipFill>
          <a:blip r:embed="rId26"/>
          <a:stretch/>
        </p:blipFill>
        <p:spPr>
          <a:xfrm>
            <a:off x="6765120" y="3849840"/>
            <a:ext cx="440280" cy="44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120;p18"/>
          <p:cNvPicPr/>
          <p:nvPr/>
        </p:nvPicPr>
        <p:blipFill>
          <a:blip r:embed="rId27"/>
          <a:stretch/>
        </p:blipFill>
        <p:spPr>
          <a:xfrm>
            <a:off x="3303360" y="1269360"/>
            <a:ext cx="365040" cy="2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121;p18"/>
          <p:cNvPicPr/>
          <p:nvPr/>
        </p:nvPicPr>
        <p:blipFill>
          <a:blip r:embed="rId28"/>
          <a:stretch/>
        </p:blipFill>
        <p:spPr>
          <a:xfrm>
            <a:off x="848520" y="1281960"/>
            <a:ext cx="365040" cy="2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22;p18"/>
          <p:cNvPicPr/>
          <p:nvPr/>
        </p:nvPicPr>
        <p:blipFill>
          <a:blip r:embed="rId29"/>
          <a:stretch/>
        </p:blipFill>
        <p:spPr>
          <a:xfrm>
            <a:off x="4207680" y="3046680"/>
            <a:ext cx="527040" cy="52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23;p18"/>
          <p:cNvPicPr/>
          <p:nvPr/>
        </p:nvPicPr>
        <p:blipFill>
          <a:blip r:embed="rId30"/>
          <a:stretch/>
        </p:blipFill>
        <p:spPr>
          <a:xfrm>
            <a:off x="806760" y="4358880"/>
            <a:ext cx="1394280" cy="24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28;p19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9;p19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68120" y="1816560"/>
            <a:ext cx="6229080" cy="27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Sprints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con nuestro mentor/a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Usar un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gestor de proyectos (ej. Trello)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Cuidado con las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dependencias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MVP 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(Mínimo producto viable) en tiempos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Ensayar 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el desafío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Preparar las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preguntas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Google Shape;131;p19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132;p1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33;p19"/>
          <p:cNvPicPr/>
          <p:nvPr/>
        </p:nvPicPr>
        <p:blipFill>
          <a:blip r:embed="rId4"/>
          <a:stretch/>
        </p:blipFill>
        <p:spPr>
          <a:xfrm>
            <a:off x="1498320" y="1986120"/>
            <a:ext cx="4694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134;p19"/>
          <p:cNvPicPr/>
          <p:nvPr/>
        </p:nvPicPr>
        <p:blipFill>
          <a:blip r:embed="rId5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135;p19"/>
          <p:cNvSpPr/>
          <p:nvPr/>
        </p:nvSpPr>
        <p:spPr>
          <a:xfrm>
            <a:off x="719280" y="111492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Antes de nada,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para el Desafío de Tripulaciones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6;p19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Google Shape;137;p19"/>
          <p:cNvPicPr/>
          <p:nvPr/>
        </p:nvPicPr>
        <p:blipFill>
          <a:blip r:embed="rId6"/>
          <a:stretch/>
        </p:blipFill>
        <p:spPr>
          <a:xfrm>
            <a:off x="1498320" y="2465640"/>
            <a:ext cx="4694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38;p19"/>
          <p:cNvPicPr/>
          <p:nvPr/>
        </p:nvPicPr>
        <p:blipFill>
          <a:blip r:embed="rId7"/>
          <a:stretch/>
        </p:blipFill>
        <p:spPr>
          <a:xfrm>
            <a:off x="1498320" y="2880000"/>
            <a:ext cx="4694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39;p19"/>
          <p:cNvPicPr/>
          <p:nvPr/>
        </p:nvPicPr>
        <p:blipFill>
          <a:blip r:embed="rId8"/>
          <a:stretch/>
        </p:blipFill>
        <p:spPr>
          <a:xfrm>
            <a:off x="1498320" y="3359160"/>
            <a:ext cx="4694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40;p19"/>
          <p:cNvPicPr/>
          <p:nvPr/>
        </p:nvPicPr>
        <p:blipFill>
          <a:blip r:embed="rId9"/>
          <a:stretch/>
        </p:blipFill>
        <p:spPr>
          <a:xfrm>
            <a:off x="1498320" y="3813120"/>
            <a:ext cx="4694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141;p19"/>
          <p:cNvPicPr/>
          <p:nvPr/>
        </p:nvPicPr>
        <p:blipFill>
          <a:blip r:embed="rId10"/>
          <a:stretch/>
        </p:blipFill>
        <p:spPr>
          <a:xfrm>
            <a:off x="1498320" y="4292640"/>
            <a:ext cx="469440" cy="21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46;p20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7;p20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20200" y="2178000"/>
            <a:ext cx="8218080" cy="100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Que el trabajo en equipo no se convierta en </a:t>
            </a:r>
            <a:r>
              <a:rPr lang="es" sz="30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“GRAN HERMANO”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49;p20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Google Shape;150;p20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151;p20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Google Shape;152;p20"/>
          <p:cNvSpPr/>
          <p:nvPr/>
        </p:nvSpPr>
        <p:spPr>
          <a:xfrm>
            <a:off x="727560" y="95580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Pero sobre todo…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53;p20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58;p21"/>
          <p:cNvSpPr/>
          <p:nvPr/>
        </p:nvSpPr>
        <p:spPr>
          <a:xfrm>
            <a:off x="0" y="0"/>
            <a:ext cx="4862160" cy="514332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95280" y="1691280"/>
            <a:ext cx="52837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DISC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160;p21"/>
          <p:cNvPicPr/>
          <p:nvPr/>
        </p:nvPicPr>
        <p:blipFill>
          <a:blip r:embed="rId2"/>
          <a:stretch/>
        </p:blipFill>
        <p:spPr>
          <a:xfrm>
            <a:off x="223200" y="404820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61;p21"/>
          <p:cNvPicPr/>
          <p:nvPr/>
        </p:nvPicPr>
        <p:blipFill>
          <a:blip r:embed="rId3"/>
          <a:stretch/>
        </p:blipFill>
        <p:spPr>
          <a:xfrm>
            <a:off x="3382200" y="397908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62;p21"/>
          <p:cNvPicPr/>
          <p:nvPr/>
        </p:nvPicPr>
        <p:blipFill>
          <a:blip r:embed="rId4"/>
          <a:stretch/>
        </p:blipFill>
        <p:spPr>
          <a:xfrm>
            <a:off x="395280" y="306720"/>
            <a:ext cx="636840" cy="63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163;p21" descr="Haz la misma imagen sin textos fuera del círculo"/>
          <p:cNvPicPr/>
          <p:nvPr/>
        </p:nvPicPr>
        <p:blipFill>
          <a:blip r:embed="rId5"/>
          <a:srcRect l="7935" t="0" r="9324" b="0"/>
          <a:stretch/>
        </p:blipFill>
        <p:spPr>
          <a:xfrm>
            <a:off x="4862520" y="0"/>
            <a:ext cx="428112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164;p21"/>
          <p:cNvPicPr/>
          <p:nvPr/>
        </p:nvPicPr>
        <p:blipFill>
          <a:blip r:embed="rId6"/>
          <a:stretch/>
        </p:blipFill>
        <p:spPr>
          <a:xfrm>
            <a:off x="4983840" y="4167360"/>
            <a:ext cx="1159200" cy="52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165;p21"/>
          <p:cNvPicPr/>
          <p:nvPr/>
        </p:nvPicPr>
        <p:blipFill>
          <a:blip r:embed="rId7"/>
          <a:stretch/>
        </p:blipFill>
        <p:spPr>
          <a:xfrm>
            <a:off x="4862520" y="0"/>
            <a:ext cx="4281120" cy="524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70;p22"/>
          <p:cNvSpPr/>
          <p:nvPr/>
        </p:nvSpPr>
        <p:spPr>
          <a:xfrm>
            <a:off x="0" y="2172960"/>
            <a:ext cx="4930920" cy="114192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54240" y="2172960"/>
            <a:ext cx="45763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¿QUÉ ES DISC?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172;p22"/>
          <p:cNvPicPr/>
          <p:nvPr/>
        </p:nvPicPr>
        <p:blipFill>
          <a:blip r:embed="rId2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173;p22"/>
          <p:cNvPicPr/>
          <p:nvPr/>
        </p:nvPicPr>
        <p:blipFill>
          <a:blip r:embed="rId3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78;p23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9;p23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02880" y="1816560"/>
            <a:ext cx="7294320" cy="27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Es el lenguaje del comportamiento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. Nos ayuda a comprender: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Cómo me enfrento a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problemas y desafíos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Cómo me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comunico e interactúo 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con los demás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Cómo me enfrento a los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cambios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  <a:tabLst>
                <a:tab pos="0" algn="l"/>
              </a:tabLst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Cómo </a:t>
            </a: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reacciono</a:t>
            </a: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frente a las normas y procedimientos a los que estoy expuesto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181;p23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182;p23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183;p23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Google Shape;184;p23"/>
          <p:cNvSpPr/>
          <p:nvPr/>
        </p:nvSpPr>
        <p:spPr>
          <a:xfrm>
            <a:off x="727560" y="95580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DISC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85;p23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90;p24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91;p24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02880" y="1816560"/>
            <a:ext cx="7294320" cy="128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Todas las personas somos diferentes,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aunque </a:t>
            </a:r>
            <a:r>
              <a:rPr lang="es" sz="30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“predeciblemente diferentes”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193;p24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194;p24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95;p24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Google Shape;196;p24"/>
          <p:cNvSpPr/>
          <p:nvPr/>
        </p:nvSpPr>
        <p:spPr>
          <a:xfrm>
            <a:off x="727560" y="95580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Los 4 estilos relacionales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7;p24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202;p25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Servicial</a:t>
            </a:r>
            <a:br>
              <a:rPr sz="3230"/>
            </a:b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(Serenidad)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203;p25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Influyente</a:t>
            </a:r>
            <a:endParaRPr lang="es-E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(Influencia / relación)</a:t>
            </a:r>
            <a:endParaRPr lang="es-E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04;p25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Concienzudo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(Cumplimiento)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05;p25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Dominante</a:t>
            </a:r>
            <a:br>
              <a:rPr sz="3230"/>
            </a:b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(Decisión)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210;p26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  Earth Green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11;p26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Sunshine </a:t>
            </a:r>
            <a:endParaRPr lang="es-E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Yellow</a:t>
            </a:r>
            <a:endParaRPr lang="es-E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12;p26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   Cool Blue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13;p26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3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  Fiery Red</a:t>
            </a:r>
            <a:endParaRPr lang="es-ES" sz="3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Google Shape;214;p26" descr="Una caricatura de una person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2864160" y="2952000"/>
            <a:ext cx="1043640" cy="146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215;p26" descr="Logotipo&#10;&#10;El contenido generado por IA puede ser incorrecto."/>
          <p:cNvPicPr/>
          <p:nvPr/>
        </p:nvPicPr>
        <p:blipFill>
          <a:blip r:embed="rId2"/>
          <a:stretch/>
        </p:blipFill>
        <p:spPr>
          <a:xfrm>
            <a:off x="7185600" y="155880"/>
            <a:ext cx="1385280" cy="19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216;p26" descr="Logotipo, nombre de la empresa&#10;&#10;El contenido generado por IA puede ser incorrecto."/>
          <p:cNvPicPr/>
          <p:nvPr/>
        </p:nvPicPr>
        <p:blipFill>
          <a:blip r:embed="rId3"/>
          <a:stretch/>
        </p:blipFill>
        <p:spPr>
          <a:xfrm>
            <a:off x="7518600" y="1282680"/>
            <a:ext cx="706320" cy="413640"/>
          </a:xfrm>
          <a:prstGeom prst="rect">
            <a:avLst/>
          </a:prstGeom>
          <a:noFill/>
          <a:ln w="0">
            <a:noFill/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</p:pic>
      <p:pic>
        <p:nvPicPr>
          <p:cNvPr id="150" name="Google Shape;217;p26" descr="Imagen que contiene Icon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2927520" y="471960"/>
            <a:ext cx="1202040" cy="152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18;p26" descr="Forma, Círculo&#10;&#10;El contenido generado por IA puede ser incorrecto."/>
          <p:cNvPicPr/>
          <p:nvPr/>
        </p:nvPicPr>
        <p:blipFill>
          <a:blip r:embed="rId5"/>
          <a:stretch/>
        </p:blipFill>
        <p:spPr>
          <a:xfrm>
            <a:off x="6772680" y="2952000"/>
            <a:ext cx="2007360" cy="191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23;p27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15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</a:t>
            </a:r>
            <a:endParaRPr lang="es-ES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4;p27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15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</a:t>
            </a:r>
            <a:endParaRPr lang="es-ES" sz="1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5;p27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15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</a:t>
            </a:r>
            <a:endParaRPr lang="es-ES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6;p27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15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</a:t>
            </a:r>
            <a:endParaRPr lang="es-ES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Google Shape;227;p27"/>
          <p:cNvCxnSpPr/>
          <p:nvPr/>
        </p:nvCxnSpPr>
        <p:spPr>
          <a:xfrm flipH="1">
            <a:off x="2711160" y="2554200"/>
            <a:ext cx="1861200" cy="18720"/>
          </a:xfrm>
          <a:prstGeom prst="straightConnector1">
            <a:avLst/>
          </a:prstGeom>
          <a:ln w="7620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57" name="Google Shape;228;p27"/>
          <p:cNvCxnSpPr/>
          <p:nvPr/>
        </p:nvCxnSpPr>
        <p:spPr>
          <a:xfrm flipV="1">
            <a:off x="4554720" y="820080"/>
            <a:ext cx="2880" cy="1716840"/>
          </a:xfrm>
          <a:prstGeom prst="straightConnector1">
            <a:avLst/>
          </a:prstGeom>
          <a:ln w="76200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58" name="Google Shape;229;p27"/>
          <p:cNvCxnSpPr/>
          <p:nvPr/>
        </p:nvCxnSpPr>
        <p:spPr>
          <a:xfrm flipH="1">
            <a:off x="4554720" y="2571480"/>
            <a:ext cx="2880" cy="1717200"/>
          </a:xfrm>
          <a:prstGeom prst="straightConnector1">
            <a:avLst/>
          </a:prstGeom>
          <a:ln w="76200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59" name="Google Shape;230;p27"/>
          <p:cNvSpPr/>
          <p:nvPr/>
        </p:nvSpPr>
        <p:spPr>
          <a:xfrm>
            <a:off x="3132720" y="256320"/>
            <a:ext cx="31280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4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PENSAR / TAREAS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31;p27"/>
          <p:cNvSpPr/>
          <p:nvPr/>
        </p:nvSpPr>
        <p:spPr>
          <a:xfrm>
            <a:off x="3236400" y="4323240"/>
            <a:ext cx="32767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4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SENTIR / RELACIÓN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32;p27"/>
          <p:cNvSpPr/>
          <p:nvPr/>
        </p:nvSpPr>
        <p:spPr>
          <a:xfrm>
            <a:off x="190080" y="2293920"/>
            <a:ext cx="2831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4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INTROVERSIÓN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33;p27"/>
          <p:cNvSpPr/>
          <p:nvPr/>
        </p:nvSpPr>
        <p:spPr>
          <a:xfrm>
            <a:off x="6456960" y="2288880"/>
            <a:ext cx="2831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4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EXTRAVERSIÓN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Google Shape;234;p27"/>
          <p:cNvCxnSpPr/>
          <p:nvPr/>
        </p:nvCxnSpPr>
        <p:spPr>
          <a:xfrm flipV="1">
            <a:off x="4554720" y="2554200"/>
            <a:ext cx="1860840" cy="18720"/>
          </a:xfrm>
          <a:prstGeom prst="straightConnector1">
            <a:avLst/>
          </a:prstGeom>
          <a:ln w="76200">
            <a:solidFill>
              <a:srgbClr val="FFFFFF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39;p28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38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VALORES</a:t>
            </a:r>
            <a:endParaRPr lang="es-ES" sz="6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40;p28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38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VISIÓN</a:t>
            </a:r>
            <a:endParaRPr lang="es-ES" sz="6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41;p28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38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MÉTODO</a:t>
            </a:r>
            <a:endParaRPr lang="es-ES" sz="6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42;p28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OBJETIVOS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247;p29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Let’s do it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HARMONIOUSLY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48;p29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Let’s do it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TOGETHER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49;p29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Let’s do it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RIGHT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50;p29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Let’s do it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NOW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51;p29"/>
          <p:cNvSpPr/>
          <p:nvPr/>
        </p:nvSpPr>
        <p:spPr>
          <a:xfrm>
            <a:off x="1082880" y="2000520"/>
            <a:ext cx="27684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Seguridad y estabilidad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52;p29"/>
          <p:cNvSpPr/>
          <p:nvPr/>
        </p:nvSpPr>
        <p:spPr>
          <a:xfrm>
            <a:off x="5888160" y="2000520"/>
            <a:ext cx="2556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Rapidez y resultados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53;p29"/>
          <p:cNvSpPr/>
          <p:nvPr/>
        </p:nvSpPr>
        <p:spPr>
          <a:xfrm>
            <a:off x="1016280" y="4445280"/>
            <a:ext cx="3174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Armonía en las relaciones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54;p29"/>
          <p:cNvSpPr/>
          <p:nvPr/>
        </p:nvSpPr>
        <p:spPr>
          <a:xfrm>
            <a:off x="5773680" y="4500720"/>
            <a:ext cx="23619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Generar conexiones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259;p30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1" u="sng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Estable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Paciente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Sereno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Comprensivo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Acogedor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Protector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Mediador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60;p30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1" u="sng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Inspirador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Influyente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Entusiasta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Sociable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Expresivo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Dinamizador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Espontáneo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61;p30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1" u="sng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Concienzudo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Preciso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Claro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Metódico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Discreto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Prudente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Formal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62;p30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1" u="sng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Dominante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Directo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Resolutivo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Valiente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Competitivo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Transparente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Ejecutor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63;p30"/>
          <p:cNvSpPr/>
          <p:nvPr/>
        </p:nvSpPr>
        <p:spPr>
          <a:xfrm>
            <a:off x="3227400" y="1620360"/>
            <a:ext cx="268848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GOOD DAY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268;p31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Inseguro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Indeciso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Aburrido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Laborioso pero mediocre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Resignado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 colapsa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69;p31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Exagerado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Protagonista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Disperso / procrastinador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Indiscreto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Extravagante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Apresurado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70;p31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Muy crítico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Desconfiado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Frío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Reservado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Cuadriculado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Paralizador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71;p31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Agresivo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Controlador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No escucha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Autoritario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Intolerante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Brusco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72;p31"/>
          <p:cNvSpPr/>
          <p:nvPr/>
        </p:nvSpPr>
        <p:spPr>
          <a:xfrm>
            <a:off x="3227400" y="1620360"/>
            <a:ext cx="268848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BAD DAY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277;p32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Contexto y antecedentes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Un buen entorno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Confianza y seguridad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Ausencia de conflicto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78;p32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Una gran idea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Visualizar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Motivarse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Novedades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79;p32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Información detallada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Hechos y datos (evidencia científica)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Instrucciones claras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Control del proceso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80;p32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Pocos datos, pero esenciales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Pruebas reales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Conclusiones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Acción y resultados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81;p32"/>
          <p:cNvSpPr/>
          <p:nvPr/>
        </p:nvSpPr>
        <p:spPr>
          <a:xfrm>
            <a:off x="2535480" y="2035800"/>
            <a:ext cx="430200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NECESITA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286;p33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87;p33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88;p33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89;p33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90;p33"/>
          <p:cNvSpPr/>
          <p:nvPr/>
        </p:nvSpPr>
        <p:spPr>
          <a:xfrm>
            <a:off x="2998800" y="2105280"/>
            <a:ext cx="295812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TOOLS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Google Shape;291;p33"/>
          <p:cNvPicPr/>
          <p:nvPr/>
        </p:nvPicPr>
        <p:blipFill>
          <a:blip r:embed="rId1"/>
          <a:stretch/>
        </p:blipFill>
        <p:spPr>
          <a:xfrm>
            <a:off x="1302480" y="476640"/>
            <a:ext cx="1628280" cy="16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292;p33"/>
          <p:cNvPicPr/>
          <p:nvPr/>
        </p:nvPicPr>
        <p:blipFill>
          <a:blip r:embed="rId2"/>
          <a:stretch/>
        </p:blipFill>
        <p:spPr>
          <a:xfrm>
            <a:off x="5792760" y="272160"/>
            <a:ext cx="1913040" cy="191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293;p33"/>
          <p:cNvPicPr/>
          <p:nvPr/>
        </p:nvPicPr>
        <p:blipFill>
          <a:blip r:embed="rId3"/>
          <a:stretch/>
        </p:blipFill>
        <p:spPr>
          <a:xfrm>
            <a:off x="5530320" y="2571480"/>
            <a:ext cx="2571480" cy="25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294;p33"/>
          <p:cNvPicPr/>
          <p:nvPr/>
        </p:nvPicPr>
        <p:blipFill>
          <a:blip r:embed="rId4"/>
          <a:stretch/>
        </p:blipFill>
        <p:spPr>
          <a:xfrm>
            <a:off x="1340640" y="3054600"/>
            <a:ext cx="1629360" cy="162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99;p34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300;p34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301;p34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302;p34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303;p34"/>
          <p:cNvSpPr/>
          <p:nvPr/>
        </p:nvSpPr>
        <p:spPr>
          <a:xfrm>
            <a:off x="1811520" y="1634760"/>
            <a:ext cx="5520600" cy="36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0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¿CON CUAL TE </a:t>
            </a: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IDENTIFICAS</a:t>
            </a:r>
            <a:r>
              <a:rPr lang="es" sz="6000" b="0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308;p35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309;p35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Google Shape;310;p35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Google Shape;311;p35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oogle Shape;312;p35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313;p35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Google Shape;314;p35" descr="quita los textos que están contiguos a las flechas interiores"/>
          <p:cNvPicPr/>
          <p:nvPr/>
        </p:nvPicPr>
        <p:blipFill>
          <a:blip r:embed="rId5"/>
          <a:stretch/>
        </p:blipFill>
        <p:spPr>
          <a:xfrm>
            <a:off x="2563200" y="783720"/>
            <a:ext cx="4017240" cy="401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319;p36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320;p36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07480" y="1616400"/>
            <a:ext cx="8003520" cy="294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3660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Cada persona posee un </a:t>
            </a:r>
            <a:r>
              <a:rPr lang="es" sz="17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estilo característico</a:t>
            </a: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, una manera particular de expresarse y de interpretar el mundo      </a:t>
            </a:r>
            <a:r>
              <a:rPr lang="es" sz="1700" b="0" i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¡Ojo! DISC no nos encasilla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660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Si realmente comprendemos los comportamientos de estos cuatro estilos, la </a:t>
            </a:r>
            <a:r>
              <a:rPr lang="es" sz="17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comunicación y la cooperación </a:t>
            </a: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serán más sencillas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660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Podemos tener </a:t>
            </a:r>
            <a:r>
              <a:rPr lang="es" sz="17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mezclas de estilos</a:t>
            </a: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y cambiar de cuadrante según el entorno.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660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Hay que ser capaces de </a:t>
            </a:r>
            <a:r>
              <a:rPr lang="es" sz="17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adoptar otros estilos</a:t>
            </a:r>
            <a:r>
              <a:rPr lang="es" sz="17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cuando sea el momento adecuado y tener cuidado de no abusar de nuestras fortalezas.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Google Shape;322;p36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Google Shape;323;p36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Google Shape;324;p36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Google Shape;325;p36"/>
          <p:cNvSpPr/>
          <p:nvPr/>
        </p:nvSpPr>
        <p:spPr>
          <a:xfrm>
            <a:off x="1613520" y="984240"/>
            <a:ext cx="44546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El secreto es la adaptabilidad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326;p36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" name="Google Shape;327;p36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Google Shape;328;p36"/>
          <p:cNvPicPr/>
          <p:nvPr/>
        </p:nvPicPr>
        <p:blipFill>
          <a:blip r:embed="rId6"/>
          <a:stretch/>
        </p:blipFill>
        <p:spPr>
          <a:xfrm>
            <a:off x="4834080" y="2305080"/>
            <a:ext cx="217800" cy="21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333;p37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334;p37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78240" y="2198520"/>
            <a:ext cx="8003520" cy="223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¿Son personas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aceleradas o de ritmo constante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¿Son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extrovertidas o reservadas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¿Les importan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los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detalles o la generalidad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¿Les gusta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asumir riesgos o se muestran cautos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¿Son personas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espontáneas o planificadas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Google Shape;336;p37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337;p37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oogle Shape;338;p37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Google Shape;339;p37"/>
          <p:cNvSpPr/>
          <p:nvPr/>
        </p:nvSpPr>
        <p:spPr>
          <a:xfrm>
            <a:off x="1613520" y="984240"/>
            <a:ext cx="5388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¿Cómo detecto a las demás personas?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40;p37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Google Shape;341;p37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346;p38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47;p38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78240" y="2198520"/>
            <a:ext cx="8003520" cy="223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Trabajo en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equipo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/ gestión de proyectos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Ventas /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consultoría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Educación /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docencia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RRHH / Gestión de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talento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Áreas de la vida que implican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relaciones personales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Google Shape;349;p38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Google Shape;350;p38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Google Shape;351;p38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Google Shape;352;p38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¿Dónde podemos tener en cuenta DISC?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53;p38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Google Shape;354;p38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359;p39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Alumni Day =</a:t>
            </a:r>
            <a:br>
              <a:rPr sz="2400"/>
            </a:b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Luismi’s Day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60;p39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Abrir desde cero siendo el único empleado en Bilbao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61;p39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Proyecto con 5 partners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62;p39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Apagón: orden de ir a casa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63;p39"/>
          <p:cNvSpPr/>
          <p:nvPr/>
        </p:nvSpPr>
        <p:spPr>
          <a:xfrm>
            <a:off x="2133360" y="1794960"/>
            <a:ext cx="541512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48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CASOS PROPIOS BOOTCAMP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Google Shape;364;p39" descr="Imagen que contiene Interfaz de usuario gráfica&#10;&#10;El contenido generado por IA puede ser incorrecto."/>
          <p:cNvPicPr/>
          <p:nvPr/>
        </p:nvPicPr>
        <p:blipFill>
          <a:blip r:embed="rId1"/>
          <a:srcRect l="0" t="0" r="57897" b="81955"/>
          <a:stretch/>
        </p:blipFill>
        <p:spPr>
          <a:xfrm>
            <a:off x="7750440" y="4214880"/>
            <a:ext cx="1475280" cy="9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Google Shape;365;p39" descr="Imagen que contiene Interfaz de usuario gráfica&#10;&#10;El contenido generado por IA puede ser incorrecto."/>
          <p:cNvPicPr/>
          <p:nvPr/>
        </p:nvPicPr>
        <p:blipFill>
          <a:blip r:embed="rId2"/>
          <a:srcRect l="0" t="17089" r="60324" b="61695"/>
          <a:stretch/>
        </p:blipFill>
        <p:spPr>
          <a:xfrm>
            <a:off x="7665120" y="0"/>
            <a:ext cx="1389960" cy="10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Google Shape;366;p39" descr="Imagen que contiene Interfaz de usuario gráfica&#10;&#10;El contenido generado por IA puede ser incorrecto."/>
          <p:cNvPicPr/>
          <p:nvPr/>
        </p:nvPicPr>
        <p:blipFill>
          <a:blip r:embed="rId3"/>
          <a:srcRect l="0" t="37353" r="56884" b="40745"/>
          <a:stretch/>
        </p:blipFill>
        <p:spPr>
          <a:xfrm>
            <a:off x="162000" y="0"/>
            <a:ext cx="1510560" cy="11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Google Shape;367;p39" descr="Imagen que contiene Interfaz de usuario gráfica&#10;&#10;El contenido generado por IA puede ser incorrecto."/>
          <p:cNvPicPr/>
          <p:nvPr/>
        </p:nvPicPr>
        <p:blipFill>
          <a:blip r:embed="rId4"/>
          <a:srcRect l="-2633" t="58026" r="55063" b="20485"/>
          <a:stretch/>
        </p:blipFill>
        <p:spPr>
          <a:xfrm>
            <a:off x="5760" y="3983760"/>
            <a:ext cx="1666440" cy="110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372;p40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Cumplen con los ejercicios y se preocupan por los compañeros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i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vs.</a:t>
            </a:r>
            <a:br>
              <a:rPr sz="2700"/>
            </a:b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Síndrome del impostor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73;p40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Motivados en algo nuevo y buenas presentaciones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i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vs.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Lo hacen a su manera, no terminar lo que empiezan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74;p40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Siguen las normas, respetan el orden y los procesos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i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vs.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Parálisis por análisis, quiero hacer todo perfecto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75;p40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Responden a retos y desafíos de manera rápida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700" b="0" i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vs.</a:t>
            </a:r>
            <a:br>
              <a:rPr sz="2700"/>
            </a:b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Ser bordes y frustrarse si no entienden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76;p40"/>
          <p:cNvSpPr/>
          <p:nvPr/>
        </p:nvSpPr>
        <p:spPr>
          <a:xfrm>
            <a:off x="2296440" y="2100960"/>
            <a:ext cx="470412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DOCENCIA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381;p41"/>
          <p:cNvSpPr/>
          <p:nvPr/>
        </p:nvSpPr>
        <p:spPr>
          <a:xfrm>
            <a:off x="0" y="2571840"/>
            <a:ext cx="4592520" cy="2577600"/>
          </a:xfrm>
          <a:prstGeom prst="rect">
            <a:avLst/>
          </a:prstGeom>
          <a:solidFill>
            <a:srgbClr val="3F9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Garantías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Seguridad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Atención al cliente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82;p41"/>
          <p:cNvSpPr/>
          <p:nvPr/>
        </p:nvSpPr>
        <p:spPr>
          <a:xfrm>
            <a:off x="4572000" y="2571840"/>
            <a:ext cx="4599720" cy="2577600"/>
          </a:xfrm>
          <a:prstGeom prst="rect">
            <a:avLst/>
          </a:prstGeom>
          <a:solidFill>
            <a:srgbClr val="FCD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Early adopter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“Tiene IA integrada, y no lo tiene casi nadie”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83;p41"/>
          <p:cNvSpPr/>
          <p:nvPr/>
        </p:nvSpPr>
        <p:spPr>
          <a:xfrm>
            <a:off x="0" y="-6120"/>
            <a:ext cx="4592520" cy="2577600"/>
          </a:xfrm>
          <a:prstGeom prst="rect">
            <a:avLst/>
          </a:prstGeom>
          <a:solidFill>
            <a:srgbClr val="1C7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Comparativa de características detallada y precisa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Tiempo para pensar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84;p41"/>
          <p:cNvSpPr/>
          <p:nvPr/>
        </p:nvSpPr>
        <p:spPr>
          <a:xfrm>
            <a:off x="4572000" y="-6120"/>
            <a:ext cx="4599720" cy="2577600"/>
          </a:xfrm>
          <a:prstGeom prst="rect">
            <a:avLst/>
          </a:prstGeom>
          <a:solidFill>
            <a:srgbClr val="B62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Datos esenciales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Oportunidad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Decisión rápida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85;p41"/>
          <p:cNvSpPr/>
          <p:nvPr/>
        </p:nvSpPr>
        <p:spPr>
          <a:xfrm>
            <a:off x="2230560" y="1780920"/>
            <a:ext cx="438264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48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ELEGIR UN </a:t>
            </a:r>
            <a:br>
              <a:rPr sz="4800"/>
            </a:br>
            <a:r>
              <a:rPr lang="es" sz="4800" b="1" u="none" strike="noStrike">
                <a:solidFill>
                  <a:srgbClr val="FFFFFF"/>
                </a:solidFill>
                <a:effectLst/>
                <a:uFillTx/>
                <a:latin typeface="Jost"/>
                <a:ea typeface="Jost"/>
              </a:rPr>
              <a:t>HOSTING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390;p42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91;p42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902880" y="1635480"/>
            <a:ext cx="729432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6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“Esta web es una Mi**da”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Google Shape;393;p42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oogle Shape;394;p42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Google Shape;395;p42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Google Shape;396;p42"/>
          <p:cNvSpPr/>
          <p:nvPr/>
        </p:nvSpPr>
        <p:spPr>
          <a:xfrm>
            <a:off x="1103760" y="100188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Conflictos entre colores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97;p42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98;p42"/>
          <p:cNvSpPr/>
          <p:nvPr/>
        </p:nvSpPr>
        <p:spPr>
          <a:xfrm>
            <a:off x="2062800" y="2824560"/>
            <a:ext cx="1318320" cy="131832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082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99;p42"/>
          <p:cNvSpPr/>
          <p:nvPr/>
        </p:nvSpPr>
        <p:spPr>
          <a:xfrm>
            <a:off x="4993920" y="2810520"/>
            <a:ext cx="1318320" cy="131832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43123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400;p42"/>
          <p:cNvSpPr/>
          <p:nvPr/>
        </p:nvSpPr>
        <p:spPr>
          <a:xfrm>
            <a:off x="3822480" y="3177360"/>
            <a:ext cx="1057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Vs.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Google Shape;401;p42" descr="Una caricatura de una persona&#10;&#10;El contenido generado por IA puede ser incorrecto."/>
          <p:cNvPicPr/>
          <p:nvPr/>
        </p:nvPicPr>
        <p:blipFill>
          <a:blip r:embed="rId5"/>
          <a:stretch/>
        </p:blipFill>
        <p:spPr>
          <a:xfrm>
            <a:off x="6796800" y="2678040"/>
            <a:ext cx="1043640" cy="146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402;p42" descr="Logotipo&#10;&#10;El contenido generado por IA puede ser incorrecto."/>
          <p:cNvPicPr/>
          <p:nvPr/>
        </p:nvPicPr>
        <p:blipFill>
          <a:blip r:embed="rId6"/>
          <a:stretch/>
        </p:blipFill>
        <p:spPr>
          <a:xfrm>
            <a:off x="384480" y="2356920"/>
            <a:ext cx="1385280" cy="19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Google Shape;403;p42" descr="Logotipo, nombre de la empresa&#10;&#10;El contenido generado por IA puede ser incorrecto."/>
          <p:cNvPicPr/>
          <p:nvPr/>
        </p:nvPicPr>
        <p:blipFill>
          <a:blip r:embed="rId7"/>
          <a:stretch/>
        </p:blipFill>
        <p:spPr>
          <a:xfrm>
            <a:off x="717120" y="3483720"/>
            <a:ext cx="706320" cy="413640"/>
          </a:xfrm>
          <a:prstGeom prst="rect">
            <a:avLst/>
          </a:prstGeom>
          <a:noFill/>
          <a:ln w="0">
            <a:noFill/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</p:pic>
      <p:pic>
        <p:nvPicPr>
          <p:cNvPr id="273" name="Google Shape;404;p42"/>
          <p:cNvPicPr/>
          <p:nvPr/>
        </p:nvPicPr>
        <p:blipFill>
          <a:blip r:embed="rId8"/>
          <a:stretch/>
        </p:blipFill>
        <p:spPr>
          <a:xfrm>
            <a:off x="258120" y="111348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409;p43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410;p43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902880" y="1635480"/>
            <a:ext cx="729432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6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“Metodología práctica”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Google Shape;412;p43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Google Shape;413;p43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Google Shape;414;p43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Google Shape;415;p43"/>
          <p:cNvSpPr/>
          <p:nvPr/>
        </p:nvSpPr>
        <p:spPr>
          <a:xfrm>
            <a:off x="1103760" y="95580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Colaborar entre colores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416;p43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417;p43"/>
          <p:cNvSpPr/>
          <p:nvPr/>
        </p:nvSpPr>
        <p:spPr>
          <a:xfrm>
            <a:off x="3822480" y="3177360"/>
            <a:ext cx="1057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2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&amp;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418;p43"/>
          <p:cNvSpPr/>
          <p:nvPr/>
        </p:nvSpPr>
        <p:spPr>
          <a:xfrm>
            <a:off x="2062800" y="2824560"/>
            <a:ext cx="1318320" cy="1318320"/>
          </a:xfrm>
          <a:prstGeom prst="ellipse">
            <a:avLst/>
          </a:prstGeom>
          <a:solidFill>
            <a:srgbClr val="156082"/>
          </a:solidFill>
          <a:ln w="19050">
            <a:solidFill>
              <a:srgbClr val="0828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419;p43"/>
          <p:cNvSpPr/>
          <p:nvPr/>
        </p:nvSpPr>
        <p:spPr>
          <a:xfrm>
            <a:off x="4993920" y="2810520"/>
            <a:ext cx="1318320" cy="131832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43123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Google Shape;420;p43" descr="Imagen que contiene Icono&#10;&#10;El contenido generado por IA puede ser incorrecto."/>
          <p:cNvPicPr/>
          <p:nvPr/>
        </p:nvPicPr>
        <p:blipFill>
          <a:blip r:embed="rId5"/>
          <a:stretch/>
        </p:blipFill>
        <p:spPr>
          <a:xfrm>
            <a:off x="450000" y="2515320"/>
            <a:ext cx="1202040" cy="152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Google Shape;421;p43" descr="Forma, Círculo&#10;&#10;El contenido generado por IA puede ser incorrecto."/>
          <p:cNvPicPr/>
          <p:nvPr/>
        </p:nvPicPr>
        <p:blipFill>
          <a:blip r:embed="rId6"/>
          <a:stretch/>
        </p:blipFill>
        <p:spPr>
          <a:xfrm>
            <a:off x="6686280" y="2509920"/>
            <a:ext cx="2007360" cy="191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Google Shape;422;p43"/>
          <p:cNvPicPr/>
          <p:nvPr/>
        </p:nvPicPr>
        <p:blipFill>
          <a:blip r:embed="rId7"/>
          <a:stretch/>
        </p:blipFill>
        <p:spPr>
          <a:xfrm>
            <a:off x="258840" y="110772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427;p44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428;p44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24840" y="3618360"/>
            <a:ext cx="729432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s" sz="36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Tratar a las demás personas de la manera en la que </a:t>
            </a:r>
            <a:r>
              <a:rPr lang="es" sz="36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necesitan ser tratadas </a:t>
            </a:r>
            <a:r>
              <a:rPr lang="es" sz="36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y no del modo en el que yo necesito que me traten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Google Shape;430;p44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Google Shape;431;p44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Google Shape;432;p44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Google Shape;433;p44"/>
          <p:cNvSpPr/>
          <p:nvPr/>
        </p:nvSpPr>
        <p:spPr>
          <a:xfrm>
            <a:off x="1708560" y="996480"/>
            <a:ext cx="67777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Conclusión DISC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434;p44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6" name="Google Shape;435;p44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440;p45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441;p45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820080" y="2927880"/>
            <a:ext cx="729432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s" sz="36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La </a:t>
            </a:r>
            <a:r>
              <a:rPr lang="es" sz="3600" b="1" u="none" strike="noStrike">
                <a:solidFill>
                  <a:srgbClr val="EF3340"/>
                </a:solidFill>
                <a:effectLst/>
                <a:uFillTx/>
                <a:latin typeface="Jost"/>
                <a:ea typeface="Jost"/>
              </a:rPr>
              <a:t>inteligencia emocional</a:t>
            </a:r>
            <a:r>
              <a:rPr lang="es" sz="36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llega a donde no llega la inteligencia artificial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Google Shape;443;p45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Google Shape;444;p45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Google Shape;445;p45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Google Shape;446;p45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451;p46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452;p46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69880" y="1764000"/>
            <a:ext cx="4001760" cy="168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Enlace a test DISC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Presentación WC Bilbao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Herramientas adicionales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Google Shape;454;p46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Google Shape;455;p46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oogle Shape;456;p46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Google Shape;457;p46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Más recursos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58;p46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Google Shape;459;p46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Google Shape;460;p46"/>
          <p:cNvSpPr/>
          <p:nvPr/>
        </p:nvSpPr>
        <p:spPr>
          <a:xfrm>
            <a:off x="965880" y="3803760"/>
            <a:ext cx="340668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jorgegonzalez.es/disc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Google Shape;461;p46" descr="Código QR&#10;&#10;El contenido generado por IA puede ser incorrecto."/>
          <p:cNvPicPr/>
          <p:nvPr/>
        </p:nvPicPr>
        <p:blipFill>
          <a:blip r:embed="rId6"/>
          <a:srcRect l="7969" t="3890" r="2661" b="6583"/>
          <a:stretch/>
        </p:blipFill>
        <p:spPr>
          <a:xfrm>
            <a:off x="5022360" y="1156680"/>
            <a:ext cx="2779200" cy="278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466;p47"/>
          <p:cNvSpPr/>
          <p:nvPr/>
        </p:nvSpPr>
        <p:spPr>
          <a:xfrm>
            <a:off x="0" y="0"/>
            <a:ext cx="4862160" cy="514332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395280" y="1691280"/>
            <a:ext cx="52837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Presentaciones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Google Shape;468;p47"/>
          <p:cNvPicPr/>
          <p:nvPr/>
        </p:nvPicPr>
        <p:blipFill>
          <a:blip r:embed="rId2"/>
          <a:stretch/>
        </p:blipFill>
        <p:spPr>
          <a:xfrm>
            <a:off x="223200" y="404820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Google Shape;469;p47"/>
          <p:cNvPicPr/>
          <p:nvPr/>
        </p:nvPicPr>
        <p:blipFill>
          <a:blip r:embed="rId3"/>
          <a:stretch/>
        </p:blipFill>
        <p:spPr>
          <a:xfrm>
            <a:off x="3382200" y="397908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Google Shape;470;p47"/>
          <p:cNvPicPr/>
          <p:nvPr/>
        </p:nvPicPr>
        <p:blipFill>
          <a:blip r:embed="rId4"/>
          <a:stretch/>
        </p:blipFill>
        <p:spPr>
          <a:xfrm>
            <a:off x="395280" y="306720"/>
            <a:ext cx="636840" cy="63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Google Shape;471;p47"/>
          <p:cNvPicPr/>
          <p:nvPr/>
        </p:nvPicPr>
        <p:blipFill>
          <a:blip r:embed="rId5"/>
          <a:stretch/>
        </p:blipFill>
        <p:spPr>
          <a:xfrm>
            <a:off x="4983840" y="4167360"/>
            <a:ext cx="1159200" cy="52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Google Shape;472;p47"/>
          <p:cNvPicPr/>
          <p:nvPr/>
        </p:nvPicPr>
        <p:blipFill>
          <a:blip r:embed="rId6"/>
          <a:stretch/>
        </p:blipFill>
        <p:spPr>
          <a:xfrm>
            <a:off x="4862520" y="-975600"/>
            <a:ext cx="4281120" cy="64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Google Shape;473;p47"/>
          <p:cNvPicPr/>
          <p:nvPr/>
        </p:nvPicPr>
        <p:blipFill>
          <a:blip r:embed="rId7"/>
          <a:stretch/>
        </p:blipFill>
        <p:spPr>
          <a:xfrm>
            <a:off x="4862520" y="0"/>
            <a:ext cx="5149080" cy="524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478;p48"/>
          <p:cNvPicPr/>
          <p:nvPr/>
        </p:nvPicPr>
        <p:blipFill>
          <a:blip r:embed="rId1"/>
          <a:stretch/>
        </p:blipFill>
        <p:spPr>
          <a:xfrm>
            <a:off x="-56880" y="-417600"/>
            <a:ext cx="9288720" cy="599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483;p49"/>
          <p:cNvPicPr/>
          <p:nvPr/>
        </p:nvPicPr>
        <p:blipFill>
          <a:blip r:embed="rId1"/>
          <a:stretch/>
        </p:blipFill>
        <p:spPr>
          <a:xfrm>
            <a:off x="0" y="0"/>
            <a:ext cx="952272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488;p50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89;p50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7" name="Google Shape;490;p50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Google Shape;491;p50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Google Shape;492;p50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Google Shape;493;p50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494;p50"/>
          <p:cNvSpPr/>
          <p:nvPr/>
        </p:nvSpPr>
        <p:spPr>
          <a:xfrm>
            <a:off x="1180080" y="2166840"/>
            <a:ext cx="1782000" cy="1782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1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previo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495;p50"/>
          <p:cNvSpPr/>
          <p:nvPr/>
        </p:nvSpPr>
        <p:spPr>
          <a:xfrm>
            <a:off x="5607720" y="2166840"/>
            <a:ext cx="1782000" cy="1782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3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después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496;p50"/>
          <p:cNvSpPr/>
          <p:nvPr/>
        </p:nvSpPr>
        <p:spPr>
          <a:xfrm>
            <a:off x="3394440" y="2166840"/>
            <a:ext cx="1780920" cy="1782000"/>
          </a:xfrm>
          <a:prstGeom prst="ellipse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2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durante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97;p50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El camino de una presentación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Google Shape;498;p50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503;p51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504;p51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Google Shape;505;p51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Google Shape;506;p51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Google Shape;507;p51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Google Shape;508;p51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509;p51"/>
          <p:cNvSpPr/>
          <p:nvPr/>
        </p:nvSpPr>
        <p:spPr>
          <a:xfrm>
            <a:off x="1180080" y="2166840"/>
            <a:ext cx="1782000" cy="1782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1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previo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510;p51"/>
          <p:cNvSpPr/>
          <p:nvPr/>
        </p:nvSpPr>
        <p:spPr>
          <a:xfrm>
            <a:off x="5607720" y="2166840"/>
            <a:ext cx="1782000" cy="1782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3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después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511;p51"/>
          <p:cNvSpPr/>
          <p:nvPr/>
        </p:nvSpPr>
        <p:spPr>
          <a:xfrm>
            <a:off x="3394440" y="2166840"/>
            <a:ext cx="1780920" cy="1782000"/>
          </a:xfrm>
          <a:prstGeom prst="ellipse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2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durante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512;p51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El camino de una presentación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Google Shape;513;p51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Google Shape;514;p51"/>
          <p:cNvPicPr/>
          <p:nvPr/>
        </p:nvPicPr>
        <p:blipFill>
          <a:blip r:embed="rId6"/>
          <a:stretch/>
        </p:blipFill>
        <p:spPr>
          <a:xfrm>
            <a:off x="3210840" y="1879560"/>
            <a:ext cx="479124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Google Shape;515;p51"/>
          <p:cNvPicPr/>
          <p:nvPr/>
        </p:nvPicPr>
        <p:blipFill>
          <a:blip r:embed="rId7"/>
          <a:stretch/>
        </p:blipFill>
        <p:spPr>
          <a:xfrm>
            <a:off x="3363120" y="2031840"/>
            <a:ext cx="4352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516;p51"/>
          <p:cNvPicPr/>
          <p:nvPr/>
        </p:nvPicPr>
        <p:blipFill>
          <a:blip r:embed="rId8"/>
          <a:stretch/>
        </p:blipFill>
        <p:spPr>
          <a:xfrm>
            <a:off x="3292200" y="1879560"/>
            <a:ext cx="4352400" cy="22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521;p52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522;p52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79600" y="2031840"/>
            <a:ext cx="4754880" cy="168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Elevator pitch (networking)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Conferencia (uso de Power Point)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20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Otros formatos (vídeo, redes, etc…)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Google Shape;524;p52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Google Shape;525;p52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Google Shape;526;p52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Google Shape;527;p52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Tipos de presentaciones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528;p52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Google Shape;529;p52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Google Shape;530;p52" descr="Aclara esta imagen y que tenga la luz óptima"/>
          <p:cNvPicPr/>
          <p:nvPr/>
        </p:nvPicPr>
        <p:blipFill>
          <a:blip r:embed="rId6"/>
          <a:srcRect l="0" t="0" r="28258" b="0"/>
          <a:stretch/>
        </p:blipFill>
        <p:spPr>
          <a:xfrm>
            <a:off x="5648040" y="1677960"/>
            <a:ext cx="2963880" cy="229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535;p53" descr="Imagen relacionada"/>
          <p:cNvPicPr/>
          <p:nvPr/>
        </p:nvPicPr>
        <p:blipFill>
          <a:blip r:embed="rId2"/>
          <a:stretch/>
        </p:blipFill>
        <p:spPr>
          <a:xfrm>
            <a:off x="-154440" y="-1001160"/>
            <a:ext cx="9566280" cy="68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Google Shape;536;p53"/>
          <p:cNvPicPr/>
          <p:nvPr/>
        </p:nvPicPr>
        <p:blipFill>
          <a:blip r:embed="rId3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407120" y="1828800"/>
            <a:ext cx="470556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475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¿CUÁL ES MI</a:t>
            </a:r>
            <a:r>
              <a:rPr lang="es" sz="52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OBJETIVO</a:t>
            </a:r>
            <a:r>
              <a:rPr lang="es" sz="52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EN EL DESAFÍO?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Google Shape;538;p53"/>
          <p:cNvPicPr/>
          <p:nvPr/>
        </p:nvPicPr>
        <p:blipFill>
          <a:blip r:embed="rId4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Google Shape;539;p53"/>
          <p:cNvPicPr/>
          <p:nvPr/>
        </p:nvPicPr>
        <p:blipFill>
          <a:blip r:embed="rId5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544;p54" descr="Un grupo de personas en un salón&#10;&#10;El contenido generado por IA puede ser incorrecto."/>
          <p:cNvPicPr/>
          <p:nvPr/>
        </p:nvPicPr>
        <p:blipFill>
          <a:blip r:embed="rId2"/>
          <a:stretch/>
        </p:blipFill>
        <p:spPr>
          <a:xfrm>
            <a:off x="-473040" y="-163080"/>
            <a:ext cx="12005280" cy="541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Google Shape;545;p54"/>
          <p:cNvPicPr/>
          <p:nvPr/>
        </p:nvPicPr>
        <p:blipFill>
          <a:blip r:embed="rId3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806840" y="2762280"/>
            <a:ext cx="470556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¿QUIÉN ES MI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PÚBLICO</a:t>
            </a: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?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Google Shape;547;p54"/>
          <p:cNvPicPr/>
          <p:nvPr/>
        </p:nvPicPr>
        <p:blipFill>
          <a:blip r:embed="rId4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Google Shape;548;p54"/>
          <p:cNvPicPr/>
          <p:nvPr/>
        </p:nvPicPr>
        <p:blipFill>
          <a:blip r:embed="rId5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553;p55" descr="Un grupo de personas jugando un videojuego&#10;&#10;El contenido generado por IA puede ser incorrecto."/>
          <p:cNvPicPr/>
          <p:nvPr/>
        </p:nvPicPr>
        <p:blipFill>
          <a:blip r:embed="rId2"/>
          <a:stretch/>
        </p:blipFill>
        <p:spPr>
          <a:xfrm>
            <a:off x="-173520" y="-987480"/>
            <a:ext cx="9317160" cy="698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Google Shape;554;p55"/>
          <p:cNvPicPr/>
          <p:nvPr/>
        </p:nvPicPr>
        <p:blipFill>
          <a:blip r:embed="rId3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806840" y="2762280"/>
            <a:ext cx="470556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DÓNDE</a:t>
            </a: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 PRESENTA?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Google Shape;556;p55"/>
          <p:cNvPicPr/>
          <p:nvPr/>
        </p:nvPicPr>
        <p:blipFill>
          <a:blip r:embed="rId4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Google Shape;557;p55"/>
          <p:cNvPicPr/>
          <p:nvPr/>
        </p:nvPicPr>
        <p:blipFill>
          <a:blip r:embed="rId5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562;p56"/>
          <p:cNvPicPr/>
          <p:nvPr/>
        </p:nvPicPr>
        <p:blipFill>
          <a:blip r:embed="rId2"/>
          <a:stretch/>
        </p:blipFill>
        <p:spPr>
          <a:xfrm>
            <a:off x="-907920" y="-52200"/>
            <a:ext cx="10709280" cy="52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Google Shape;563;p56"/>
          <p:cNvPicPr/>
          <p:nvPr/>
        </p:nvPicPr>
        <p:blipFill>
          <a:blip r:embed="rId3"/>
          <a:stretch/>
        </p:blipFill>
        <p:spPr>
          <a:xfrm>
            <a:off x="-538200" y="0"/>
            <a:ext cx="10220040" cy="577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2599920" y="2477520"/>
            <a:ext cx="347760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NO LLENES TODO DE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TEXTO</a:t>
            </a:r>
            <a:r>
              <a:rPr lang="es" sz="5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8" name="Google Shape;565;p56"/>
          <p:cNvPicPr/>
          <p:nvPr/>
        </p:nvPicPr>
        <p:blipFill>
          <a:blip r:embed="rId4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Google Shape;566;p56"/>
          <p:cNvPicPr/>
          <p:nvPr/>
        </p:nvPicPr>
        <p:blipFill>
          <a:blip r:embed="rId5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571;p57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572;p57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12000" y="2121840"/>
            <a:ext cx="6373800" cy="237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Es un apoyo visual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: No tienes que leer la pantalla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No es un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documento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de Word o PDF a enviar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Vienen a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verte a ti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Llenar la pantalla de texto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disuade la atención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Google Shape;574;p57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Google Shape;575;p57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Google Shape;576;p57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Google Shape;577;p57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Una presentación NO es para leer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578;p57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Google Shape;579;p57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584;p58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585;p58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554760" y="1879560"/>
            <a:ext cx="6796080" cy="230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Una o dos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tipografías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máximo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Seguir un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estilo visual y cromático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Fotografías alta calidad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: ojo con los derechos y uso de 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2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Google Shape;587;p58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Google Shape;588;p58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Google Shape;589;p58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Google Shape;590;p58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Formato de la presentación coherente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591;p58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7" name="Google Shape;592;p58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597;p59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598;p59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546480" y="2398320"/>
            <a:ext cx="7426440" cy="16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556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Tener en cuenta la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pantalla y el espacio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donde presentas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Tener un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respaldo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(PDF, vídeos en local) por si el wifi o el PC falla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Tener los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conectores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adecuados a HDMI (especialmente Mac)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1" name="Google Shape;600;p59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Google Shape;601;p5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Google Shape;602;p59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Google Shape;603;p59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Espacio y hardware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604;p59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Google Shape;605;p59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610;p60"/>
          <p:cNvSpPr/>
          <p:nvPr/>
        </p:nvSpPr>
        <p:spPr>
          <a:xfrm>
            <a:off x="1303560" y="858600"/>
            <a:ext cx="6536520" cy="34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14700" b="0" u="none" strike="noStrike">
                <a:solidFill>
                  <a:srgbClr val="FF0000"/>
                </a:solidFill>
                <a:effectLst/>
                <a:uFillTx/>
                <a:latin typeface="Jost"/>
                <a:ea typeface="Jost"/>
              </a:rPr>
              <a:t>Simple</a:t>
            </a:r>
            <a:endParaRPr lang="es-ES" sz="14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22"/>
              </a:spcBef>
              <a:tabLst>
                <a:tab pos="0" algn="l"/>
              </a:tabLst>
            </a:pPr>
            <a:r>
              <a:rPr lang="es" sz="4500" b="0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Palabras y frases cortas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22"/>
              </a:spcBef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615;p61"/>
          <p:cNvSpPr/>
          <p:nvPr/>
        </p:nvSpPr>
        <p:spPr>
          <a:xfrm>
            <a:off x="1581120" y="295560"/>
            <a:ext cx="5890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1100" b="0" u="none" strike="noStrik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Es una herramienta </a:t>
            </a:r>
            <a:r>
              <a:rPr lang="es" sz="1100" b="1" u="none" strike="noStrik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muy simple de usar</a:t>
            </a:r>
            <a:r>
              <a:rPr lang="es" sz="1100" b="0" u="none" strike="noStrik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, tan sólo con pulsar un botón accedemos a la base de datos de nuestros clientes y podemos acceder a sus contactos y a todo lo que necesitamos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22"/>
              </a:spcBef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Google Shape;616;p61" descr="Resultado de imagen de pantallas app"/>
          <p:cNvPicPr/>
          <p:nvPr/>
        </p:nvPicPr>
        <p:blipFill>
          <a:blip r:embed="rId1"/>
          <a:stretch/>
        </p:blipFill>
        <p:spPr>
          <a:xfrm>
            <a:off x="0" y="944640"/>
            <a:ext cx="9143640" cy="417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621;p62"/>
          <p:cNvPicPr/>
          <p:nvPr/>
        </p:nvPicPr>
        <p:blipFill>
          <a:blip r:embed="rId1"/>
          <a:stretch/>
        </p:blipFill>
        <p:spPr>
          <a:xfrm>
            <a:off x="-2519280" y="-1045440"/>
            <a:ext cx="11873880" cy="667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Google Shape;622;p62"/>
          <p:cNvSpPr/>
          <p:nvPr/>
        </p:nvSpPr>
        <p:spPr>
          <a:xfrm>
            <a:off x="1580760" y="1225080"/>
            <a:ext cx="5982120" cy="2554920"/>
          </a:xfrm>
          <a:prstGeom prst="rect">
            <a:avLst/>
          </a:prstGeom>
          <a:solidFill>
            <a:schemeClr val="dk1">
              <a:alpha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2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CUIDADO CON LAS PRESENTACIONES DE</a:t>
            </a:r>
            <a:r>
              <a:rPr lang="es" sz="32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9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CÓDIGO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Google Shape;623;p62"/>
          <p:cNvPicPr/>
          <p:nvPr/>
        </p:nvPicPr>
        <p:blipFill>
          <a:blip r:embed="rId2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Google Shape;624;p62"/>
          <p:cNvPicPr/>
          <p:nvPr/>
        </p:nvPicPr>
        <p:blipFill>
          <a:blip r:embed="rId3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629;p63"/>
          <p:cNvPicPr/>
          <p:nvPr/>
        </p:nvPicPr>
        <p:blipFill>
          <a:blip r:embed="rId1"/>
          <a:srcRect l="0" t="24332" r="0" b="24323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Google Shape;630;p63"/>
          <p:cNvPicPr/>
          <p:nvPr/>
        </p:nvPicPr>
        <p:blipFill>
          <a:blip r:embed="rId2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487520" y="376560"/>
            <a:ext cx="69361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lnSpcReduction="9999"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4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TU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PPT </a:t>
            </a:r>
            <a:r>
              <a:rPr lang="es" sz="40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ES TU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GPS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7" name="Google Shape;632;p63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Google Shape;633;p63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B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638;p64" descr="Imagen relacionada"/>
          <p:cNvSpPr/>
          <p:nvPr/>
        </p:nvSpPr>
        <p:spPr>
          <a:xfrm>
            <a:off x="1259640" y="-10836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Google Shape;639;p64" descr="Crea esta imagen para que tenga las dimensiones del fondo de pantalla, el resto completar con el amarillo de fondo"/>
          <p:cNvPicPr/>
          <p:nvPr/>
        </p:nvPicPr>
        <p:blipFill>
          <a:blip r:embed="rId1"/>
          <a:stretch/>
        </p:blipFill>
        <p:spPr>
          <a:xfrm>
            <a:off x="6031440" y="0"/>
            <a:ext cx="287136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Google Shape;640;p64"/>
          <p:cNvPicPr/>
          <p:nvPr/>
        </p:nvPicPr>
        <p:blipFill>
          <a:blip r:embed="rId2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Google Shape;641;p64"/>
          <p:cNvPicPr/>
          <p:nvPr/>
        </p:nvPicPr>
        <p:blipFill>
          <a:blip r:embed="rId3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-342000" y="1684080"/>
            <a:ext cx="69361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40000" lnSpcReduction="19999"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33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DETECTA Y ENSALZA</a:t>
            </a:r>
            <a:endParaRPr lang="es-E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6869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LO MÁS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6869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IMPORTANTE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647;p65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Google Shape;648;p65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12720" y="2052000"/>
            <a:ext cx="4605840" cy="245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556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No llevar un papel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en la mano para leer o leer la pantalla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Si lo sabes de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memoria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y pierdes el hilo es muy difícil continuar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Acuérdate de lo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importante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y desarrollalo a tu manera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Google Shape;650;p65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Google Shape;651;p65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9" name="Google Shape;652;p65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Google Shape;653;p65"/>
          <p:cNvSpPr/>
          <p:nvPr/>
        </p:nvSpPr>
        <p:spPr>
          <a:xfrm>
            <a:off x="1613520" y="84312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Ensayar sin memorizar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654;p65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Google Shape;655;p65"/>
          <p:cNvPicPr/>
          <p:nvPr/>
        </p:nvPicPr>
        <p:blipFill>
          <a:blip r:embed="rId5"/>
          <a:stretch/>
        </p:blipFill>
        <p:spPr>
          <a:xfrm>
            <a:off x="727560" y="99540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Google Shape;656;p65" descr="Mejora la calidad de esta imagen"/>
          <p:cNvPicPr/>
          <p:nvPr/>
        </p:nvPicPr>
        <p:blipFill>
          <a:blip r:embed="rId6"/>
          <a:stretch/>
        </p:blipFill>
        <p:spPr>
          <a:xfrm>
            <a:off x="5357880" y="1761480"/>
            <a:ext cx="3219120" cy="231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661;p66"/>
          <p:cNvPicPr/>
          <p:nvPr/>
        </p:nvPicPr>
        <p:blipFill>
          <a:blip r:embed="rId1"/>
          <a:stretch/>
        </p:blipFill>
        <p:spPr>
          <a:xfrm>
            <a:off x="-306720" y="-152280"/>
            <a:ext cx="9450360" cy="627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Google Shape;662;p66"/>
          <p:cNvPicPr/>
          <p:nvPr/>
        </p:nvPicPr>
        <p:blipFill>
          <a:blip r:embed="rId2"/>
          <a:stretch/>
        </p:blipFill>
        <p:spPr>
          <a:xfrm>
            <a:off x="-270000" y="-864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1071720" y="2817000"/>
            <a:ext cx="69361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32500" lnSpcReduction="19999"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28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PRACTICA 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6869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A TU MANERA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" sz="33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TRUCO JORGE: VISUALIZA EL ESPACIO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s-ES" sz="686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Google Shape;664;p66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Google Shape;665;p66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70;p67" descr="En qué se diferencia un cronógrafo de un cronómetro? | Kirman"/>
          <p:cNvPicPr/>
          <p:nvPr/>
        </p:nvPicPr>
        <p:blipFill>
          <a:blip r:embed="rId1"/>
          <a:stretch/>
        </p:blipFill>
        <p:spPr>
          <a:xfrm>
            <a:off x="-122400" y="-157680"/>
            <a:ext cx="9325800" cy="534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Google Shape;671;p67"/>
          <p:cNvPicPr/>
          <p:nvPr/>
        </p:nvPicPr>
        <p:blipFill>
          <a:blip r:embed="rId2"/>
          <a:stretch/>
        </p:blipFill>
        <p:spPr>
          <a:xfrm>
            <a:off x="-154440" y="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2761560" y="2462040"/>
            <a:ext cx="389124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28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CONTROLA LOS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TIEMPOS</a:t>
            </a:r>
            <a:r>
              <a:rPr lang="es" sz="28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Google Shape;673;p67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Google Shape;674;p67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679;p68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680;p68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12720" y="2052000"/>
            <a:ext cx="4605840" cy="245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El PC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funciona correctamente y la presentación está cargada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La pantalla 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se conecta bien al PC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20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Si hay una demo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, probarla antes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Google Shape;682;p68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Google Shape;683;p68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Google Shape;684;p68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Google Shape;685;p68"/>
          <p:cNvSpPr/>
          <p:nvPr/>
        </p:nvSpPr>
        <p:spPr>
          <a:xfrm>
            <a:off x="1613520" y="84312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Prueba todo antes del evento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686;p68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2" name="Google Shape;687;p68"/>
          <p:cNvPicPr/>
          <p:nvPr/>
        </p:nvPicPr>
        <p:blipFill>
          <a:blip r:embed="rId5"/>
          <a:stretch/>
        </p:blipFill>
        <p:spPr>
          <a:xfrm>
            <a:off x="727560" y="99540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Google Shape;688;p68" descr="Resultado de imagen de testing"/>
          <p:cNvPicPr/>
          <p:nvPr/>
        </p:nvPicPr>
        <p:blipFill>
          <a:blip r:embed="rId6"/>
          <a:stretch/>
        </p:blipFill>
        <p:spPr>
          <a:xfrm>
            <a:off x="5717520" y="1646280"/>
            <a:ext cx="2952720" cy="21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Google Shape;689;p68" descr="No O Detente. Icono De Apple. Signo De Fruta Fresca. Símbolo De Comida  Natural. Prohibido Símbolo De Parada De Prohibición. No Hay Icono De Manzana.  Vector Ilustraciones svg, vectoriales, clip art vectorizado"/>
          <p:cNvPicPr/>
          <p:nvPr/>
        </p:nvPicPr>
        <p:blipFill>
          <a:blip r:embed="rId7"/>
          <a:stretch/>
        </p:blipFill>
        <p:spPr>
          <a:xfrm>
            <a:off x="5904360" y="3795840"/>
            <a:ext cx="1122840" cy="112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694;p69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695;p69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7" name="Google Shape;696;p69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Google Shape;697;p6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Google Shape;698;p69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Google Shape;699;p69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700;p69"/>
          <p:cNvSpPr/>
          <p:nvPr/>
        </p:nvSpPr>
        <p:spPr>
          <a:xfrm>
            <a:off x="1180080" y="2166840"/>
            <a:ext cx="1782000" cy="1782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1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previo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701;p69"/>
          <p:cNvSpPr/>
          <p:nvPr/>
        </p:nvSpPr>
        <p:spPr>
          <a:xfrm>
            <a:off x="5607720" y="2166840"/>
            <a:ext cx="1782000" cy="1782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3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después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702;p69"/>
          <p:cNvSpPr/>
          <p:nvPr/>
        </p:nvSpPr>
        <p:spPr>
          <a:xfrm>
            <a:off x="3394440" y="2166840"/>
            <a:ext cx="1780920" cy="1782000"/>
          </a:xfrm>
          <a:prstGeom prst="ellipse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2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durante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703;p69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El camino de una presentación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Google Shape;704;p69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Google Shape;705;p69"/>
          <p:cNvPicPr/>
          <p:nvPr/>
        </p:nvPicPr>
        <p:blipFill>
          <a:blip r:embed="rId6"/>
          <a:stretch/>
        </p:blipFill>
        <p:spPr>
          <a:xfrm>
            <a:off x="5463720" y="1879560"/>
            <a:ext cx="25383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Google Shape;706;p69"/>
          <p:cNvPicPr/>
          <p:nvPr/>
        </p:nvPicPr>
        <p:blipFill>
          <a:blip r:embed="rId7"/>
          <a:stretch/>
        </p:blipFill>
        <p:spPr>
          <a:xfrm>
            <a:off x="5442120" y="1929600"/>
            <a:ext cx="30510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Google Shape;707;p69"/>
          <p:cNvPicPr/>
          <p:nvPr/>
        </p:nvPicPr>
        <p:blipFill>
          <a:blip r:embed="rId8"/>
          <a:stretch/>
        </p:blipFill>
        <p:spPr>
          <a:xfrm>
            <a:off x="448920" y="2018160"/>
            <a:ext cx="25383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9" name="Google Shape;708;p69"/>
          <p:cNvPicPr/>
          <p:nvPr/>
        </p:nvPicPr>
        <p:blipFill>
          <a:blip r:embed="rId9"/>
          <a:stretch/>
        </p:blipFill>
        <p:spPr>
          <a:xfrm>
            <a:off x="150480" y="2085480"/>
            <a:ext cx="30510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0" name="Google Shape;709;p69"/>
          <p:cNvPicPr/>
          <p:nvPr/>
        </p:nvPicPr>
        <p:blipFill>
          <a:blip r:embed="rId10"/>
          <a:stretch/>
        </p:blipFill>
        <p:spPr>
          <a:xfrm>
            <a:off x="192960" y="2018160"/>
            <a:ext cx="30510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Google Shape;710;p69"/>
          <p:cNvPicPr/>
          <p:nvPr/>
        </p:nvPicPr>
        <p:blipFill>
          <a:blip r:embed="rId11"/>
          <a:stretch/>
        </p:blipFill>
        <p:spPr>
          <a:xfrm>
            <a:off x="192960" y="1979640"/>
            <a:ext cx="30510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2" name="Google Shape;711;p69"/>
          <p:cNvPicPr/>
          <p:nvPr/>
        </p:nvPicPr>
        <p:blipFill>
          <a:blip r:embed="rId12"/>
          <a:stretch/>
        </p:blipFill>
        <p:spPr>
          <a:xfrm>
            <a:off x="5368320" y="1879560"/>
            <a:ext cx="30510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Google Shape;712;p69"/>
          <p:cNvPicPr/>
          <p:nvPr/>
        </p:nvPicPr>
        <p:blipFill>
          <a:blip r:embed="rId13"/>
          <a:stretch/>
        </p:blipFill>
        <p:spPr>
          <a:xfrm>
            <a:off x="5368320" y="1737360"/>
            <a:ext cx="3051000" cy="22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717;p70" descr="Resultado de imagen de postura"/>
          <p:cNvPicPr/>
          <p:nvPr/>
        </p:nvPicPr>
        <p:blipFill>
          <a:blip r:embed="rId1"/>
          <a:stretch/>
        </p:blipFill>
        <p:spPr>
          <a:xfrm>
            <a:off x="785520" y="0"/>
            <a:ext cx="7284240" cy="355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844200" y="3906000"/>
            <a:ext cx="389124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2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OJO CON LA </a:t>
            </a:r>
            <a:r>
              <a:rPr lang="es" sz="6869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POSTURA</a:t>
            </a:r>
            <a:r>
              <a:rPr lang="es" sz="2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Google Shape;719;p70"/>
          <p:cNvPicPr/>
          <p:nvPr/>
        </p:nvPicPr>
        <p:blipFill>
          <a:blip r:embed="rId2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Google Shape;720;p70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725;p71"/>
          <p:cNvPicPr/>
          <p:nvPr/>
        </p:nvPicPr>
        <p:blipFill>
          <a:blip r:embed="rId1"/>
          <a:stretch/>
        </p:blipFill>
        <p:spPr>
          <a:xfrm>
            <a:off x="-249120" y="0"/>
            <a:ext cx="10967760" cy="505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Google Shape;726;p71"/>
          <p:cNvPicPr/>
          <p:nvPr/>
        </p:nvPicPr>
        <p:blipFill>
          <a:blip r:embed="rId2"/>
          <a:stretch/>
        </p:blipFill>
        <p:spPr>
          <a:xfrm>
            <a:off x="0" y="-11736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2761560" y="2462040"/>
            <a:ext cx="427644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" sz="28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NO MIRES SOLO LA </a:t>
            </a:r>
            <a:r>
              <a:rPr lang="es" sz="6869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PANTALLA</a:t>
            </a:r>
            <a:r>
              <a:rPr lang="es" sz="28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Google Shape;728;p71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Google Shape;729;p71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734;p72" descr="Resultado de imagen de mirada"/>
          <p:cNvPicPr/>
          <p:nvPr/>
        </p:nvPicPr>
        <p:blipFill>
          <a:blip r:embed="rId1"/>
          <a:stretch/>
        </p:blipFill>
        <p:spPr>
          <a:xfrm>
            <a:off x="-599040" y="-74880"/>
            <a:ext cx="10233000" cy="53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Google Shape;735;p72"/>
          <p:cNvPicPr/>
          <p:nvPr/>
        </p:nvPicPr>
        <p:blipFill>
          <a:blip r:embed="rId2"/>
          <a:stretch/>
        </p:blipFill>
        <p:spPr>
          <a:xfrm>
            <a:off x="-592200" y="-52200"/>
            <a:ext cx="10220040" cy="52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Google Shape;736;p72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Google Shape;737;p72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Google Shape;738;p72"/>
          <p:cNvSpPr/>
          <p:nvPr/>
        </p:nvSpPr>
        <p:spPr>
          <a:xfrm>
            <a:off x="343080" y="634680"/>
            <a:ext cx="4644360" cy="28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MIRADA AL PÚBLICO </a:t>
            </a:r>
            <a:r>
              <a:rPr lang="es" sz="31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TRUCO DE LAS </a:t>
            </a:r>
            <a:br>
              <a:rPr sz="3100"/>
            </a:br>
            <a:r>
              <a:rPr lang="es" sz="31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2 PERSONAS</a:t>
            </a:r>
            <a:endParaRPr lang="es-E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743;p73"/>
          <p:cNvPicPr/>
          <p:nvPr/>
        </p:nvPicPr>
        <p:blipFill>
          <a:blip r:embed="rId1"/>
          <a:stretch/>
        </p:blipFill>
        <p:spPr>
          <a:xfrm>
            <a:off x="0" y="596880"/>
            <a:ext cx="51433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Google Shape;744;p73"/>
          <p:cNvSpPr/>
          <p:nvPr/>
        </p:nvSpPr>
        <p:spPr>
          <a:xfrm>
            <a:off x="1462680" y="242280"/>
            <a:ext cx="4644360" cy="16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PRIMEROS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30 </a:t>
            </a: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SEG.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¿CÓMO EMPIEZO?</a:t>
            </a: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745;p73"/>
          <p:cNvSpPr/>
          <p:nvPr/>
        </p:nvSpPr>
        <p:spPr>
          <a:xfrm>
            <a:off x="1045440" y="3875040"/>
            <a:ext cx="46443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IMPACTO INICIAL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1" name="Google Shape;746;p73"/>
          <p:cNvPicPr/>
          <p:nvPr/>
        </p:nvPicPr>
        <p:blipFill>
          <a:blip r:embed="rId2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Google Shape;747;p73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3" name="Google Shape;748;p73" descr="Signo de pregunta - Iconos gratis de señales"/>
          <p:cNvPicPr/>
          <p:nvPr/>
        </p:nvPicPr>
        <p:blipFill>
          <a:blip r:embed="rId5"/>
          <a:stretch/>
        </p:blipFill>
        <p:spPr>
          <a:xfrm>
            <a:off x="5841720" y="601560"/>
            <a:ext cx="3539520" cy="353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753;p74" descr="Resultado de imagen de storytelling"/>
          <p:cNvPicPr/>
          <p:nvPr/>
        </p:nvPicPr>
        <p:blipFill>
          <a:blip r:embed="rId1"/>
          <a:stretch/>
        </p:blipFill>
        <p:spPr>
          <a:xfrm>
            <a:off x="-35280" y="-469800"/>
            <a:ext cx="9276840" cy="579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Google Shape;754;p74"/>
          <p:cNvPicPr/>
          <p:nvPr/>
        </p:nvPicPr>
        <p:blipFill>
          <a:blip r:embed="rId2"/>
          <a:stretch/>
        </p:blipFill>
        <p:spPr>
          <a:xfrm>
            <a:off x="-738720" y="-15300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Google Shape;755;p74"/>
          <p:cNvSpPr/>
          <p:nvPr/>
        </p:nvSpPr>
        <p:spPr>
          <a:xfrm>
            <a:off x="1347480" y="596520"/>
            <a:ext cx="63144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STORYTELLING</a:t>
            </a: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CONEXIÓN EMOCIONAL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Google Shape;756;p74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Google Shape;757;p74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762;p75" descr="Una persona haciendo una presentación de un proyecto que transmita fuerza en su exposición"/>
          <p:cNvPicPr/>
          <p:nvPr/>
        </p:nvPicPr>
        <p:blipFill>
          <a:blip r:embed="rId1"/>
          <a:stretch/>
        </p:blipFill>
        <p:spPr>
          <a:xfrm>
            <a:off x="-294840" y="0"/>
            <a:ext cx="9438480" cy="51433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pic>
      <p:pic>
        <p:nvPicPr>
          <p:cNvPr id="500" name="Google Shape;763;p75"/>
          <p:cNvPicPr/>
          <p:nvPr/>
        </p:nvPicPr>
        <p:blipFill>
          <a:blip r:embed="rId2"/>
          <a:stretch/>
        </p:blipFill>
        <p:spPr>
          <a:xfrm>
            <a:off x="-767880" y="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Google Shape;764;p75"/>
          <p:cNvSpPr/>
          <p:nvPr/>
        </p:nvSpPr>
        <p:spPr>
          <a:xfrm>
            <a:off x="3118320" y="3101400"/>
            <a:ext cx="631440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CRÉETELO</a:t>
            </a:r>
            <a:r>
              <a:rPr lang="es" sz="18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2" name="Google Shape;765;p75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Google Shape;766;p75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771;p76" descr="Resultado de imagen de manzana"/>
          <p:cNvPicPr/>
          <p:nvPr/>
        </p:nvPicPr>
        <p:blipFill>
          <a:blip r:embed="rId1"/>
          <a:stretch/>
        </p:blipFill>
        <p:spPr>
          <a:xfrm>
            <a:off x="1110960" y="1337400"/>
            <a:ext cx="4142880" cy="357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Google Shape;772;p76"/>
          <p:cNvSpPr/>
          <p:nvPr/>
        </p:nvSpPr>
        <p:spPr>
          <a:xfrm>
            <a:off x="4984560" y="1194480"/>
            <a:ext cx="392472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COMUNICA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NATURAL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Google Shape;773;p76"/>
          <p:cNvPicPr/>
          <p:nvPr/>
        </p:nvPicPr>
        <p:blipFill>
          <a:blip r:embed="rId2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Google Shape;774;p76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779;p77"/>
          <p:cNvSpPr/>
          <p:nvPr/>
        </p:nvSpPr>
        <p:spPr>
          <a:xfrm>
            <a:off x="4630320" y="1024920"/>
            <a:ext cx="3924720" cy="33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EXPLICACIÓN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SENCILLA</a:t>
            </a: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¿QUÉ, COMO, POR QUÉ?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Google Shape;780;p77"/>
          <p:cNvPicPr/>
          <p:nvPr/>
        </p:nvPicPr>
        <p:blipFill>
          <a:blip r:embed="rId1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Google Shape;781;p77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Google Shape;782;p77" descr="Resultado de imagen de flower"/>
          <p:cNvPicPr/>
          <p:nvPr/>
        </p:nvPicPr>
        <p:blipFill>
          <a:blip r:embed="rId4"/>
          <a:stretch/>
        </p:blipFill>
        <p:spPr>
          <a:xfrm>
            <a:off x="663120" y="1469880"/>
            <a:ext cx="3456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787;p78" descr="Resultado de imagen de electrocardiograma"/>
          <p:cNvPicPr/>
          <p:nvPr/>
        </p:nvPicPr>
        <p:blipFill>
          <a:blip r:embed="rId1"/>
          <a:stretch/>
        </p:blipFill>
        <p:spPr>
          <a:xfrm>
            <a:off x="1331280" y="1159920"/>
            <a:ext cx="6245640" cy="351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Google Shape;788;p78"/>
          <p:cNvSpPr/>
          <p:nvPr/>
        </p:nvSpPr>
        <p:spPr>
          <a:xfrm>
            <a:off x="1502280" y="555120"/>
            <a:ext cx="70297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INTENSIDAD Y 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PAUSAS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Google Shape;789;p78"/>
          <p:cNvPicPr/>
          <p:nvPr/>
        </p:nvPicPr>
        <p:blipFill>
          <a:blip r:embed="rId2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5" name="Google Shape;790;p78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795;p79"/>
          <p:cNvSpPr/>
          <p:nvPr/>
        </p:nvSpPr>
        <p:spPr>
          <a:xfrm>
            <a:off x="4918680" y="770760"/>
            <a:ext cx="290736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HILO 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CONDUCTOR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Google Shape;796;p79"/>
          <p:cNvPicPr/>
          <p:nvPr/>
        </p:nvPicPr>
        <p:blipFill>
          <a:blip r:embed="rId1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Google Shape;797;p7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Google Shape;798;p79" descr="Resultado de imagen de hilo"/>
          <p:cNvPicPr/>
          <p:nvPr/>
        </p:nvPicPr>
        <p:blipFill>
          <a:blip r:embed="rId4"/>
          <a:stretch/>
        </p:blipFill>
        <p:spPr>
          <a:xfrm>
            <a:off x="791280" y="605520"/>
            <a:ext cx="3545280" cy="354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803;p80"/>
          <p:cNvSpPr/>
          <p:nvPr/>
        </p:nvSpPr>
        <p:spPr>
          <a:xfrm>
            <a:off x="2348280" y="586080"/>
            <a:ext cx="421128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MENOS ES 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MÁS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Google Shape;804;p80"/>
          <p:cNvPicPr/>
          <p:nvPr/>
        </p:nvPicPr>
        <p:blipFill>
          <a:blip r:embed="rId1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Google Shape;805;p80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Google Shape;806;p80" descr="Resultado de imagen de menos es mas"/>
          <p:cNvPicPr/>
          <p:nvPr/>
        </p:nvPicPr>
        <p:blipFill>
          <a:blip r:embed="rId4"/>
          <a:stretch/>
        </p:blipFill>
        <p:spPr>
          <a:xfrm>
            <a:off x="2412360" y="1600200"/>
            <a:ext cx="4250160" cy="285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811;p81"/>
          <p:cNvSpPr/>
          <p:nvPr/>
        </p:nvSpPr>
        <p:spPr>
          <a:xfrm>
            <a:off x="916920" y="586080"/>
            <a:ext cx="72763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DEJA CON 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GANAS</a:t>
            </a: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DE MÁS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5" name="Google Shape;812;p81"/>
          <p:cNvPicPr/>
          <p:nvPr/>
        </p:nvPicPr>
        <p:blipFill>
          <a:blip r:embed="rId1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Google Shape;813;p81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Google Shape;814;p81"/>
          <p:cNvPicPr/>
          <p:nvPr/>
        </p:nvPicPr>
        <p:blipFill>
          <a:blip r:embed="rId4"/>
          <a:stretch/>
        </p:blipFill>
        <p:spPr>
          <a:xfrm>
            <a:off x="3265920" y="1844280"/>
            <a:ext cx="2401560" cy="22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819;p82"/>
          <p:cNvPicPr/>
          <p:nvPr/>
        </p:nvPicPr>
        <p:blipFill>
          <a:blip r:embed="rId1"/>
          <a:stretch/>
        </p:blipFill>
        <p:spPr>
          <a:xfrm>
            <a:off x="-6120" y="-203760"/>
            <a:ext cx="9210600" cy="55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Google Shape;820;p82"/>
          <p:cNvPicPr/>
          <p:nvPr/>
        </p:nvPicPr>
        <p:blipFill>
          <a:blip r:embed="rId2"/>
          <a:stretch/>
        </p:blipFill>
        <p:spPr>
          <a:xfrm>
            <a:off x="-787320" y="-615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Google Shape;821;p82"/>
          <p:cNvSpPr/>
          <p:nvPr/>
        </p:nvSpPr>
        <p:spPr>
          <a:xfrm>
            <a:off x="2782440" y="2970720"/>
            <a:ext cx="631440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CONCLUSIONES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Google Shape;822;p82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Google Shape;823;p82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828;p83" descr="Resultado de imagen de the end"/>
          <p:cNvPicPr/>
          <p:nvPr/>
        </p:nvPicPr>
        <p:blipFill>
          <a:blip r:embed="rId1"/>
          <a:stretch/>
        </p:blipFill>
        <p:spPr>
          <a:xfrm>
            <a:off x="-126360" y="0"/>
            <a:ext cx="9329760" cy="524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Google Shape;829;p83"/>
          <p:cNvPicPr/>
          <p:nvPr/>
        </p:nvPicPr>
        <p:blipFill>
          <a:blip r:embed="rId2"/>
          <a:stretch/>
        </p:blipFill>
        <p:spPr>
          <a:xfrm>
            <a:off x="-856800" y="10764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Google Shape;830;p83"/>
          <p:cNvSpPr/>
          <p:nvPr/>
        </p:nvSpPr>
        <p:spPr>
          <a:xfrm>
            <a:off x="79920" y="352800"/>
            <a:ext cx="631440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PREPARA EL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FINAL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Google Shape;831;p83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Google Shape;832;p83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Google Shape;833;p83"/>
          <p:cNvSpPr/>
          <p:nvPr/>
        </p:nvSpPr>
        <p:spPr>
          <a:xfrm>
            <a:off x="2629080" y="3178440"/>
            <a:ext cx="631440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ESPECIALMENTE SI HAY STROYTELLING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838;p84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Google Shape;839;p84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1" name="Google Shape;840;p84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Google Shape;841;p84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3" name="Google Shape;842;p84"/>
          <p:cNvPicPr/>
          <p:nvPr/>
        </p:nvPicPr>
        <p:blipFill>
          <a:blip r:embed="rId4"/>
          <a:stretch/>
        </p:blipFill>
        <p:spPr>
          <a:xfrm>
            <a:off x="7891560" y="404892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Google Shape;843;p84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Google Shape;844;p84"/>
          <p:cNvSpPr/>
          <p:nvPr/>
        </p:nvSpPr>
        <p:spPr>
          <a:xfrm>
            <a:off x="1180080" y="2166840"/>
            <a:ext cx="1782000" cy="1782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1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previo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845;p84"/>
          <p:cNvSpPr/>
          <p:nvPr/>
        </p:nvSpPr>
        <p:spPr>
          <a:xfrm>
            <a:off x="5607720" y="2166840"/>
            <a:ext cx="1782000" cy="1782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3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después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846;p84"/>
          <p:cNvSpPr/>
          <p:nvPr/>
        </p:nvSpPr>
        <p:spPr>
          <a:xfrm>
            <a:off x="3394440" y="2166840"/>
            <a:ext cx="1780920" cy="1782000"/>
          </a:xfrm>
          <a:prstGeom prst="ellipse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2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2400" b="0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durante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847;p84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El camino de una presentación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9" name="Google Shape;848;p84"/>
          <p:cNvPicPr/>
          <p:nvPr/>
        </p:nvPicPr>
        <p:blipFill>
          <a:blip r:embed="rId5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Google Shape;849;p84"/>
          <p:cNvPicPr/>
          <p:nvPr/>
        </p:nvPicPr>
        <p:blipFill>
          <a:blip r:embed="rId6"/>
          <a:stretch/>
        </p:blipFill>
        <p:spPr>
          <a:xfrm>
            <a:off x="589680" y="1924560"/>
            <a:ext cx="479124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Google Shape;850;p84"/>
          <p:cNvPicPr/>
          <p:nvPr/>
        </p:nvPicPr>
        <p:blipFill>
          <a:blip r:embed="rId7"/>
          <a:stretch/>
        </p:blipFill>
        <p:spPr>
          <a:xfrm>
            <a:off x="945360" y="2031840"/>
            <a:ext cx="4352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Google Shape;851;p84"/>
          <p:cNvPicPr/>
          <p:nvPr/>
        </p:nvPicPr>
        <p:blipFill>
          <a:blip r:embed="rId8"/>
          <a:stretch/>
        </p:blipFill>
        <p:spPr>
          <a:xfrm>
            <a:off x="1028520" y="1979640"/>
            <a:ext cx="4352400" cy="22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856;p85"/>
          <p:cNvSpPr/>
          <p:nvPr/>
        </p:nvSpPr>
        <p:spPr>
          <a:xfrm>
            <a:off x="889560" y="1548720"/>
            <a:ext cx="491220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PREPARA EL TURNO DE  </a:t>
            </a:r>
            <a:r>
              <a:rPr lang="es" sz="60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PREGUNTAS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4" name="Google Shape;857;p85"/>
          <p:cNvPicPr/>
          <p:nvPr/>
        </p:nvPicPr>
        <p:blipFill>
          <a:blip r:embed="rId1"/>
          <a:stretch/>
        </p:blipFill>
        <p:spPr>
          <a:xfrm>
            <a:off x="5103000" y="425556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Google Shape;858;p85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7701480" y="43005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Google Shape;859;p85"/>
          <p:cNvPicPr/>
          <p:nvPr/>
        </p:nvPicPr>
        <p:blipFill>
          <a:blip r:embed="rId4"/>
          <a:stretch/>
        </p:blipFill>
        <p:spPr>
          <a:xfrm>
            <a:off x="5802120" y="319320"/>
            <a:ext cx="21682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864;p86"/>
          <p:cNvPicPr/>
          <p:nvPr/>
        </p:nvPicPr>
        <p:blipFill>
          <a:blip r:embed="rId1"/>
          <a:stretch/>
        </p:blipFill>
        <p:spPr>
          <a:xfrm>
            <a:off x="-107280" y="-826920"/>
            <a:ext cx="9392760" cy="623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oogle Shape;865;p86"/>
          <p:cNvPicPr/>
          <p:nvPr/>
        </p:nvPicPr>
        <p:blipFill>
          <a:blip r:embed="rId2"/>
          <a:stretch/>
        </p:blipFill>
        <p:spPr>
          <a:xfrm>
            <a:off x="-787320" y="-615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Google Shape;866;p86"/>
          <p:cNvSpPr/>
          <p:nvPr/>
        </p:nvSpPr>
        <p:spPr>
          <a:xfrm>
            <a:off x="1165320" y="2023560"/>
            <a:ext cx="631440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FEEDBACK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Google Shape;867;p86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1" name="Google Shape;868;p86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873;p87"/>
          <p:cNvPicPr/>
          <p:nvPr/>
        </p:nvPicPr>
        <p:blipFill>
          <a:blip r:embed="rId1"/>
          <a:stretch/>
        </p:blipFill>
        <p:spPr>
          <a:xfrm>
            <a:off x="-76320" y="-230760"/>
            <a:ext cx="9219960" cy="545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Google Shape;874;p87"/>
          <p:cNvPicPr/>
          <p:nvPr/>
        </p:nvPicPr>
        <p:blipFill>
          <a:blip r:embed="rId2"/>
          <a:stretch/>
        </p:blipFill>
        <p:spPr>
          <a:xfrm>
            <a:off x="-787320" y="-615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Google Shape;875;p87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5" name="Google Shape;876;p87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Google Shape;877;p87"/>
          <p:cNvSpPr/>
          <p:nvPr/>
        </p:nvSpPr>
        <p:spPr>
          <a:xfrm>
            <a:off x="1211760" y="1758240"/>
            <a:ext cx="63144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SEGUIR EN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CONTACTO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882;p88" descr="Resultado de imagen de video pitch"/>
          <p:cNvPicPr/>
          <p:nvPr/>
        </p:nvPicPr>
        <p:blipFill>
          <a:blip r:embed="rId1"/>
          <a:stretch/>
        </p:blipFill>
        <p:spPr>
          <a:xfrm>
            <a:off x="-119880" y="-136080"/>
            <a:ext cx="9939600" cy="559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Google Shape;883;p88"/>
          <p:cNvPicPr/>
          <p:nvPr/>
        </p:nvPicPr>
        <p:blipFill>
          <a:blip r:embed="rId2"/>
          <a:stretch/>
        </p:blipFill>
        <p:spPr>
          <a:xfrm>
            <a:off x="-787320" y="-615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Google Shape;884;p88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Google Shape;885;p88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Google Shape;886;p88"/>
          <p:cNvSpPr/>
          <p:nvPr/>
        </p:nvSpPr>
        <p:spPr>
          <a:xfrm>
            <a:off x="1211760" y="1758240"/>
            <a:ext cx="631440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¿QUÉ HA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FUNCIONADO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Y QUÉ NO?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891;p89"/>
          <p:cNvSpPr/>
          <p:nvPr/>
        </p:nvSpPr>
        <p:spPr>
          <a:xfrm>
            <a:off x="0" y="0"/>
            <a:ext cx="4862160" cy="514332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395280" y="2330280"/>
            <a:ext cx="5283720" cy="107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475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Claves para 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el Desafío de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45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Tripulaciones</a:t>
            </a:r>
            <a:endParaRPr lang="es-E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4" name="Google Shape;893;p89"/>
          <p:cNvPicPr/>
          <p:nvPr/>
        </p:nvPicPr>
        <p:blipFill>
          <a:blip r:embed="rId2"/>
          <a:stretch/>
        </p:blipFill>
        <p:spPr>
          <a:xfrm>
            <a:off x="223200" y="404820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5" name="Google Shape;894;p89"/>
          <p:cNvPicPr/>
          <p:nvPr/>
        </p:nvPicPr>
        <p:blipFill>
          <a:blip r:embed="rId3"/>
          <a:stretch/>
        </p:blipFill>
        <p:spPr>
          <a:xfrm>
            <a:off x="3382200" y="397908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6" name="Google Shape;895;p89"/>
          <p:cNvPicPr/>
          <p:nvPr/>
        </p:nvPicPr>
        <p:blipFill>
          <a:blip r:embed="rId4"/>
          <a:stretch/>
        </p:blipFill>
        <p:spPr>
          <a:xfrm>
            <a:off x="395280" y="306720"/>
            <a:ext cx="636840" cy="63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Google Shape;896;p89"/>
          <p:cNvPicPr/>
          <p:nvPr/>
        </p:nvPicPr>
        <p:blipFill>
          <a:blip r:embed="rId5"/>
          <a:stretch/>
        </p:blipFill>
        <p:spPr>
          <a:xfrm>
            <a:off x="4983840" y="4167360"/>
            <a:ext cx="1159200" cy="52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901;p90" descr="Un grupo de personas en una sal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Google Shape;902;p90"/>
          <p:cNvPicPr/>
          <p:nvPr/>
        </p:nvPicPr>
        <p:blipFill>
          <a:blip r:embed="rId2"/>
          <a:stretch/>
        </p:blipFill>
        <p:spPr>
          <a:xfrm>
            <a:off x="-787320" y="-615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oogle Shape;903;p90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Google Shape;904;p90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Google Shape;905;p90"/>
          <p:cNvSpPr/>
          <p:nvPr/>
        </p:nvSpPr>
        <p:spPr>
          <a:xfrm>
            <a:off x="2282040" y="287640"/>
            <a:ext cx="631440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PÚBLICO Y PROPUESTA DE VALOR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¿PARA QUIÉN?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910;p91" descr="Un grupo de personas en medio de cuarto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-283680" y="-1084320"/>
            <a:ext cx="9663840" cy="727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Google Shape;911;p91"/>
          <p:cNvPicPr/>
          <p:nvPr/>
        </p:nvPicPr>
        <p:blipFill>
          <a:blip r:embed="rId2"/>
          <a:stretch/>
        </p:blipFill>
        <p:spPr>
          <a:xfrm>
            <a:off x="-618120" y="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Google Shape;912;p91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6" name="Google Shape;913;p91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Google Shape;914;p91"/>
          <p:cNvSpPr/>
          <p:nvPr/>
        </p:nvSpPr>
        <p:spPr>
          <a:xfrm>
            <a:off x="2282040" y="287640"/>
            <a:ext cx="63144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¿QUÉ HEMOS USADO?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TECNOLOGÍAS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919;p92" descr="Un grupo de personas jugando un videojuego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-1879920" y="-159840"/>
            <a:ext cx="12037320" cy="54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Google Shape;920;p92"/>
          <p:cNvPicPr/>
          <p:nvPr/>
        </p:nvPicPr>
        <p:blipFill>
          <a:blip r:embed="rId2"/>
          <a:stretch/>
        </p:blipFill>
        <p:spPr>
          <a:xfrm>
            <a:off x="-618120" y="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Google Shape;921;p92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1" name="Google Shape;922;p92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Google Shape;923;p92"/>
          <p:cNvSpPr/>
          <p:nvPr/>
        </p:nvSpPr>
        <p:spPr>
          <a:xfrm>
            <a:off x="1414800" y="2571840"/>
            <a:ext cx="63144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GRÁFICOS DE DATOS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QUÉ MEDIMOS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928;p93" descr="Una persona con una computador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Google Shape;929;p93"/>
          <p:cNvPicPr/>
          <p:nvPr/>
        </p:nvPicPr>
        <p:blipFill>
          <a:blip r:embed="rId2"/>
          <a:stretch/>
        </p:blipFill>
        <p:spPr>
          <a:xfrm>
            <a:off x="-618120" y="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Google Shape;930;p93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Google Shape;931;p93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Google Shape;932;p93"/>
          <p:cNvSpPr/>
          <p:nvPr/>
        </p:nvSpPr>
        <p:spPr>
          <a:xfrm>
            <a:off x="1376280" y="2225160"/>
            <a:ext cx="6314400" cy="28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ENSEÑA EL </a:t>
            </a: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PRODUCTO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937;p94" descr="Una persona parado enfrente de una televisión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Google Shape;938;p94"/>
          <p:cNvPicPr/>
          <p:nvPr/>
        </p:nvPicPr>
        <p:blipFill>
          <a:blip r:embed="rId2"/>
          <a:stretch/>
        </p:blipFill>
        <p:spPr>
          <a:xfrm>
            <a:off x="-576720" y="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Google Shape;939;p94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1" name="Google Shape;940;p94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Google Shape;941;p94"/>
          <p:cNvSpPr/>
          <p:nvPr/>
        </p:nvSpPr>
        <p:spPr>
          <a:xfrm>
            <a:off x="1376280" y="2225160"/>
            <a:ext cx="6314400" cy="28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ESTRATEGIA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POR VERTICAL ¿POR QUÉ?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946;p95" descr="Un grupo de personas jugando video juegos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-1697040" y="-30960"/>
            <a:ext cx="11413080" cy="51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Google Shape;947;p95"/>
          <p:cNvPicPr/>
          <p:nvPr/>
        </p:nvPicPr>
        <p:blipFill>
          <a:blip r:embed="rId2"/>
          <a:stretch/>
        </p:blipFill>
        <p:spPr>
          <a:xfrm>
            <a:off x="-661320" y="-309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Google Shape;948;p95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Google Shape;949;p95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Google Shape;950;p95"/>
          <p:cNvSpPr/>
          <p:nvPr/>
        </p:nvSpPr>
        <p:spPr>
          <a:xfrm>
            <a:off x="416520" y="2225160"/>
            <a:ext cx="8354160" cy="28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SIGUIENTES PASOS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HYPE ¿QUÉ VAMOS A HACER?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955;p96" descr="Un grupo de personas en un salón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Google Shape;956;p96"/>
          <p:cNvPicPr/>
          <p:nvPr/>
        </p:nvPicPr>
        <p:blipFill>
          <a:blip r:embed="rId2"/>
          <a:stretch/>
        </p:blipFill>
        <p:spPr>
          <a:xfrm>
            <a:off x="-661320" y="-30960"/>
            <a:ext cx="10220040" cy="53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0" name="Google Shape;957;p96"/>
          <p:cNvPicPr/>
          <p:nvPr/>
        </p:nvPicPr>
        <p:blipFill>
          <a:blip r:embed="rId3"/>
          <a:stretch/>
        </p:blipFill>
        <p:spPr>
          <a:xfrm>
            <a:off x="3897360" y="4109760"/>
            <a:ext cx="322308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1" name="Google Shape;958;p96"/>
          <p:cNvPicPr/>
          <p:nvPr/>
        </p:nvPicPr>
        <p:blipFill>
          <a:blip r:embed="rId4"/>
          <a:stretch/>
        </p:blipFill>
        <p:spPr>
          <a:xfrm>
            <a:off x="7318440" y="4048200"/>
            <a:ext cx="1556280" cy="91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Google Shape;959;p96"/>
          <p:cNvSpPr/>
          <p:nvPr/>
        </p:nvSpPr>
        <p:spPr>
          <a:xfrm>
            <a:off x="416520" y="2225160"/>
            <a:ext cx="8354160" cy="28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6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PREGUNTAS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" sz="30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¿QUIÉN RESPONDE QUÉ?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964;p97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965;p97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12000" y="2121840"/>
            <a:ext cx="6373800" cy="2378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1"/>
              </a:rPr>
              <a:t>Canva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2"/>
              </a:rPr>
              <a:t>Slides Carnival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3"/>
              </a:rPr>
              <a:t>Gamma.ai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4"/>
              </a:rPr>
              <a:t>Pixabay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| </a:t>
            </a: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5"/>
              </a:rPr>
              <a:t>Flaticon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| Imágenes generadas por 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2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6" name="Google Shape;967;p97"/>
          <p:cNvPicPr/>
          <p:nvPr/>
        </p:nvPicPr>
        <p:blipFill>
          <a:blip r:embed="rId6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Google Shape;968;p97">
            <a:hlinkClick r:id="rId7"/>
          </p:cNvPr>
          <p:cNvPicPr/>
          <p:nvPr/>
        </p:nvPicPr>
        <p:blipFill>
          <a:blip r:embed="rId8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Google Shape;969;p97"/>
          <p:cNvPicPr/>
          <p:nvPr/>
        </p:nvPicPr>
        <p:blipFill>
          <a:blip r:embed="rId9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Google Shape;970;p97"/>
          <p:cNvSpPr/>
          <p:nvPr/>
        </p:nvSpPr>
        <p:spPr>
          <a:xfrm>
            <a:off x="1613520" y="98424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Recursos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971;p97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1" name="Google Shape;972;p97"/>
          <p:cNvPicPr/>
          <p:nvPr/>
        </p:nvPicPr>
        <p:blipFill>
          <a:blip r:embed="rId10"/>
          <a:stretch/>
        </p:blipFill>
        <p:spPr>
          <a:xfrm>
            <a:off x="727560" y="1136160"/>
            <a:ext cx="797760" cy="36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977;p98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Google Shape;978;p98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4" name="Google Shape;979;p98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Google Shape;980;p98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Google Shape;981;p98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Google Shape;982;p98"/>
          <p:cNvSpPr/>
          <p:nvPr/>
        </p:nvSpPr>
        <p:spPr>
          <a:xfrm>
            <a:off x="1613520" y="84312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Ejemplos 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Google Shape;983;p98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Google Shape;984;p98"/>
          <p:cNvPicPr/>
          <p:nvPr/>
        </p:nvPicPr>
        <p:blipFill>
          <a:blip r:embed="rId5"/>
          <a:stretch/>
        </p:blipFill>
        <p:spPr>
          <a:xfrm>
            <a:off x="727560" y="99540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Google Shape;985;p98"/>
          <p:cNvSpPr/>
          <p:nvPr/>
        </p:nvSpPr>
        <p:spPr>
          <a:xfrm>
            <a:off x="833760" y="1900800"/>
            <a:ext cx="3658320" cy="25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  <a:hlinkClick r:id="rId6"/>
              </a:rPr>
              <a:t>Kutxabank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7"/>
              </a:rPr>
              <a:t>BBK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8"/>
              </a:rPr>
              <a:t>Siemens Gamesa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9"/>
              </a:rPr>
              <a:t>Seniority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sng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  <a:hlinkClick r:id="rId10"/>
              </a:rPr>
              <a:t>Shakleton</a:t>
            </a:r>
            <a:r>
              <a:rPr lang="es" sz="1800" b="0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 (Vital)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990;p99"/>
          <p:cNvSpPr/>
          <p:nvPr/>
        </p:nvSpPr>
        <p:spPr>
          <a:xfrm>
            <a:off x="3352320" y="4931280"/>
            <a:ext cx="5791320" cy="2120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Google Shape;991;p99"/>
          <p:cNvSpPr/>
          <p:nvPr/>
        </p:nvSpPr>
        <p:spPr>
          <a:xfrm>
            <a:off x="0" y="4931280"/>
            <a:ext cx="3351960" cy="2120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3" name="Google Shape;992;p99"/>
          <p:cNvPicPr/>
          <p:nvPr/>
        </p:nvPicPr>
        <p:blipFill>
          <a:blip r:embed="rId1"/>
          <a:stretch/>
        </p:blipFill>
        <p:spPr>
          <a:xfrm>
            <a:off x="182520" y="4392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4" name="Google Shape;993;p9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781000" y="8892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Google Shape;994;p99"/>
          <p:cNvPicPr/>
          <p:nvPr/>
        </p:nvPicPr>
        <p:blipFill>
          <a:blip r:embed="rId4"/>
          <a:stretch/>
        </p:blipFill>
        <p:spPr>
          <a:xfrm>
            <a:off x="7713000" y="4022280"/>
            <a:ext cx="103572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Google Shape;995;p99"/>
          <p:cNvSpPr/>
          <p:nvPr/>
        </p:nvSpPr>
        <p:spPr>
          <a:xfrm>
            <a:off x="1613520" y="843120"/>
            <a:ext cx="618804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300" b="1" u="none" strike="noStrike">
                <a:solidFill>
                  <a:srgbClr val="000000"/>
                </a:solidFill>
                <a:effectLst/>
                <a:uFillTx/>
                <a:latin typeface="Jost"/>
                <a:ea typeface="Jost"/>
              </a:rPr>
              <a:t>Conclusiones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996;p99"/>
          <p:cNvSpPr/>
          <p:nvPr/>
        </p:nvSpPr>
        <p:spPr>
          <a:xfrm>
            <a:off x="7881840" y="-889920"/>
            <a:ext cx="2081880" cy="1631160"/>
          </a:xfrm>
          <a:prstGeom prst="roundRect">
            <a:avLst>
              <a:gd name="adj" fmla="val 36565"/>
            </a:avLst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8" name="Google Shape;997;p99"/>
          <p:cNvPicPr/>
          <p:nvPr/>
        </p:nvPicPr>
        <p:blipFill>
          <a:blip r:embed="rId5"/>
          <a:stretch/>
        </p:blipFill>
        <p:spPr>
          <a:xfrm>
            <a:off x="727560" y="995400"/>
            <a:ext cx="79776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Google Shape;998;p99"/>
          <p:cNvSpPr/>
          <p:nvPr/>
        </p:nvSpPr>
        <p:spPr>
          <a:xfrm>
            <a:off x="1438920" y="1697400"/>
            <a:ext cx="5603760" cy="25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Prepara a conciencia tus presentaciones teniendo en cuenta el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antes, durante y después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Practica y ensaya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varias veces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Gestiona tu tiempo,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sintetiza</a:t>
            </a: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 lo importante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Jost"/>
              <a:buChar char="●"/>
            </a:pPr>
            <a:r>
              <a:rPr lang="es" sz="1800" b="0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No es solo tu presentación, es tu </a:t>
            </a:r>
            <a:r>
              <a:rPr lang="es" sz="1800" b="1" u="none" strike="noStrike">
                <a:solidFill>
                  <a:schemeClr val="dk1"/>
                </a:solidFill>
                <a:effectLst/>
                <a:uFillTx/>
                <a:latin typeface="Jost"/>
                <a:ea typeface="Jost"/>
              </a:rPr>
              <a:t>portfolio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1003;p100"/>
          <p:cNvPicPr/>
          <p:nvPr/>
        </p:nvPicPr>
        <p:blipFill>
          <a:blip r:embed="rId1"/>
          <a:stretch/>
        </p:blipFill>
        <p:spPr>
          <a:xfrm>
            <a:off x="2784960" y="188280"/>
            <a:ext cx="635868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1" name="Google Shape;1004;p100"/>
          <p:cNvSpPr/>
          <p:nvPr/>
        </p:nvSpPr>
        <p:spPr>
          <a:xfrm>
            <a:off x="300960" y="1633320"/>
            <a:ext cx="2999520" cy="13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¡Y no mates a nadie más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" sz="2600" b="1" u="none" strike="noStrike">
                <a:solidFill>
                  <a:schemeClr val="lt1"/>
                </a:solidFill>
                <a:effectLst/>
                <a:uFillTx/>
                <a:latin typeface="Jost"/>
                <a:ea typeface="Jost"/>
              </a:rPr>
              <a:t>por PPT!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3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1009;p101"/>
          <p:cNvPicPr/>
          <p:nvPr/>
        </p:nvPicPr>
        <p:blipFill>
          <a:blip r:embed="rId1"/>
          <a:stretch/>
        </p:blipFill>
        <p:spPr>
          <a:xfrm>
            <a:off x="5349960" y="2043000"/>
            <a:ext cx="180288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Google Shape;1010;p101"/>
          <p:cNvPicPr/>
          <p:nvPr/>
        </p:nvPicPr>
        <p:blipFill>
          <a:blip r:embed="rId2"/>
          <a:stretch/>
        </p:blipFill>
        <p:spPr>
          <a:xfrm>
            <a:off x="1436760" y="2123280"/>
            <a:ext cx="3733560" cy="8967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cp:revision>0</cp:revision>
  <dc:subject/>
  <dc:title/>
</cp:coreProperties>
</file>
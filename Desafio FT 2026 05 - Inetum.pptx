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9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9144000"/>
  <p:embeddedFontLst>
    <p:embeddedFont>
      <p:font typeface="Poppins"/>
      <p:regular r:id="rId35"/>
      <p:bold r:id="rId36"/>
      <p:boldItalic r:id="rId36"/>
    </p:embeddedFont>
    <p:embeddedFont>
      <p:font typeface="Poppins ExtraBold"/>
    </p:embeddedFont>
    <p:embeddedFont>
      <p:font typeface="Lucida Sans"/>
      <p:regular r:id="rId3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font" Target="fonts/Font_1_Poppins_Regular.fntdata"/><Relationship Id="rId36" Type="http://schemas.openxmlformats.org/officeDocument/2006/relationships/font" Target="fonts/Font_2_Poppins_Bold.fntdata"/><Relationship Id="rId37" Type="http://schemas.openxmlformats.org/officeDocument/2006/relationships/font" Target="fonts/Font_3_Lucida_Sans_Regular.fntdata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desplazar la diapositiva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BEE7AD-DABA-4D54-A041-79A2CCD2AF35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F49AC8-8C89-47AC-A3E0-8A909F0740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4C88F18-32BC-4FB3-9391-22271336E5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781510-FD23-48B8-9A14-D880F234636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373694F-CD0A-47F2-82A8-6742266E6F10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ED2C384-6829-4711-82A9-07EBA49FD8B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ABDDA23-FEC1-4205-BA39-F33EA3BFB499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ortad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;p1" hidden="1"/>
          <p:cNvPicPr/>
          <p:nvPr/>
        </p:nvPicPr>
        <p:blipFill>
          <a:blip r:embed="rId2"/>
          <a:stretch/>
        </p:blipFill>
        <p:spPr>
          <a:xfrm>
            <a:off x="-62640" y="-126720"/>
            <a:ext cx="199872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Google Shape;11;p1" hidden="1"/>
          <p:cNvSpPr/>
          <p:nvPr/>
        </p:nvSpPr>
        <p:spPr>
          <a:xfrm>
            <a:off x="11319840" y="345600"/>
            <a:ext cx="6811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A17A8565-4020-4232-A023-9F2B106ADB69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" name="Google Shape;12;p1"/>
          <p:cNvCxnSpPr/>
          <p:nvPr/>
        </p:nvCxnSpPr>
        <p:spPr>
          <a:xfrm>
            <a:off x="0" y="656280"/>
            <a:ext cx="12192120" cy="360"/>
          </a:xfrm>
          <a:prstGeom prst="straightConnector1">
            <a:avLst/>
          </a:prstGeom>
          <a:ln w="9525">
            <a:solidFill>
              <a:srgbClr val="EF3340"/>
            </a:solidFill>
            <a:round/>
          </a:ln>
        </p:spPr>
      </p:cxnSp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;p1"/>
          <p:cNvPicPr/>
          <p:nvPr/>
        </p:nvPicPr>
        <p:blipFill>
          <a:blip r:embed="rId2"/>
          <a:stretch/>
        </p:blipFill>
        <p:spPr>
          <a:xfrm>
            <a:off x="-62640" y="-126720"/>
            <a:ext cx="199872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Google Shape;11;p1"/>
          <p:cNvSpPr/>
          <p:nvPr/>
        </p:nvSpPr>
        <p:spPr>
          <a:xfrm>
            <a:off x="11319840" y="345600"/>
            <a:ext cx="6811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0B28E41B-405C-4A56-BEDB-185FDE24B59B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Google Shape;12;p1"/>
          <p:cNvCxnSpPr/>
          <p:nvPr/>
        </p:nvCxnSpPr>
        <p:spPr>
          <a:xfrm>
            <a:off x="0" y="656280"/>
            <a:ext cx="12192120" cy="360"/>
          </a:xfrm>
          <a:prstGeom prst="straightConnector1">
            <a:avLst/>
          </a:prstGeom>
          <a:ln w="9525">
            <a:solidFill>
              <a:srgbClr val="EF3340"/>
            </a:solidFill>
            <a:round/>
          </a:ln>
        </p:spPr>
      </p:cxnSp>
      <p:sp>
        <p:nvSpPr>
          <p:cNvPr id="10" name="PlaceHolder 1"/>
          <p:cNvSpPr>
            <a:spLocks noGrp="1"/>
          </p:cNvSpPr>
          <p:nvPr>
            <p:ph type="body"/>
          </p:nvPr>
        </p:nvSpPr>
        <p:spPr>
          <a:xfrm>
            <a:off x="4531320" y="862920"/>
            <a:ext cx="3128760" cy="5131440"/>
          </a:xfrm>
          <a:prstGeom prst="rect">
            <a:avLst/>
          </a:prstGeom>
          <a:noFill/>
          <a:ln w="9360">
            <a:solidFill>
              <a:srgbClr val="FF5C33"/>
            </a:solidFill>
            <a:round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0;p1"/>
          <p:cNvPicPr/>
          <p:nvPr/>
        </p:nvPicPr>
        <p:blipFill>
          <a:blip r:embed="rId2"/>
          <a:stretch/>
        </p:blipFill>
        <p:spPr>
          <a:xfrm>
            <a:off x="-62640" y="-126720"/>
            <a:ext cx="199872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Google Shape;11;p1"/>
          <p:cNvSpPr/>
          <p:nvPr/>
        </p:nvSpPr>
        <p:spPr>
          <a:xfrm>
            <a:off x="11319840" y="345600"/>
            <a:ext cx="6811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A40ACE79-D752-49AD-9BBB-9E1C453C6809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Google Shape;12;p1"/>
          <p:cNvCxnSpPr/>
          <p:nvPr/>
        </p:nvCxnSpPr>
        <p:spPr>
          <a:xfrm>
            <a:off x="0" y="656280"/>
            <a:ext cx="12192120" cy="360"/>
          </a:xfrm>
          <a:prstGeom prst="straightConnector1">
            <a:avLst/>
          </a:prstGeom>
          <a:ln w="9525">
            <a:solidFill>
              <a:srgbClr val="EF3340"/>
            </a:solidFill>
            <a:round/>
          </a:ln>
        </p:spPr>
      </p:cxnSp>
      <p:sp>
        <p:nvSpPr>
          <p:cNvPr id="15" name="PlaceHolder 1"/>
          <p:cNvSpPr>
            <a:spLocks noGrp="1"/>
          </p:cNvSpPr>
          <p:nvPr>
            <p:ph type="body"/>
          </p:nvPr>
        </p:nvSpPr>
        <p:spPr>
          <a:xfrm>
            <a:off x="4531320" y="862920"/>
            <a:ext cx="7038360" cy="5131440"/>
          </a:xfrm>
          <a:prstGeom prst="rect">
            <a:avLst/>
          </a:prstGeom>
          <a:noFill/>
          <a:ln w="9360">
            <a:solidFill>
              <a:srgbClr val="FF5C33"/>
            </a:solidFill>
            <a:round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0;p1"/>
          <p:cNvPicPr/>
          <p:nvPr/>
        </p:nvPicPr>
        <p:blipFill>
          <a:blip r:embed="rId2"/>
          <a:stretch/>
        </p:blipFill>
        <p:spPr>
          <a:xfrm>
            <a:off x="-62640" y="-126720"/>
            <a:ext cx="199872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Google Shape;11;p1"/>
          <p:cNvSpPr/>
          <p:nvPr/>
        </p:nvSpPr>
        <p:spPr>
          <a:xfrm>
            <a:off x="11319840" y="345600"/>
            <a:ext cx="6811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471A22B9-3D08-428F-9F93-ED98F930028B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" name="Google Shape;12;p1"/>
          <p:cNvCxnSpPr/>
          <p:nvPr/>
        </p:nvCxnSpPr>
        <p:spPr>
          <a:xfrm>
            <a:off x="0" y="656280"/>
            <a:ext cx="12192120" cy="360"/>
          </a:xfrm>
          <a:prstGeom prst="straightConnector1">
            <a:avLst/>
          </a:prstGeom>
          <a:ln w="9525">
            <a:solidFill>
              <a:srgbClr val="EF3340"/>
            </a:solidFill>
            <a:round/>
          </a:ln>
        </p:spPr>
      </p:cxnSp>
      <p:sp>
        <p:nvSpPr>
          <p:cNvPr id="19" name="PlaceHolder 1"/>
          <p:cNvSpPr>
            <a:spLocks noGrp="1"/>
          </p:cNvSpPr>
          <p:nvPr>
            <p:ph type="body"/>
          </p:nvPr>
        </p:nvSpPr>
        <p:spPr>
          <a:xfrm>
            <a:off x="8440560" y="862920"/>
            <a:ext cx="3128760" cy="2028960"/>
          </a:xfrm>
          <a:prstGeom prst="rect">
            <a:avLst/>
          </a:prstGeom>
          <a:noFill/>
          <a:ln w="9360">
            <a:solidFill>
              <a:srgbClr val="FF5C33"/>
            </a:solidFill>
            <a:round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22080" y="3965400"/>
            <a:ext cx="7038360" cy="2028960"/>
          </a:xfrm>
          <a:prstGeom prst="rect">
            <a:avLst/>
          </a:prstGeom>
          <a:noFill/>
          <a:ln w="9360">
            <a:solidFill>
              <a:srgbClr val="FF5C33"/>
            </a:solidFill>
            <a:round/>
          </a:ln>
        </p:spPr>
        <p:txBody>
          <a:bodyPr lIns="90000" tIns="45000" rIns="90000" bIns="4500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10;p1" hidden="1"/>
          <p:cNvPicPr/>
          <p:nvPr/>
        </p:nvPicPr>
        <p:blipFill>
          <a:blip r:embed="rId2"/>
          <a:stretch/>
        </p:blipFill>
        <p:spPr>
          <a:xfrm>
            <a:off x="-62640" y="-126720"/>
            <a:ext cx="199872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Google Shape;11;p1" hidden="1"/>
          <p:cNvSpPr/>
          <p:nvPr/>
        </p:nvSpPr>
        <p:spPr>
          <a:xfrm>
            <a:off x="11319840" y="345600"/>
            <a:ext cx="6811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9B5CA28B-92BE-444A-87FF-97AA66A91161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" name="Google Shape;12;p1"/>
          <p:cNvCxnSpPr/>
          <p:nvPr/>
        </p:nvCxnSpPr>
        <p:spPr>
          <a:xfrm>
            <a:off x="0" y="656280"/>
            <a:ext cx="12192120" cy="360"/>
          </a:xfrm>
          <a:prstGeom prst="straightConnector1">
            <a:avLst/>
          </a:prstGeom>
          <a:ln w="9525">
            <a:solidFill>
              <a:srgbClr val="EF3340"/>
            </a:solidFill>
            <a:round/>
          </a:ln>
        </p:spPr>
      </p:cxnSp>
      <p:sp>
        <p:nvSpPr>
          <p:cNvPr id="2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375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0;p1"/>
          <p:cNvPicPr/>
          <p:nvPr/>
        </p:nvPicPr>
        <p:blipFill>
          <a:blip r:embed="rId2"/>
          <a:stretch/>
        </p:blipFill>
        <p:spPr>
          <a:xfrm>
            <a:off x="-62640" y="-126720"/>
            <a:ext cx="199872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Google Shape;11;p1"/>
          <p:cNvSpPr/>
          <p:nvPr/>
        </p:nvSpPr>
        <p:spPr>
          <a:xfrm>
            <a:off x="11319840" y="345600"/>
            <a:ext cx="6811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891A080D-8F5D-4D78-9D64-4E11718EF787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" name="Google Shape;12;p1"/>
          <p:cNvCxnSpPr/>
          <p:nvPr/>
        </p:nvCxnSpPr>
        <p:spPr>
          <a:xfrm>
            <a:off x="0" y="656280"/>
            <a:ext cx="12192120" cy="360"/>
          </a:xfrm>
          <a:prstGeom prst="straightConnector1">
            <a:avLst/>
          </a:prstGeom>
          <a:ln w="9525">
            <a:solidFill>
              <a:srgbClr val="EF3340"/>
            </a:solidFill>
            <a:round/>
          </a:ln>
        </p:spPr>
      </p:cxn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0;p1"/>
          <p:cNvPicPr/>
          <p:nvPr/>
        </p:nvPicPr>
        <p:blipFill>
          <a:blip r:embed="rId2"/>
          <a:stretch/>
        </p:blipFill>
        <p:spPr>
          <a:xfrm>
            <a:off x="-62640" y="-126720"/>
            <a:ext cx="199872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Google Shape;11;p1"/>
          <p:cNvSpPr/>
          <p:nvPr/>
        </p:nvSpPr>
        <p:spPr>
          <a:xfrm>
            <a:off x="11319840" y="345600"/>
            <a:ext cx="6811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4E239A91-2618-4F32-9F0E-423BD93BD060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" name="Google Shape;12;p1"/>
          <p:cNvCxnSpPr/>
          <p:nvPr/>
        </p:nvCxnSpPr>
        <p:spPr>
          <a:xfrm>
            <a:off x="0" y="656280"/>
            <a:ext cx="12192120" cy="360"/>
          </a:xfrm>
          <a:prstGeom prst="straightConnector1">
            <a:avLst/>
          </a:prstGeom>
          <a:ln w="9525">
            <a:solidFill>
              <a:srgbClr val="EF3340"/>
            </a:solidFill>
            <a:round/>
          </a:ln>
        </p:spPr>
      </p:cxnSp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0" y="862920"/>
            <a:ext cx="11569680" cy="5131440"/>
          </a:xfrm>
          <a:prstGeom prst="rect">
            <a:avLst/>
          </a:prstGeom>
          <a:noFill/>
          <a:ln w="9360">
            <a:solidFill>
              <a:srgbClr val="FF5C33"/>
            </a:solidFill>
            <a:round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1_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10;p1" hidden="1"/>
          <p:cNvPicPr/>
          <p:nvPr/>
        </p:nvPicPr>
        <p:blipFill>
          <a:blip r:embed="rId2"/>
          <a:stretch/>
        </p:blipFill>
        <p:spPr>
          <a:xfrm>
            <a:off x="-62640" y="-126720"/>
            <a:ext cx="199872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Google Shape;11;p1" hidden="1"/>
          <p:cNvSpPr/>
          <p:nvPr/>
        </p:nvSpPr>
        <p:spPr>
          <a:xfrm>
            <a:off x="11319840" y="345600"/>
            <a:ext cx="6811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EEDEC7B5-90D1-4E8A-AA30-79684323379F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&lt;número&gt;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" name="Google Shape;12;p1"/>
          <p:cNvCxnSpPr/>
          <p:nvPr/>
        </p:nvCxnSpPr>
        <p:spPr>
          <a:xfrm>
            <a:off x="0" y="656280"/>
            <a:ext cx="12192120" cy="360"/>
          </a:xfrm>
          <a:prstGeom prst="straightConnector1">
            <a:avLst/>
          </a:prstGeom>
          <a:ln w="9525">
            <a:solidFill>
              <a:srgbClr val="EF3340"/>
            </a:solidFill>
            <a:round/>
          </a:ln>
        </p:spPr>
      </p:cxnSp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622080" y="0"/>
            <a:ext cx="10947600" cy="3428640"/>
          </a:xfrm>
          <a:prstGeom prst="rect">
            <a:avLst/>
          </a:prstGeom>
          <a:noFill/>
          <a:ln w="9360">
            <a:solidFill>
              <a:srgbClr val="FF5C33"/>
            </a:solidFill>
            <a:round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hyperlink" Target="http://www.lanbide.euskadi.eus" TargetMode="External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17.jpeg"/><Relationship Id="rId5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18.jpeg"/><Relationship Id="rId5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19.jpeg"/><Relationship Id="rId5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20.jpeg"/><Relationship Id="rId5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jpeg"/><Relationship Id="rId3" Type="http://schemas.openxmlformats.org/officeDocument/2006/relationships/image" Target="../media/image12.jpeg"/><Relationship Id="rId4" Type="http://schemas.openxmlformats.org/officeDocument/2006/relationships/hyperlink" Target="http://www.lanbide.euskadi.eus" TargetMode="External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hyperlink" Target="http://www.lanbide.euskadi.eus" TargetMode="External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hyperlink" Target="mailto:alberto.diez@inetum.com" TargetMode="External"/><Relationship Id="rId2" Type="http://schemas.openxmlformats.org/officeDocument/2006/relationships/image" Target="../media/image25.png"/><Relationship Id="rId3" Type="http://schemas.openxmlformats.org/officeDocument/2006/relationships/hyperlink" Target="http://www.lanbide.euskadi.eus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26.jpeg"/><Relationship Id="rId6" Type="http://schemas.openxmlformats.org/officeDocument/2006/relationships/slideLayout" Target="../slideLayouts/slideLayout6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3.jpeg"/><Relationship Id="rId3" Type="http://schemas.openxmlformats.org/officeDocument/2006/relationships/image" Target="../media/image6.jpeg"/><Relationship Id="rId4" Type="http://schemas.openxmlformats.org/officeDocument/2006/relationships/hyperlink" Target="https://www.linkedin.com/school/the-bridge-digital-talent-accelerator/" TargetMode="External"/><Relationship Id="rId5" Type="http://schemas.openxmlformats.org/officeDocument/2006/relationships/image" Target="../media/image29.png"/><Relationship Id="rId6" Type="http://schemas.openxmlformats.org/officeDocument/2006/relationships/hyperlink" Target="https://www.instagram.com/thebridge_tech/" TargetMode="External"/><Relationship Id="rId7" Type="http://schemas.openxmlformats.org/officeDocument/2006/relationships/image" Target="../media/image30.png"/><Relationship Id="rId8" Type="http://schemas.openxmlformats.org/officeDocument/2006/relationships/hyperlink" Target="https://www.facebook.com/thebridgedigitaltalentaccelerator" TargetMode="External"/><Relationship Id="rId9" Type="http://schemas.openxmlformats.org/officeDocument/2006/relationships/image" Target="../media/image31.png"/><Relationship Id="rId10" Type="http://schemas.openxmlformats.org/officeDocument/2006/relationships/hyperlink" Target="https://twitter.com/thebridge_tech?s=21&amp;t=Zjh8pb9n2eHLs3zdfEUMiQ" TargetMode="External"/><Relationship Id="rId11" Type="http://schemas.openxmlformats.org/officeDocument/2006/relationships/image" Target="../media/image32.png"/><Relationship Id="rId12" Type="http://schemas.openxmlformats.org/officeDocument/2006/relationships/image" Target="../media/image3.png"/><Relationship Id="rId13" Type="http://schemas.openxmlformats.org/officeDocument/2006/relationships/image" Target="../media/image4.png"/><Relationship Id="rId1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34;p10"/>
          <p:cNvPicPr/>
          <p:nvPr/>
        </p:nvPicPr>
        <p:blipFill>
          <a:blip r:embed="rId1"/>
          <a:stretch/>
        </p:blipFill>
        <p:spPr>
          <a:xfrm>
            <a:off x="-53640" y="0"/>
            <a:ext cx="12291480" cy="691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35;p10"/>
          <p:cNvSpPr/>
          <p:nvPr/>
        </p:nvSpPr>
        <p:spPr>
          <a:xfrm>
            <a:off x="5872320" y="3934800"/>
            <a:ext cx="4410720" cy="23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EFEFEF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br>
              <a:rPr sz="3200"/>
            </a:br>
            <a:r>
              <a:rPr lang="en-US" sz="3200" b="0" u="none" strike="noStrike">
                <a:solidFill>
                  <a:srgbClr val="EFEFEF"/>
                </a:solidFill>
                <a:effectLst/>
                <a:uFillTx/>
                <a:latin typeface="Poppins"/>
                <a:ea typeface="Poppins"/>
              </a:rPr>
              <a:t>Full Time 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EFEFEF"/>
                </a:solidFill>
                <a:effectLst/>
                <a:uFillTx/>
                <a:latin typeface="Poppins"/>
                <a:ea typeface="Poppins"/>
              </a:rPr>
              <a:t>06/2026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Google Shape;36;p10"/>
          <p:cNvPicPr/>
          <p:nvPr/>
        </p:nvPicPr>
        <p:blipFill>
          <a:blip r:embed="rId2"/>
          <a:stretch/>
        </p:blipFill>
        <p:spPr>
          <a:xfrm>
            <a:off x="372960" y="95040"/>
            <a:ext cx="4978440" cy="119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Google Shape;37;p10"/>
          <p:cNvPicPr/>
          <p:nvPr/>
        </p:nvPicPr>
        <p:blipFill>
          <a:blip r:embed="rId3"/>
          <a:stretch/>
        </p:blipFill>
        <p:spPr>
          <a:xfrm>
            <a:off x="5656680" y="0"/>
            <a:ext cx="2404080" cy="140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38;p10"/>
          <p:cNvSpPr/>
          <p:nvPr/>
        </p:nvSpPr>
        <p:spPr>
          <a:xfrm>
            <a:off x="5844600" y="2743200"/>
            <a:ext cx="3971160" cy="828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Google Shape;39;p10"/>
          <p:cNvPicPr/>
          <p:nvPr/>
        </p:nvPicPr>
        <p:blipFill>
          <a:blip r:embed="rId4"/>
          <a:stretch/>
        </p:blipFill>
        <p:spPr>
          <a:xfrm>
            <a:off x="5814720" y="2565720"/>
            <a:ext cx="4126320" cy="119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44;p11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Google Shape;45;p11"/>
          <p:cNvSpPr/>
          <p:nvPr/>
        </p:nvSpPr>
        <p:spPr>
          <a:xfrm>
            <a:off x="544680" y="862920"/>
            <a:ext cx="4737240" cy="51674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46;p11"/>
          <p:cNvSpPr/>
          <p:nvPr/>
        </p:nvSpPr>
        <p:spPr>
          <a:xfrm>
            <a:off x="1017360" y="1380960"/>
            <a:ext cx="4264920" cy="40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¿Qué es el desafío de tripulaciones?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47;p11"/>
          <p:cNvSpPr/>
          <p:nvPr/>
        </p:nvSpPr>
        <p:spPr>
          <a:xfrm>
            <a:off x="2745360" y="1177920"/>
            <a:ext cx="21639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1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2;p12"/>
          <p:cNvPicPr/>
          <p:nvPr/>
        </p:nvPicPr>
        <p:blipFill>
          <a:blip r:embed="rId1"/>
          <a:stretch/>
        </p:blipFill>
        <p:spPr>
          <a:xfrm>
            <a:off x="-187920" y="-838080"/>
            <a:ext cx="12567600" cy="775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622080" y="0"/>
            <a:ext cx="10947600" cy="6253200"/>
          </a:xfrm>
          <a:prstGeom prst="rect">
            <a:avLst/>
          </a:prstGeom>
          <a:solidFill>
            <a:schemeClr val="dk2"/>
          </a:solidFill>
          <a:ln w="9525">
            <a:solidFill>
              <a:srgbClr val="FF5C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3087000" y="1945440"/>
            <a:ext cx="60177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</a:t>
            </a: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Poppins ExtraBold"/>
                <a:ea typeface="Poppins ExtraBold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 Tripulaciones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967400" y="3043440"/>
            <a:ext cx="7657920" cy="13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FEFEF"/>
                </a:solidFill>
                <a:effectLst/>
                <a:uFillTx/>
                <a:latin typeface="Poppins"/>
                <a:ea typeface="Poppins"/>
              </a:rPr>
              <a:t>Es la práctica integrada en la que trabaja el alumnado de todas las disciplinas a través de un proyecto real diseñado conjuntamente con un partner y desarrollado por los estudiantes durante las últimas semanas de formación en el Bootcamp.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22080" y="123660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Google Shape;61;p13"/>
          <p:cNvPicPr/>
          <p:nvPr/>
        </p:nvPicPr>
        <p:blipFill>
          <a:blip r:embed="rId1"/>
          <a:stretch/>
        </p:blipFill>
        <p:spPr>
          <a:xfrm rot="5400000">
            <a:off x="1262160" y="234000"/>
            <a:ext cx="1611000" cy="120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1044000" y="41220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10734840" y="542916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Google Shape;64;p13"/>
          <p:cNvPicPr/>
          <p:nvPr/>
        </p:nvPicPr>
        <p:blipFill>
          <a:blip r:embed="rId2"/>
          <a:stretch/>
        </p:blipFill>
        <p:spPr>
          <a:xfrm>
            <a:off x="10328040" y="5003640"/>
            <a:ext cx="1261440" cy="127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9;p14"/>
          <p:cNvSpPr/>
          <p:nvPr/>
        </p:nvSpPr>
        <p:spPr>
          <a:xfrm>
            <a:off x="622080" y="0"/>
            <a:ext cx="10947600" cy="6253200"/>
          </a:xfrm>
          <a:prstGeom prst="rect">
            <a:avLst/>
          </a:prstGeom>
          <a:solidFill>
            <a:schemeClr val="dk2"/>
          </a:solidFill>
          <a:ln w="9525">
            <a:solidFill>
              <a:srgbClr val="FF5C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70;p14"/>
          <p:cNvSpPr/>
          <p:nvPr/>
        </p:nvSpPr>
        <p:spPr>
          <a:xfrm>
            <a:off x="3087000" y="1945440"/>
            <a:ext cx="60177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¿Para qué?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71;p14"/>
          <p:cNvSpPr/>
          <p:nvPr/>
        </p:nvSpPr>
        <p:spPr>
          <a:xfrm>
            <a:off x="1967400" y="3043440"/>
            <a:ext cx="7657920" cy="13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FEFEF"/>
                </a:solidFill>
                <a:effectLst/>
                <a:uFillTx/>
                <a:latin typeface="Poppins"/>
                <a:ea typeface="Poppins"/>
              </a:rPr>
              <a:t>Con esta práctica el alumnado se enfrenta al día a día de su futuro profesional trabajando de principio a fin en un proyecto en el que se involucran como miembros del departamento de una empresa o simulando el emprendimiento de un proyecto propio.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72;p14"/>
          <p:cNvSpPr/>
          <p:nvPr/>
        </p:nvSpPr>
        <p:spPr>
          <a:xfrm>
            <a:off x="622080" y="123660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73;p14"/>
          <p:cNvPicPr/>
          <p:nvPr/>
        </p:nvPicPr>
        <p:blipFill>
          <a:blip r:embed="rId1"/>
          <a:stretch/>
        </p:blipFill>
        <p:spPr>
          <a:xfrm rot="5400000">
            <a:off x="1262160" y="234000"/>
            <a:ext cx="1611000" cy="120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74;p14"/>
          <p:cNvSpPr/>
          <p:nvPr/>
        </p:nvSpPr>
        <p:spPr>
          <a:xfrm>
            <a:off x="1044000" y="41220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75;p14"/>
          <p:cNvSpPr/>
          <p:nvPr/>
        </p:nvSpPr>
        <p:spPr>
          <a:xfrm>
            <a:off x="10734840" y="542916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Google Shape;76;p14"/>
          <p:cNvPicPr/>
          <p:nvPr/>
        </p:nvPicPr>
        <p:blipFill>
          <a:blip r:embed="rId2"/>
          <a:stretch/>
        </p:blipFill>
        <p:spPr>
          <a:xfrm>
            <a:off x="10328040" y="5003640"/>
            <a:ext cx="1261440" cy="127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81;p15"/>
          <p:cNvSpPr/>
          <p:nvPr/>
        </p:nvSpPr>
        <p:spPr>
          <a:xfrm>
            <a:off x="622080" y="0"/>
            <a:ext cx="10947600" cy="6253200"/>
          </a:xfrm>
          <a:prstGeom prst="rect">
            <a:avLst/>
          </a:prstGeom>
          <a:solidFill>
            <a:schemeClr val="dk2"/>
          </a:solidFill>
          <a:ln w="9525">
            <a:solidFill>
              <a:srgbClr val="FF5C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82;p15"/>
          <p:cNvSpPr/>
          <p:nvPr/>
        </p:nvSpPr>
        <p:spPr>
          <a:xfrm>
            <a:off x="3458520" y="543960"/>
            <a:ext cx="60177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¿Qué conseguimos?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83;p15"/>
          <p:cNvSpPr/>
          <p:nvPr/>
        </p:nvSpPr>
        <p:spPr>
          <a:xfrm>
            <a:off x="622080" y="123660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Google Shape;84;p15"/>
          <p:cNvPicPr/>
          <p:nvPr/>
        </p:nvPicPr>
        <p:blipFill>
          <a:blip r:embed="rId1"/>
          <a:stretch/>
        </p:blipFill>
        <p:spPr>
          <a:xfrm rot="5400000">
            <a:off x="1262160" y="234000"/>
            <a:ext cx="1611000" cy="120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85;p15"/>
          <p:cNvSpPr/>
          <p:nvPr/>
        </p:nvSpPr>
        <p:spPr>
          <a:xfrm>
            <a:off x="1044000" y="41220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86;p15"/>
          <p:cNvSpPr/>
          <p:nvPr/>
        </p:nvSpPr>
        <p:spPr>
          <a:xfrm>
            <a:off x="10734840" y="542916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Google Shape;87;p15"/>
          <p:cNvPicPr/>
          <p:nvPr/>
        </p:nvPicPr>
        <p:blipFill>
          <a:blip r:embed="rId2"/>
          <a:stretch/>
        </p:blipFill>
        <p:spPr>
          <a:xfrm>
            <a:off x="10328040" y="5003640"/>
            <a:ext cx="1261440" cy="127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88;p15"/>
          <p:cNvPicPr/>
          <p:nvPr/>
        </p:nvPicPr>
        <p:blipFill>
          <a:blip r:embed="rId3"/>
          <a:srcRect l="0" t="0" r="41750" b="0"/>
          <a:stretch/>
        </p:blipFill>
        <p:spPr>
          <a:xfrm>
            <a:off x="1944000" y="1236600"/>
            <a:ext cx="8931960" cy="220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Google Shape;89;p15"/>
          <p:cNvPicPr/>
          <p:nvPr/>
        </p:nvPicPr>
        <p:blipFill>
          <a:blip r:embed="rId4"/>
          <a:srcRect l="62359" t="0" r="0" b="0"/>
          <a:stretch/>
        </p:blipFill>
        <p:spPr>
          <a:xfrm>
            <a:off x="3037320" y="3796920"/>
            <a:ext cx="5906880" cy="225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94;p16"/>
          <p:cNvSpPr/>
          <p:nvPr/>
        </p:nvSpPr>
        <p:spPr>
          <a:xfrm>
            <a:off x="4531320" y="6606360"/>
            <a:ext cx="5834880" cy="261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95;p16"/>
          <p:cNvSpPr/>
          <p:nvPr/>
        </p:nvSpPr>
        <p:spPr>
          <a:xfrm>
            <a:off x="10366560" y="6606360"/>
            <a:ext cx="1835280" cy="261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96;p16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Google Shape;97;p16"/>
          <p:cNvPicPr/>
          <p:nvPr/>
        </p:nvPicPr>
        <p:blipFill>
          <a:blip r:embed="rId1"/>
          <a:stretch/>
        </p:blipFill>
        <p:spPr>
          <a:xfrm>
            <a:off x="4540320" y="862920"/>
            <a:ext cx="3110760" cy="513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Google Shape;98;p16"/>
          <p:cNvSpPr/>
          <p:nvPr/>
        </p:nvSpPr>
        <p:spPr>
          <a:xfrm>
            <a:off x="4531320" y="4980240"/>
            <a:ext cx="3129120" cy="1014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99;p16"/>
          <p:cNvSpPr/>
          <p:nvPr/>
        </p:nvSpPr>
        <p:spPr>
          <a:xfrm>
            <a:off x="4141440" y="455868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00;p16"/>
          <p:cNvSpPr/>
          <p:nvPr/>
        </p:nvSpPr>
        <p:spPr>
          <a:xfrm>
            <a:off x="622080" y="1134000"/>
            <a:ext cx="328716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Habilidades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01;p16"/>
          <p:cNvSpPr/>
          <p:nvPr/>
        </p:nvSpPr>
        <p:spPr>
          <a:xfrm>
            <a:off x="622080" y="1854360"/>
            <a:ext cx="328716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Abordarás problemas más complejos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que en los proyectos individuales o de un solo vertical.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Entrenarás en una situación de trabajo realista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con equipos multidisciplinares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2;p16"/>
          <p:cNvSpPr/>
          <p:nvPr/>
        </p:nvSpPr>
        <p:spPr>
          <a:xfrm>
            <a:off x="8264520" y="1854360"/>
            <a:ext cx="3287160" cy="35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Trabajarás de forma ágil,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desarrollando los alumnos ese tipo de capacidades y aprendiendo las metodologías.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Desarrollarás un proyecto bajo la presión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de los deadlines y la presentación del proyecto ante un jurado.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Google Shape;103;p16"/>
          <p:cNvPicPr/>
          <p:nvPr/>
        </p:nvPicPr>
        <p:blipFill>
          <a:blip r:embed="rId2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104;p16">
            <a:hlinkClick r:id="rId3"/>
          </p:cNvPr>
          <p:cNvPicPr/>
          <p:nvPr/>
        </p:nvPicPr>
        <p:blipFill>
          <a:blip r:embed="rId4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109;p17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110;p17"/>
          <p:cNvSpPr/>
          <p:nvPr/>
        </p:nvSpPr>
        <p:spPr>
          <a:xfrm>
            <a:off x="544680" y="862920"/>
            <a:ext cx="4737240" cy="51674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11;p17"/>
          <p:cNvSpPr/>
          <p:nvPr/>
        </p:nvSpPr>
        <p:spPr>
          <a:xfrm>
            <a:off x="1017360" y="1380960"/>
            <a:ext cx="4264920" cy="40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El Desafío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12;p17"/>
          <p:cNvSpPr/>
          <p:nvPr/>
        </p:nvSpPr>
        <p:spPr>
          <a:xfrm>
            <a:off x="2745360" y="1177920"/>
            <a:ext cx="21639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2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117;p18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Google Shape;118;p18"/>
          <p:cNvSpPr/>
          <p:nvPr/>
        </p:nvSpPr>
        <p:spPr>
          <a:xfrm>
            <a:off x="8590680" y="249120"/>
            <a:ext cx="2717280" cy="635040"/>
          </a:xfrm>
          <a:prstGeom prst="rect">
            <a:avLst/>
          </a:prstGeom>
          <a:solidFill>
            <a:srgbClr val="F5F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Google Shape;119;p18"/>
          <p:cNvPicPr/>
          <p:nvPr/>
        </p:nvPicPr>
        <p:blipFill>
          <a:blip r:embed="rId2"/>
          <a:stretch/>
        </p:blipFill>
        <p:spPr>
          <a:xfrm>
            <a:off x="8590680" y="176400"/>
            <a:ext cx="2775960" cy="80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24;p19"/>
          <p:cNvSpPr/>
          <p:nvPr/>
        </p:nvSpPr>
        <p:spPr>
          <a:xfrm>
            <a:off x="6832440" y="862920"/>
            <a:ext cx="4737240" cy="51674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5;p19"/>
          <p:cNvSpPr/>
          <p:nvPr/>
        </p:nvSpPr>
        <p:spPr>
          <a:xfrm>
            <a:off x="7178040" y="1410120"/>
            <a:ext cx="4391640" cy="185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Crear una web/app para la zona del País Vasco (a través de GEO- EUSKADI) orientada a diferentes públicos para encontrar lugares, establecimientos y actividades de interés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6;p19"/>
          <p:cNvSpPr/>
          <p:nvPr/>
        </p:nvSpPr>
        <p:spPr>
          <a:xfrm>
            <a:off x="1157760" y="1046520"/>
            <a:ext cx="3971160" cy="828720"/>
          </a:xfrm>
          <a:prstGeom prst="rect">
            <a:avLst/>
          </a:prstGeom>
          <a:solidFill>
            <a:schemeClr val="lt1"/>
          </a:solidFill>
          <a:ln w="9525">
            <a:solidFill>
              <a:srgbClr val="EF33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127;p19"/>
          <p:cNvPicPr/>
          <p:nvPr/>
        </p:nvPicPr>
        <p:blipFill>
          <a:blip r:embed="rId2"/>
          <a:stretch/>
        </p:blipFill>
        <p:spPr>
          <a:xfrm>
            <a:off x="1098360" y="862920"/>
            <a:ext cx="4126320" cy="119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32;p20"/>
          <p:cNvCxnSpPr/>
          <p:nvPr/>
        </p:nvCxnSpPr>
        <p:spPr>
          <a:xfrm flipV="1">
            <a:off x="4568400" y="1360800"/>
            <a:ext cx="360" cy="3854880"/>
          </a:xfrm>
          <a:prstGeom prst="straightConnector1">
            <a:avLst/>
          </a:prstGeom>
          <a:ln w="9525">
            <a:solidFill>
              <a:srgbClr val="7F7F7F"/>
            </a:solidFill>
            <a:miter/>
          </a:ln>
        </p:spPr>
      </p:cxnSp>
      <p:sp>
        <p:nvSpPr>
          <p:cNvPr id="105" name="Google Shape;133;p20"/>
          <p:cNvSpPr/>
          <p:nvPr/>
        </p:nvSpPr>
        <p:spPr>
          <a:xfrm>
            <a:off x="5441040" y="3267360"/>
            <a:ext cx="6469560" cy="13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Puede tener un doble acceso y que los propios comercios, entidades también puedan promocionar y anunciar sus negocios, eventos, actividades.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34;p20"/>
          <p:cNvSpPr/>
          <p:nvPr/>
        </p:nvSpPr>
        <p:spPr>
          <a:xfrm>
            <a:off x="5441040" y="2742480"/>
            <a:ext cx="646956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2.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Promoción de comercios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5;p20"/>
          <p:cNvSpPr/>
          <p:nvPr/>
        </p:nvSpPr>
        <p:spPr>
          <a:xfrm>
            <a:off x="4531320" y="6606360"/>
            <a:ext cx="5834880" cy="261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6;p20"/>
          <p:cNvSpPr/>
          <p:nvPr/>
        </p:nvSpPr>
        <p:spPr>
          <a:xfrm>
            <a:off x="10366560" y="6606360"/>
            <a:ext cx="1835280" cy="261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7;p20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 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Google Shape;138;p20"/>
          <p:cNvPicPr/>
          <p:nvPr/>
        </p:nvPicPr>
        <p:blipFill>
          <a:blip r:embed="rId1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Google Shape;139;p20"/>
          <p:cNvSpPr/>
          <p:nvPr/>
        </p:nvSpPr>
        <p:spPr>
          <a:xfrm>
            <a:off x="5441040" y="1585800"/>
            <a:ext cx="5697720" cy="10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Los usuarios pueden ir alimentando esta aplicación con comentarios, incidencias, reseñas, valoraciones, etc.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40;p20"/>
          <p:cNvSpPr/>
          <p:nvPr/>
        </p:nvSpPr>
        <p:spPr>
          <a:xfrm>
            <a:off x="5441040" y="1083240"/>
            <a:ext cx="551772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1.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Los usuarios alimentan la app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41;p20"/>
          <p:cNvSpPr/>
          <p:nvPr/>
        </p:nvSpPr>
        <p:spPr>
          <a:xfrm>
            <a:off x="5505480" y="5117040"/>
            <a:ext cx="6469560" cy="13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La aplicación debe adaptarse a la necesidad de cada público (cada equipo tiene un público). Además de lo comentado en los puntos 1 y 2, se pueden desarrollar funcionalidades adicionales ad-hoc para las necesidades específicas de cada tipo de usuario.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2;p20"/>
          <p:cNvSpPr/>
          <p:nvPr/>
        </p:nvSpPr>
        <p:spPr>
          <a:xfrm>
            <a:off x="5505480" y="4592160"/>
            <a:ext cx="646956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3.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Adaptación al público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143;p20" descr="una persona caminando por la Gran Vía de Bilbao mirando una aplicación móvil en su smartphone"/>
          <p:cNvPicPr/>
          <p:nvPr/>
        </p:nvPicPr>
        <p:blipFill>
          <a:blip r:embed="rId2"/>
          <a:stretch/>
        </p:blipFill>
        <p:spPr>
          <a:xfrm>
            <a:off x="210960" y="1083240"/>
            <a:ext cx="4876560" cy="48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144;p20"/>
          <p:cNvSpPr/>
          <p:nvPr/>
        </p:nvSpPr>
        <p:spPr>
          <a:xfrm>
            <a:off x="751680" y="5754600"/>
            <a:ext cx="4335840" cy="8514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5;p20"/>
          <p:cNvSpPr/>
          <p:nvPr/>
        </p:nvSpPr>
        <p:spPr>
          <a:xfrm>
            <a:off x="210960" y="5324760"/>
            <a:ext cx="1168920" cy="62748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50;p21"/>
          <p:cNvSpPr/>
          <p:nvPr/>
        </p:nvSpPr>
        <p:spPr>
          <a:xfrm>
            <a:off x="4531320" y="6606360"/>
            <a:ext cx="5834880" cy="261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51;p21"/>
          <p:cNvSpPr/>
          <p:nvPr/>
        </p:nvSpPr>
        <p:spPr>
          <a:xfrm>
            <a:off x="10366560" y="6606360"/>
            <a:ext cx="1835280" cy="261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52;p21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53;p21"/>
          <p:cNvSpPr/>
          <p:nvPr/>
        </p:nvSpPr>
        <p:spPr>
          <a:xfrm>
            <a:off x="8348760" y="4980240"/>
            <a:ext cx="3105360" cy="1014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54;p21"/>
          <p:cNvSpPr/>
          <p:nvPr/>
        </p:nvSpPr>
        <p:spPr>
          <a:xfrm>
            <a:off x="7504920" y="456840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5;p21"/>
          <p:cNvSpPr/>
          <p:nvPr/>
        </p:nvSpPr>
        <p:spPr>
          <a:xfrm>
            <a:off x="622080" y="1134000"/>
            <a:ext cx="705348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Equipo 1 - Pequeñas grandes familias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56;p21"/>
          <p:cNvSpPr/>
          <p:nvPr/>
        </p:nvSpPr>
        <p:spPr>
          <a:xfrm>
            <a:off x="622080" y="1854360"/>
            <a:ext cx="6338160" cy="44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Ainhoa (32/Barakaldo) y Jaime (40/Getxo) y sus respectivas parejas y familias. Suelen ir a Bilbao los fines de semana con los niños (uno tiene meses y otro 3 años) a pasar el día.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Valoran mucho los días sin complicaciones, donde todo está planificado y no hay sobresaltos. Siempre es importante los niños se sientan cuidados y atendidos ante cualquier situación.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Además les gusta realizar alguna actividad o experiencia en familia y que los peques disfruten.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157;p21"/>
          <p:cNvPicPr/>
          <p:nvPr/>
        </p:nvPicPr>
        <p:blipFill>
          <a:blip r:embed="rId1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158;p21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159;p21" descr="Que aparezcan dos niños, el pequeño en el carrito y el otro de la mano de la madre tal y como estaba al principio"/>
          <p:cNvPicPr/>
          <p:nvPr/>
        </p:nvPicPr>
        <p:blipFill>
          <a:blip r:embed="rId4"/>
          <a:stretch/>
        </p:blipFill>
        <p:spPr>
          <a:xfrm>
            <a:off x="7905960" y="1432080"/>
            <a:ext cx="3547800" cy="354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64;p22"/>
          <p:cNvSpPr/>
          <p:nvPr/>
        </p:nvSpPr>
        <p:spPr>
          <a:xfrm>
            <a:off x="4531320" y="6606360"/>
            <a:ext cx="5834880" cy="261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65;p22"/>
          <p:cNvSpPr/>
          <p:nvPr/>
        </p:nvSpPr>
        <p:spPr>
          <a:xfrm>
            <a:off x="10366560" y="6606360"/>
            <a:ext cx="1835280" cy="261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66;p22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7;p22"/>
          <p:cNvSpPr/>
          <p:nvPr/>
        </p:nvSpPr>
        <p:spPr>
          <a:xfrm>
            <a:off x="8309520" y="4980240"/>
            <a:ext cx="3129120" cy="1014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8;p22"/>
          <p:cNvSpPr/>
          <p:nvPr/>
        </p:nvSpPr>
        <p:spPr>
          <a:xfrm>
            <a:off x="7495200" y="456840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9;p22"/>
          <p:cNvSpPr/>
          <p:nvPr/>
        </p:nvSpPr>
        <p:spPr>
          <a:xfrm>
            <a:off x="622080" y="1134000"/>
            <a:ext cx="708300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Equipo 2 - Somos jóvenes (o no tanto)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70;p22"/>
          <p:cNvSpPr/>
          <p:nvPr/>
        </p:nvSpPr>
        <p:spPr>
          <a:xfrm>
            <a:off x="622080" y="1854360"/>
            <a:ext cx="6338160" cy="44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Cristina (20 años) o Jon (45 años). De Santutxu y Deusto respectivamente. Son sociales, urbanitas y muy workaholics. Sobre todo aman a su cuadrilla. Sin hijos.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Son los que siempre empiezan un plan o lían a los demás para hacerlo. Además son intensivos en comunicación por redes (suben geolocalizaciones, fotos y vídeos de lo que hacen, etc...)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Se mueven siempre rápido y quieren hacer cosas diferentes o ser los primeros en descubrir un local de tardeo de moda.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Google Shape;171;p22"/>
          <p:cNvPicPr/>
          <p:nvPr/>
        </p:nvPicPr>
        <p:blipFill>
          <a:blip r:embed="rId1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172;p22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Google Shape;173;p22" descr="Por el Casco Viejo de Biblao"/>
          <p:cNvPicPr/>
          <p:nvPr/>
        </p:nvPicPr>
        <p:blipFill>
          <a:blip r:embed="rId4"/>
          <a:stretch/>
        </p:blipFill>
        <p:spPr>
          <a:xfrm>
            <a:off x="7857360" y="1432080"/>
            <a:ext cx="3547800" cy="354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78;p23"/>
          <p:cNvSpPr/>
          <p:nvPr/>
        </p:nvSpPr>
        <p:spPr>
          <a:xfrm>
            <a:off x="4531320" y="6606360"/>
            <a:ext cx="5834880" cy="261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79;p23"/>
          <p:cNvSpPr/>
          <p:nvPr/>
        </p:nvSpPr>
        <p:spPr>
          <a:xfrm>
            <a:off x="10366560" y="6606360"/>
            <a:ext cx="1835280" cy="261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80;p23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81;p23"/>
          <p:cNvSpPr/>
          <p:nvPr/>
        </p:nvSpPr>
        <p:spPr>
          <a:xfrm>
            <a:off x="8309520" y="4980240"/>
            <a:ext cx="3129120" cy="1014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82;p23"/>
          <p:cNvSpPr/>
          <p:nvPr/>
        </p:nvSpPr>
        <p:spPr>
          <a:xfrm>
            <a:off x="7495200" y="456840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83;p23"/>
          <p:cNvSpPr/>
          <p:nvPr/>
        </p:nvSpPr>
        <p:spPr>
          <a:xfrm>
            <a:off x="622080" y="1134000"/>
            <a:ext cx="6761160" cy="53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Equipo 3 - De Bilbao de toda la vida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84;p23"/>
          <p:cNvSpPr/>
          <p:nvPr/>
        </p:nvSpPr>
        <p:spPr>
          <a:xfrm>
            <a:off x="622080" y="1854360"/>
            <a:ext cx="6338160" cy="44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María e Ignacio (45-65 años). Viven en el Ensanche e Indautxu, respectivamente. Tienen poder adquisitivo y valoran la calidad y la cercanía. Les gusta investigar antes de  decidir dónde cenar o comer y saber qué se comenta de los sitios.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Les gusta descubrir tiendas especializadas que les generen de confianza y sentirse bien atendidos.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El tiempo no pasa en balde: tienen presbicia, pero no lo reconocen.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Google Shape;185;p23"/>
          <p:cNvPicPr/>
          <p:nvPr/>
        </p:nvPicPr>
        <p:blipFill>
          <a:blip r:embed="rId1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Google Shape;186;p23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Google Shape;187;p23" descr="Una imagen de María e Ignacio (45-65 años). Viven en el Ensanche o Indautxu. Foto en un restaurante caro con una buena comida&#10;"/>
          <p:cNvPicPr/>
          <p:nvPr/>
        </p:nvPicPr>
        <p:blipFill>
          <a:blip r:embed="rId4"/>
          <a:stretch/>
        </p:blipFill>
        <p:spPr>
          <a:xfrm>
            <a:off x="7890840" y="1432080"/>
            <a:ext cx="3547800" cy="354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92;p24"/>
          <p:cNvSpPr/>
          <p:nvPr/>
        </p:nvSpPr>
        <p:spPr>
          <a:xfrm>
            <a:off x="4531320" y="6606360"/>
            <a:ext cx="5834880" cy="261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93;p24"/>
          <p:cNvSpPr/>
          <p:nvPr/>
        </p:nvSpPr>
        <p:spPr>
          <a:xfrm>
            <a:off x="10366560" y="6606360"/>
            <a:ext cx="1835280" cy="261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94;p24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95;p24"/>
          <p:cNvSpPr/>
          <p:nvPr/>
        </p:nvSpPr>
        <p:spPr>
          <a:xfrm>
            <a:off x="8309520" y="4980240"/>
            <a:ext cx="3129120" cy="1014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96;p24"/>
          <p:cNvSpPr/>
          <p:nvPr/>
        </p:nvSpPr>
        <p:spPr>
          <a:xfrm>
            <a:off x="7495200" y="4568400"/>
            <a:ext cx="843120" cy="824040"/>
          </a:xfrm>
          <a:prstGeom prst="corner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197;p24"/>
          <p:cNvSpPr/>
          <p:nvPr/>
        </p:nvSpPr>
        <p:spPr>
          <a:xfrm>
            <a:off x="622080" y="1134000"/>
            <a:ext cx="648792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Equipo 4 - Más allá del Guggen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98;p24"/>
          <p:cNvSpPr/>
          <p:nvPr/>
        </p:nvSpPr>
        <p:spPr>
          <a:xfrm>
            <a:off x="622080" y="1854360"/>
            <a:ext cx="6338160" cy="44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Mark (EE.UU.) o Elena (Sevilla). Vienen por 3 o 4 días. Su epicentro es el Guggenheim pero quieren "vivir como un bilbaíno".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No saben dónde están las cosas ni ubicarse en las ciudades. Buscan "lo mejor cerca de mí" ahora mismo. Se fían ciegamente de las valoraciones de la comunidad local.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Exploradores natos, han estado en muchos lugares y quieren experiencias locales auténticas y genuinas. No las que hace todo el mundo.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8000"/>
              </a:lnSpc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Google Shape;199;p24"/>
          <p:cNvPicPr/>
          <p:nvPr/>
        </p:nvPicPr>
        <p:blipFill>
          <a:blip r:embed="rId1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Google Shape;200;p24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Google Shape;201;p24" descr="pon a los dos más jóvenes y con otro aspecto"/>
          <p:cNvPicPr/>
          <p:nvPr/>
        </p:nvPicPr>
        <p:blipFill>
          <a:blip r:embed="rId4"/>
          <a:stretch/>
        </p:blipFill>
        <p:spPr>
          <a:xfrm>
            <a:off x="7890840" y="1432080"/>
            <a:ext cx="3547800" cy="354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206;p25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Google Shape;207;p25"/>
          <p:cNvSpPr/>
          <p:nvPr/>
        </p:nvSpPr>
        <p:spPr>
          <a:xfrm>
            <a:off x="544680" y="862920"/>
            <a:ext cx="4737240" cy="51674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08;p25"/>
          <p:cNvSpPr/>
          <p:nvPr/>
        </p:nvSpPr>
        <p:spPr>
          <a:xfrm>
            <a:off x="1017360" y="1380960"/>
            <a:ext cx="4264920" cy="40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Equipos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09;p25"/>
          <p:cNvSpPr/>
          <p:nvPr/>
        </p:nvSpPr>
        <p:spPr>
          <a:xfrm>
            <a:off x="2745360" y="1177920"/>
            <a:ext cx="21639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3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214;p26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Google Shape;215;p26"/>
          <p:cNvPicPr/>
          <p:nvPr/>
        </p:nvPicPr>
        <p:blipFill>
          <a:blip r:embed="rId1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Google Shape;216;p26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Google Shape;217;p26"/>
          <p:cNvSpPr/>
          <p:nvPr/>
        </p:nvSpPr>
        <p:spPr>
          <a:xfrm>
            <a:off x="3095280" y="890280"/>
            <a:ext cx="2268720" cy="5494320"/>
          </a:xfrm>
          <a:prstGeom prst="rect">
            <a:avLst/>
          </a:prstGeom>
          <a:solidFill>
            <a:srgbClr val="EF3340"/>
          </a:solidFill>
          <a:ln w="9525">
            <a:solidFill>
              <a:srgbClr val="FF5C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18;p26"/>
          <p:cNvSpPr/>
          <p:nvPr/>
        </p:nvSpPr>
        <p:spPr>
          <a:xfrm>
            <a:off x="3031920" y="1881360"/>
            <a:ext cx="2333520" cy="42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(DS) Juan Carlos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(DS) Irene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(DS) Fátima N.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(DS) Mikel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(CIB) Andoni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(CIB) Jon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(CIB) Anghelo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(CIB) David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(MKT) Jhon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(MKT) Vanesa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(MKT) Isabel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(MKT) James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(FS) Saray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(FS) Jon*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(FS) Montse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(FS) Edi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19;p26"/>
          <p:cNvSpPr/>
          <p:nvPr/>
        </p:nvSpPr>
        <p:spPr>
          <a:xfrm>
            <a:off x="3097080" y="987480"/>
            <a:ext cx="226872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Equipo 2 -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Jóvenes (o no) | Clara</a:t>
            </a:r>
            <a:br>
              <a:rPr sz="2100"/>
            </a:br>
            <a:r>
              <a:rPr lang="en-US" sz="1000" b="1" i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(Sasoiko - Gunea 0 - Aula MKT)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8" name="Google Shape;220;p26"/>
          <p:cNvCxnSpPr/>
          <p:nvPr/>
        </p:nvCxnSpPr>
        <p:spPr>
          <a:xfrm flipV="1">
            <a:off x="2849040" y="1135440"/>
            <a:ext cx="360" cy="2233440"/>
          </a:xfrm>
          <a:prstGeom prst="straightConnector1">
            <a:avLst/>
          </a:prstGeom>
          <a:ln w="9525">
            <a:solidFill>
              <a:srgbClr val="7F7F7F"/>
            </a:solidFill>
            <a:miter/>
          </a:ln>
        </p:spPr>
      </p:cxnSp>
      <p:cxnSp>
        <p:nvCxnSpPr>
          <p:cNvPr id="169" name="Google Shape;221;p26"/>
          <p:cNvCxnSpPr/>
          <p:nvPr/>
        </p:nvCxnSpPr>
        <p:spPr>
          <a:xfrm flipV="1">
            <a:off x="2849040" y="3509640"/>
            <a:ext cx="360" cy="2304000"/>
          </a:xfrm>
          <a:prstGeom prst="straightConnector1">
            <a:avLst/>
          </a:prstGeom>
          <a:ln w="9525">
            <a:solidFill>
              <a:srgbClr val="7F7F7F"/>
            </a:solidFill>
            <a:miter/>
          </a:ln>
        </p:spPr>
      </p:cxnSp>
      <p:sp>
        <p:nvSpPr>
          <p:cNvPr id="170" name="Google Shape;222;p26"/>
          <p:cNvSpPr/>
          <p:nvPr/>
        </p:nvSpPr>
        <p:spPr>
          <a:xfrm>
            <a:off x="2778840" y="3368520"/>
            <a:ext cx="141120" cy="141120"/>
          </a:xfrm>
          <a:prstGeom prst="ellipse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560" rIns="7056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23;p26"/>
          <p:cNvSpPr/>
          <p:nvPr/>
        </p:nvSpPr>
        <p:spPr>
          <a:xfrm>
            <a:off x="327960" y="917640"/>
            <a:ext cx="2270160" cy="5440320"/>
          </a:xfrm>
          <a:prstGeom prst="rect">
            <a:avLst/>
          </a:prstGeom>
          <a:noFill/>
          <a:ln w="9525">
            <a:solidFill>
              <a:srgbClr val="FF5C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24;p26"/>
          <p:cNvSpPr/>
          <p:nvPr/>
        </p:nvSpPr>
        <p:spPr>
          <a:xfrm>
            <a:off x="147600" y="1920600"/>
            <a:ext cx="2333520" cy="43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(DS) Urko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(DS) Danillo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(DS) Óscar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(DS) Rubén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000000"/>
              </a:buClr>
              <a:buFont typeface="Poppins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(CIB) Erlantz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(CIB)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Darío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(CIB) Guillermo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(CIB) Patxi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(MKT) David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(MKT) Aitziber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(MKT) Eider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(MKT) Elena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(FS) David*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(FS) Marcos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(FS) Luis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(FS) Eli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25;p26"/>
          <p:cNvSpPr/>
          <p:nvPr/>
        </p:nvSpPr>
        <p:spPr>
          <a:xfrm>
            <a:off x="327960" y="960480"/>
            <a:ext cx="227016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Equipo 1 -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Familias | Jesús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i="1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(Sasoiko - </a:t>
            </a:r>
            <a:r>
              <a:rPr lang="en-US" sz="1000" b="1" i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Gunea 1 - </a:t>
            </a:r>
            <a:r>
              <a:rPr lang="en-US" sz="1000" b="1" i="1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Aula FS)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26;p26"/>
          <p:cNvSpPr/>
          <p:nvPr/>
        </p:nvSpPr>
        <p:spPr>
          <a:xfrm>
            <a:off x="8843040" y="890280"/>
            <a:ext cx="2268720" cy="5494320"/>
          </a:xfrm>
          <a:prstGeom prst="rect">
            <a:avLst/>
          </a:prstGeom>
          <a:solidFill>
            <a:srgbClr val="EF3340"/>
          </a:solidFill>
          <a:ln w="9525">
            <a:solidFill>
              <a:srgbClr val="FF5C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27;p26"/>
          <p:cNvSpPr/>
          <p:nvPr/>
        </p:nvSpPr>
        <p:spPr>
          <a:xfrm>
            <a:off x="8779320" y="1881360"/>
            <a:ext cx="2183040" cy="42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(DS) Naia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(DS) Fátima G.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(DS) Andoni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(DS) Unai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(CIB) Javiera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(CIB) Jorge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(CIB) Pablo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(MKT) Patricia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(MKT) Jovian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(MKT) Cristina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(FS) Jonathan*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(FS) Dario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(FS) Frank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(FS) Ane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28;p26"/>
          <p:cNvSpPr/>
          <p:nvPr/>
        </p:nvSpPr>
        <p:spPr>
          <a:xfrm>
            <a:off x="8844480" y="987480"/>
            <a:ext cx="226872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Equipo 4 -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Turistas | Rubens</a:t>
            </a:r>
            <a:br>
              <a:rPr sz="2100"/>
            </a:br>
            <a:r>
              <a:rPr lang="en-US" sz="1000" b="1" i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(Kuna - Urazur. - Aula Ciber)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7" name="Google Shape;229;p26"/>
          <p:cNvCxnSpPr/>
          <p:nvPr/>
        </p:nvCxnSpPr>
        <p:spPr>
          <a:xfrm flipV="1">
            <a:off x="8596800" y="1135440"/>
            <a:ext cx="360" cy="2233440"/>
          </a:xfrm>
          <a:prstGeom prst="straightConnector1">
            <a:avLst/>
          </a:prstGeom>
          <a:ln w="9525">
            <a:solidFill>
              <a:srgbClr val="7F7F7F"/>
            </a:solidFill>
            <a:miter/>
          </a:ln>
        </p:spPr>
      </p:cxnSp>
      <p:cxnSp>
        <p:nvCxnSpPr>
          <p:cNvPr id="178" name="Google Shape;230;p26"/>
          <p:cNvCxnSpPr/>
          <p:nvPr/>
        </p:nvCxnSpPr>
        <p:spPr>
          <a:xfrm flipV="1">
            <a:off x="8596800" y="3509640"/>
            <a:ext cx="360" cy="2304000"/>
          </a:xfrm>
          <a:prstGeom prst="straightConnector1">
            <a:avLst/>
          </a:prstGeom>
          <a:ln w="9525">
            <a:solidFill>
              <a:srgbClr val="7F7F7F"/>
            </a:solidFill>
            <a:miter/>
          </a:ln>
        </p:spPr>
      </p:cxnSp>
      <p:sp>
        <p:nvSpPr>
          <p:cNvPr id="179" name="Google Shape;231;p26"/>
          <p:cNvSpPr/>
          <p:nvPr/>
        </p:nvSpPr>
        <p:spPr>
          <a:xfrm>
            <a:off x="8526240" y="3368520"/>
            <a:ext cx="141120" cy="141120"/>
          </a:xfrm>
          <a:prstGeom prst="ellipse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560" rIns="7056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32;p26"/>
          <p:cNvSpPr/>
          <p:nvPr/>
        </p:nvSpPr>
        <p:spPr>
          <a:xfrm>
            <a:off x="6075720" y="917640"/>
            <a:ext cx="2270160" cy="5440320"/>
          </a:xfrm>
          <a:prstGeom prst="rect">
            <a:avLst/>
          </a:prstGeom>
          <a:noFill/>
          <a:ln w="9525">
            <a:solidFill>
              <a:srgbClr val="FF5C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33;p26"/>
          <p:cNvSpPr/>
          <p:nvPr/>
        </p:nvSpPr>
        <p:spPr>
          <a:xfrm>
            <a:off x="5895360" y="1879560"/>
            <a:ext cx="2333520" cy="43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(DS) Eneko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(DS) Alejandro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(DS) Chiara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(DS) Jose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000000"/>
              </a:buClr>
              <a:buFont typeface="Poppins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(CIB) Jonkar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(CIB) Aitor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(CIB) Sheila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(MKT) Rafael 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(MKT) Hicham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(MKT) Miren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(MKT) Pedro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(FS) Olatz*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(FS) Asier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(FS) Iker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(FS) Jefferson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34;p26"/>
          <p:cNvSpPr/>
          <p:nvPr/>
        </p:nvSpPr>
        <p:spPr>
          <a:xfrm>
            <a:off x="5997600" y="960480"/>
            <a:ext cx="240084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Equipo 3 -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De toda la vida | Itsazain</a:t>
            </a:r>
            <a:br>
              <a:rPr sz="2100"/>
            </a:br>
            <a:r>
              <a:rPr lang="en-US" sz="1000" b="1" i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(Kuna - Ribera - Aula Data)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3" name="Google Shape;235;p26"/>
          <p:cNvCxnSpPr/>
          <p:nvPr/>
        </p:nvCxnSpPr>
        <p:spPr>
          <a:xfrm flipV="1">
            <a:off x="5719680" y="1100160"/>
            <a:ext cx="360" cy="2233440"/>
          </a:xfrm>
          <a:prstGeom prst="straightConnector1">
            <a:avLst/>
          </a:prstGeom>
          <a:ln w="9525">
            <a:solidFill>
              <a:srgbClr val="7F7F7F"/>
            </a:solidFill>
            <a:miter/>
          </a:ln>
        </p:spPr>
      </p:cxnSp>
      <p:cxnSp>
        <p:nvCxnSpPr>
          <p:cNvPr id="184" name="Google Shape;236;p26"/>
          <p:cNvCxnSpPr/>
          <p:nvPr/>
        </p:nvCxnSpPr>
        <p:spPr>
          <a:xfrm flipV="1">
            <a:off x="5719680" y="3474360"/>
            <a:ext cx="360" cy="2304000"/>
          </a:xfrm>
          <a:prstGeom prst="straightConnector1">
            <a:avLst/>
          </a:prstGeom>
          <a:ln w="9525">
            <a:solidFill>
              <a:srgbClr val="7F7F7F"/>
            </a:solidFill>
            <a:miter/>
          </a:ln>
        </p:spPr>
      </p:cxnSp>
      <p:sp>
        <p:nvSpPr>
          <p:cNvPr id="185" name="Google Shape;237;p26"/>
          <p:cNvSpPr/>
          <p:nvPr/>
        </p:nvSpPr>
        <p:spPr>
          <a:xfrm>
            <a:off x="5649120" y="3333240"/>
            <a:ext cx="141120" cy="141120"/>
          </a:xfrm>
          <a:prstGeom prst="ellipse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560" rIns="7056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38;p26"/>
          <p:cNvSpPr/>
          <p:nvPr/>
        </p:nvSpPr>
        <p:spPr>
          <a:xfrm>
            <a:off x="110520" y="6473160"/>
            <a:ext cx="11659320" cy="3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266760">
              <a:lnSpc>
                <a:spcPct val="15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Las personas marcadas con * se consideran líderes de esa vertical, cada equipo elige una persona portavoz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243;p27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Google Shape;244;p27"/>
          <p:cNvSpPr/>
          <p:nvPr/>
        </p:nvSpPr>
        <p:spPr>
          <a:xfrm>
            <a:off x="544680" y="862920"/>
            <a:ext cx="4737240" cy="51674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45;p27"/>
          <p:cNvSpPr/>
          <p:nvPr/>
        </p:nvSpPr>
        <p:spPr>
          <a:xfrm>
            <a:off x="1017360" y="1380960"/>
            <a:ext cx="4264920" cy="40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Tecnología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46;p27"/>
          <p:cNvSpPr/>
          <p:nvPr/>
        </p:nvSpPr>
        <p:spPr>
          <a:xfrm>
            <a:off x="2745360" y="1177920"/>
            <a:ext cx="21639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4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252;p28"/>
          <p:cNvSpPr/>
          <p:nvPr/>
        </p:nvSpPr>
        <p:spPr>
          <a:xfrm>
            <a:off x="622080" y="1185480"/>
            <a:ext cx="458028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Resultado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53;p28"/>
          <p:cNvSpPr/>
          <p:nvPr/>
        </p:nvSpPr>
        <p:spPr>
          <a:xfrm>
            <a:off x="622080" y="2417040"/>
            <a:ext cx="6583680" cy="11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Una aplicación con un login enfocada en el usuario y que use algún modelo predictivo para mostrar resultados. Puede ser una red social o una visión de consulta o una de mapa, etc... es algo muy abierto. 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Google Shape;254;p28"/>
          <p:cNvPicPr/>
          <p:nvPr/>
        </p:nvPicPr>
        <p:blipFill>
          <a:blip r:embed="rId1"/>
          <a:srcRect l="13510" t="0" r="16099" b="8667"/>
          <a:stretch/>
        </p:blipFill>
        <p:spPr>
          <a:xfrm>
            <a:off x="6944760" y="-199440"/>
            <a:ext cx="5247000" cy="6808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4" name="Google Shape;255;p28"/>
          <p:cNvGrpSpPr/>
          <p:nvPr/>
        </p:nvGrpSpPr>
        <p:grpSpPr>
          <a:xfrm>
            <a:off x="8467200" y="6423120"/>
            <a:ext cx="2386440" cy="185400"/>
            <a:chOff x="8467200" y="6423120"/>
            <a:chExt cx="2386440" cy="185400"/>
          </a:xfrm>
        </p:grpSpPr>
        <p:sp>
          <p:nvSpPr>
            <p:cNvPr id="195" name="Google Shape;256;p28"/>
            <p:cNvSpPr/>
            <p:nvPr/>
          </p:nvSpPr>
          <p:spPr>
            <a:xfrm>
              <a:off x="9567720" y="6423120"/>
              <a:ext cx="185400" cy="18540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0560" rIns="70560" anchor="ctr">
              <a:noAutofit/>
            </a:bodyPr>
            <a:p>
              <a:endParaRPr lang="es-E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96" name="Google Shape;257;p28"/>
            <p:cNvCxnSpPr/>
            <p:nvPr/>
          </p:nvCxnSpPr>
          <p:spPr>
            <a:xfrm>
              <a:off x="9753480" y="6515640"/>
              <a:ext cx="1100520" cy="360"/>
            </a:xfrm>
            <a:prstGeom prst="straightConnector1">
              <a:avLst/>
            </a:prstGeom>
            <a:ln w="9525">
              <a:solidFill>
                <a:srgbClr val="7F7F7F"/>
              </a:solidFill>
              <a:miter/>
            </a:ln>
          </p:spPr>
        </p:cxnSp>
        <p:cxnSp>
          <p:nvCxnSpPr>
            <p:cNvPr id="197" name="Google Shape;258;p28"/>
            <p:cNvCxnSpPr/>
            <p:nvPr/>
          </p:nvCxnSpPr>
          <p:spPr>
            <a:xfrm>
              <a:off x="8467200" y="6515640"/>
              <a:ext cx="1100880" cy="360"/>
            </a:xfrm>
            <a:prstGeom prst="straightConnector1">
              <a:avLst/>
            </a:prstGeom>
            <a:ln w="9525">
              <a:solidFill>
                <a:srgbClr val="7F7F7F"/>
              </a:solidFill>
              <a:miter/>
            </a:ln>
          </p:spPr>
        </p:cxnSp>
      </p:grpSp>
      <p:pic>
        <p:nvPicPr>
          <p:cNvPr id="198" name="Google Shape;259;p28" descr="Interfaz de usuario gráfica&#10;&#10;Descripción generada automáticamente con confianza media"/>
          <p:cNvPicPr/>
          <p:nvPr/>
        </p:nvPicPr>
        <p:blipFill>
          <a:blip r:embed="rId2"/>
          <a:srcRect l="2311" t="1217" r="3547" b="22393"/>
          <a:stretch/>
        </p:blipFill>
        <p:spPr>
          <a:xfrm>
            <a:off x="8433720" y="812880"/>
            <a:ext cx="2445480" cy="519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Google Shape;260;p28"/>
          <p:cNvPicPr/>
          <p:nvPr/>
        </p:nvPicPr>
        <p:blipFill>
          <a:blip r:embed="rId3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Google Shape;261;p28">
            <a:hlinkClick r:id="rId4"/>
          </p:cNvPr>
          <p:cNvPicPr/>
          <p:nvPr/>
        </p:nvPicPr>
        <p:blipFill>
          <a:blip r:embed="rId5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67;p29"/>
          <p:cNvSpPr/>
          <p:nvPr/>
        </p:nvSpPr>
        <p:spPr>
          <a:xfrm>
            <a:off x="622080" y="862920"/>
            <a:ext cx="328716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Ciberseguridad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68;p29"/>
          <p:cNvSpPr/>
          <p:nvPr/>
        </p:nvSpPr>
        <p:spPr>
          <a:xfrm>
            <a:off x="374400" y="1366560"/>
            <a:ext cx="11612880" cy="39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Entender el contexto global de la aplicación desde el punto de vista funcional y determinar cuáles son las características que pueden ser más delicadas o sensibles de ser atacadas.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Realizar el hardening de los sistemas operativos y de los aplicativos necesarios para la realización del proyecto.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Proponer la infraestructura necesaria para un futuro despliegue del proyecto y que sea jerarquizable, modular y ampliable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Estudiar e implementar un sistema de backup, estrategia llevada a cabo, cálculos de costes , periodos de conservación. Analizar la sensibilidad de los datos almacenados.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Utilizar la metodología descrita en el OWASP Top 10 y definir cuestiones tan importantes como: - En subequipos responsables de cada OWASP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Agentes maliciosos. Posibles vectores de ataque.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Análisis de los controles de seguridad que se han planteado en la etapa de diseño (si los hay).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Definición del impacto técnico y de negocio. Determinar si el diseño del proyecto sigue las buenas prácticas definidas en el SSDLC.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Ejecutar, durante el proceso de desarrollo y construcción, pruebas con herramientas de código estático para detectar malas prácticas/vulnerabilidades en cada entrega parcial o sobre las ramas que en un momento determinado se consideran “estables”. Posteriormente, aportar posibles contramedidas o soluciones a los problemas detectados.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Realizar una pequeña auditoría con herramientas de pentesting al finalizar el desarrollo. Algo rápido y sin entrar en el nivel de detalle que requiere una auditoría en condiciones pero que servirá para encontrar los problemas más evidentes.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69;p29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Google Shape;270;p29"/>
          <p:cNvPicPr/>
          <p:nvPr/>
        </p:nvPicPr>
        <p:blipFill>
          <a:blip r:embed="rId1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Google Shape;271;p29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77;p30"/>
          <p:cNvSpPr/>
          <p:nvPr/>
        </p:nvSpPr>
        <p:spPr>
          <a:xfrm>
            <a:off x="622080" y="862920"/>
            <a:ext cx="328716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Data Science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78;p30"/>
          <p:cNvSpPr/>
          <p:nvPr/>
        </p:nvSpPr>
        <p:spPr>
          <a:xfrm>
            <a:off x="374400" y="1671120"/>
            <a:ext cx="11612880" cy="39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Generar los diagramas necesarios para definir el alcance del proyecto en lo que a la parte de Datos se refiere (qué funcionalidad, qué interfaz de entrega, etc). [P]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Elegir el flujo de trabajo utilizando Git como herramienta para la gestión de versiones.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Realizar un research que identifique los principales portales de donde obtener los datos necesarios anotando qué tipo de datos están disponibles.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Extracción de datos (APIs, webscraping,...) y almacenamiento en una base de Datos SQL y/o No-SQL y/o fichero plano siempre que se justifique esta última elección.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Determinar y explicar qué características son las más relevantes.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Evaluar los diferentes escenarios para modelos de machine learning como problema supervisado, no supervisado, etc. [P]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Desarrollar o plantear el desarrollo de un modelo que realice algún tipo de procesamiento de ML con los datos que se vayan a emplear. [P]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Fijar un criterio para la futura monitorización de los datos y el rendimiento de los modelos (si hay) y las métricas asociadas, así como los datos que entregaría el sistema para poder hacer el seguimiento. [P]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Crear una API (o el código que deba ejecutar una API proporcionada por Cloud) para gestionar la base de datos o modelo, y otra para monitorizar el uso de datos y/o modelo. [P]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79;p30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Google Shape;280;p30"/>
          <p:cNvPicPr/>
          <p:nvPr/>
        </p:nvPicPr>
        <p:blipFill>
          <a:blip r:embed="rId1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Google Shape;281;p30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87;p31"/>
          <p:cNvSpPr/>
          <p:nvPr/>
        </p:nvSpPr>
        <p:spPr>
          <a:xfrm>
            <a:off x="622080" y="862920"/>
            <a:ext cx="561204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Desarrollo Web Full Stack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288;p31"/>
          <p:cNvSpPr/>
          <p:nvPr/>
        </p:nvSpPr>
        <p:spPr>
          <a:xfrm>
            <a:off x="374400" y="1442520"/>
            <a:ext cx="11612880" cy="39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Crear la arquitectura de la solución, y encargarse de la implementación de la misma.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Decidir las tecnologías a usar con sentido y trabajando de la mano con Ciberseguridad para llegar a un consenso de nivel de seguridad.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Trabajar en un front y back que permita visualizar los datos de la app y permita la interacción del usuario de la mano de los compañeros de Marketing.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Desarrollar el front de la app con React y backend con node + express.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La aplicación debe ser mobile-first y SPA (single page application), de manera que no haya en ningún momento recarga de página, y solo se carguen y rendericen aquellos contenidos mínimos necesarios con cada cambio de endpoint.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Se valorará la proactividad, originalidad y búsqueda de soluciones a todos los niveles.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Elegir la bbdd (SQL o NoSQL) adecuada para cada app en función del modelo de datos necesitado compatible con el resultado del trabajo de Data.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Se permite (y recomienda, si con ello se minimiza el tiempo de desarrollo y se acelera así el de entrega) el uso de cualquier recurso de terceros (librerías, paquetes npm, etc.) además del código propio.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Gestionar el control de versiones con GitHub desde el principio del proyecto.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Gestionar la documentación y pruebas del proyecto hasta el punto que el tiempo lo permita y de la mejor manera posible.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Trabajar con los compañeros en la presentación, para exponer el trabajo de desarrollo.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Documentación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89;p31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Google Shape;290;p31"/>
          <p:cNvPicPr/>
          <p:nvPr/>
        </p:nvPicPr>
        <p:blipFill>
          <a:blip r:embed="rId1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Google Shape;291;p31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97;p32"/>
          <p:cNvSpPr/>
          <p:nvPr/>
        </p:nvSpPr>
        <p:spPr>
          <a:xfrm>
            <a:off x="622080" y="862920"/>
            <a:ext cx="416304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Marketing Digital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98;p32"/>
          <p:cNvSpPr/>
          <p:nvPr/>
        </p:nvSpPr>
        <p:spPr>
          <a:xfrm>
            <a:off x="374400" y="1595160"/>
            <a:ext cx="6583680" cy="39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Realizar un análisis previo que ayude a descubrir la situación actual del sector/mercado  e investigar a posibles competidores y/o soluciones sustitutivas para detectar oportunidades que nos permitan diseñar  nuestro producto/servicio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Definir los buyer/user persona, customer journey map, intereses y comportamiento online y cualquier aspecto adicional que me ayude a construir una solución adecuada para mi cliente objetivo y orientar futuras campañas online.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Construir la propuesta de valor y mensajes del producto/servicio para mostrar a nuestro potencial cliente el poder transformacional de nuestro producto/servicio y cómo lo llevaríamos del Antes al Después.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Definir junto al resto de miembros del equipo, en base a los puntos anteriores,  el modelo de negocio más apropiado para desarrollar el proyecto y monetizar la solución al desafío planteado.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99;p32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Google Shape;300;p32"/>
          <p:cNvPicPr/>
          <p:nvPr/>
        </p:nvPicPr>
        <p:blipFill>
          <a:blip r:embed="rId1"/>
          <a:stretch/>
        </p:blipFill>
        <p:spPr>
          <a:xfrm>
            <a:off x="0" y="0"/>
            <a:ext cx="2538360" cy="60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Google Shape;301;p32"/>
          <p:cNvSpPr/>
          <p:nvPr/>
        </p:nvSpPr>
        <p:spPr>
          <a:xfrm>
            <a:off x="6958440" y="1371960"/>
            <a:ext cx="5123880" cy="55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Definir el naming y branding (Personalidad de Marca, Territorios, tono de comunicación, pilares de contenido y plan de contenidos para el proyecto.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Integrar la propuesta de valor a través de copies orientados (gain creators / pain relievers)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Identificar los datos y eventos a trackear en la aplicación (plan de tracking mínimo).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Crear la estrategia de captación de nuevos usuarios/clientes indicando aquellos canales y tácticas que se van a llevar a cabo y documentándolo  en un plan de medios.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Documentar un plan de contacto (buyer persona, contexto y necesidad, canal, frecuencia y workflow de ejemplo para gestionar el CRM.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Poppins"/>
              <a:buChar char="●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Sugerir posibles pruebas de testing para mejorar CRO en las principales landing de conversión.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Google Shape;302;p32">
            <a:hlinkClick r:id="rId2"/>
          </p:cNvPr>
          <p:cNvPicPr/>
          <p:nvPr/>
        </p:nvPicPr>
        <p:blipFill>
          <a:blip r:embed="rId3"/>
          <a:srcRect l="0" t="4725" r="0" b="12314"/>
          <a:stretch/>
        </p:blipFill>
        <p:spPr>
          <a:xfrm>
            <a:off x="2598480" y="45000"/>
            <a:ext cx="1168560" cy="51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307;p33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Google Shape;308;p33"/>
          <p:cNvSpPr/>
          <p:nvPr/>
        </p:nvSpPr>
        <p:spPr>
          <a:xfrm>
            <a:off x="544680" y="862920"/>
            <a:ext cx="4737240" cy="51674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309;p33"/>
          <p:cNvSpPr/>
          <p:nvPr/>
        </p:nvSpPr>
        <p:spPr>
          <a:xfrm>
            <a:off x="1017360" y="1380960"/>
            <a:ext cx="4264920" cy="40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Calendario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310;p33"/>
          <p:cNvSpPr/>
          <p:nvPr/>
        </p:nvSpPr>
        <p:spPr>
          <a:xfrm>
            <a:off x="2745360" y="1177920"/>
            <a:ext cx="21639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5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315;p34"/>
          <p:cNvSpPr/>
          <p:nvPr/>
        </p:nvSpPr>
        <p:spPr>
          <a:xfrm>
            <a:off x="6405840" y="677160"/>
            <a:ext cx="5785920" cy="41396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316;p34"/>
          <p:cNvSpPr/>
          <p:nvPr/>
        </p:nvSpPr>
        <p:spPr>
          <a:xfrm>
            <a:off x="0" y="677160"/>
            <a:ext cx="6190920" cy="413964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317;p34"/>
          <p:cNvSpPr/>
          <p:nvPr/>
        </p:nvSpPr>
        <p:spPr>
          <a:xfrm>
            <a:off x="6463080" y="519840"/>
            <a:ext cx="5897880" cy="44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>
              <a:lnSpc>
                <a:spcPct val="150000"/>
              </a:lnSpc>
              <a:tabLst>
                <a:tab pos="0" algn="l"/>
              </a:tabLst>
            </a:pP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ENTREGABLES OBLIGATORIOS - 09/06 :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000000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LOGO, TITULO, PRESENTADORES (email a Jorge)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000000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DOCUMENTACIÓN TÉCNICA y backup de código (LIs y TAs) </a:t>
            </a:r>
            <a:br>
              <a:rPr sz="1400"/>
            </a:b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ENSAYO - 09/06 - 10:00-12:00 - Ganbara Planta 3 Kuna: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000000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Ensayo con LIs/Mentores/Campus</a:t>
            </a:r>
            <a:br>
              <a:rPr sz="1400"/>
            </a:b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DIA DE LA PRESENTACIÓN - DIA 11 de junio (10:00-Ganbara):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000000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Presentaciones de 15 minutos / 15 minutos respuesta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000000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Se enseña presentación + prototipo funcional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000000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Todas las áreas presentan (1 o 2 representantes por área)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000000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Los profesores son jurado, preguntan por especialidad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000000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El cliente es jurado y preguntan por el proyecto y tecnología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318;p34"/>
          <p:cNvSpPr/>
          <p:nvPr/>
        </p:nvSpPr>
        <p:spPr>
          <a:xfrm>
            <a:off x="214920" y="677160"/>
            <a:ext cx="6190920" cy="41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Día de Presentación ENUNCIADO DESAFÍO con Inetum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y presentación de equipos 28/05 a las 10:00: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PLAN DE TRABAJO (01/06 a 09/06)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Días de trabajo con DAILYS obligatorias al menos 1: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FBFBFB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1ª DAILY A las 9.30h: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FBFBFB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2ª DAILY o al menos control con verticales: cada día a las 13h.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REUNIONES CON CLIENTE (a lo largo del desafío):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FFFFFF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Día 28/05: lanzamiento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FFFFFF"/>
              </a:buClr>
              <a:buFont typeface="Poppins"/>
              <a:buChar char="●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Resto de días: Los líderes de grupo pueden enviar correos </a:t>
            </a:r>
            <a:br>
              <a:rPr sz="1400"/>
            </a:b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con dudas o solicitar meets.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Día 11/06: Día PRESENTACIÓN como jurado.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319;p34"/>
          <p:cNvSpPr/>
          <p:nvPr/>
        </p:nvSpPr>
        <p:spPr>
          <a:xfrm>
            <a:off x="4971960" y="66600"/>
            <a:ext cx="448200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Plan de trabajo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320;p34"/>
          <p:cNvSpPr/>
          <p:nvPr/>
        </p:nvSpPr>
        <p:spPr>
          <a:xfrm>
            <a:off x="8475480" y="5276160"/>
            <a:ext cx="2868120" cy="799920"/>
          </a:xfrm>
          <a:prstGeom prst="rect">
            <a:avLst/>
          </a:prstGeom>
          <a:noFill/>
          <a:ln w="28575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7F9F8"/>
                </a:solidFill>
                <a:effectLst/>
                <a:uFillTx/>
                <a:latin typeface="Poppins"/>
                <a:ea typeface="Poppins"/>
              </a:rPr>
              <a:t>Presentación DESAFÍO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2" name="Google Shape;321;p34"/>
          <p:cNvPicPr/>
          <p:nvPr/>
        </p:nvPicPr>
        <p:blipFill>
          <a:blip r:embed="rId2"/>
          <a:stretch/>
        </p:blipFill>
        <p:spPr>
          <a:xfrm>
            <a:off x="3951720" y="4938840"/>
            <a:ext cx="4288320" cy="173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Google Shape;322;p34"/>
          <p:cNvSpPr/>
          <p:nvPr/>
        </p:nvSpPr>
        <p:spPr>
          <a:xfrm rot="10800000">
            <a:off x="7428600" y="5491440"/>
            <a:ext cx="1056960" cy="322920"/>
          </a:xfrm>
          <a:prstGeom prst="rightArrow">
            <a:avLst>
              <a:gd name="adj1" fmla="val 50000"/>
              <a:gd name="adj2" fmla="val 247679"/>
            </a:avLst>
          </a:prstGeom>
          <a:solidFill>
            <a:srgbClr val="FFFFFF"/>
          </a:solidFill>
          <a:ln w="28575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80640" bIns="806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323;p34"/>
          <p:cNvSpPr/>
          <p:nvPr/>
        </p:nvSpPr>
        <p:spPr>
          <a:xfrm>
            <a:off x="970920" y="5814360"/>
            <a:ext cx="2868120" cy="799920"/>
          </a:xfrm>
          <a:prstGeom prst="rect">
            <a:avLst/>
          </a:prstGeom>
          <a:noFill/>
          <a:ln w="28575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7F9F8"/>
                </a:solidFill>
                <a:effectLst/>
                <a:uFillTx/>
                <a:latin typeface="Poppins"/>
                <a:ea typeface="Poppins"/>
              </a:rPr>
              <a:t>Presentación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7F9F8"/>
                </a:solidFill>
                <a:effectLst/>
                <a:uFillTx/>
                <a:latin typeface="Poppins"/>
                <a:ea typeface="Poppins"/>
              </a:rPr>
              <a:t>RETO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324;p34"/>
          <p:cNvSpPr/>
          <p:nvPr/>
        </p:nvSpPr>
        <p:spPr>
          <a:xfrm>
            <a:off x="3839400" y="6076800"/>
            <a:ext cx="1056960" cy="322920"/>
          </a:xfrm>
          <a:prstGeom prst="rightArrow">
            <a:avLst>
              <a:gd name="adj1" fmla="val 50000"/>
              <a:gd name="adj2" fmla="val 247679"/>
            </a:avLst>
          </a:prstGeom>
          <a:solidFill>
            <a:srgbClr val="FFFFFF"/>
          </a:solidFill>
          <a:ln w="28575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80640" bIns="806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329;p35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Google Shape;330;p35"/>
          <p:cNvSpPr/>
          <p:nvPr/>
        </p:nvSpPr>
        <p:spPr>
          <a:xfrm>
            <a:off x="544680" y="862920"/>
            <a:ext cx="4737240" cy="51674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331;p35"/>
          <p:cNvSpPr/>
          <p:nvPr/>
        </p:nvSpPr>
        <p:spPr>
          <a:xfrm>
            <a:off x="1017360" y="1380960"/>
            <a:ext cx="4264920" cy="40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Contacto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332;p35"/>
          <p:cNvSpPr/>
          <p:nvPr/>
        </p:nvSpPr>
        <p:spPr>
          <a:xfrm>
            <a:off x="2745360" y="1177920"/>
            <a:ext cx="21639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6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337;p36"/>
          <p:cNvSpPr/>
          <p:nvPr/>
        </p:nvSpPr>
        <p:spPr>
          <a:xfrm>
            <a:off x="3438360" y="5054760"/>
            <a:ext cx="4770720" cy="1687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38;p36"/>
          <p:cNvSpPr/>
          <p:nvPr/>
        </p:nvSpPr>
        <p:spPr>
          <a:xfrm>
            <a:off x="3160440" y="5257080"/>
            <a:ext cx="5326560" cy="14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Alberto Díez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&lt;</a:t>
            </a:r>
            <a:r>
              <a:rPr lang="en-US" sz="2000" b="1" u="sng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  <a:hlinkClick r:id="rId1"/>
              </a:rPr>
              <a:t>alberto.diez@inetum.com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&gt;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Asunto: DESAFÍO DE TRIPULACIONES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39;p36"/>
          <p:cNvSpPr/>
          <p:nvPr/>
        </p:nvSpPr>
        <p:spPr>
          <a:xfrm>
            <a:off x="4659840" y="221040"/>
            <a:ext cx="697032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Contacto Cliente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340;p36"/>
          <p:cNvSpPr/>
          <p:nvPr/>
        </p:nvSpPr>
        <p:spPr>
          <a:xfrm>
            <a:off x="335880" y="914400"/>
            <a:ext cx="112453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2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Podéis contactar, de manera puntual, para resolver dudas (a través del líder de equipo)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341;p36"/>
          <p:cNvSpPr/>
          <p:nvPr/>
        </p:nvSpPr>
        <p:spPr>
          <a:xfrm>
            <a:off x="0" y="0"/>
            <a:ext cx="2459160" cy="577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Google Shape;342;p36" descr="Forma&#10;&#10;Descripción generada automáticamente con confianza media"/>
          <p:cNvPicPr/>
          <p:nvPr/>
        </p:nvPicPr>
        <p:blipFill>
          <a:blip r:embed="rId2"/>
          <a:stretch/>
        </p:blipFill>
        <p:spPr>
          <a:xfrm>
            <a:off x="38160" y="-49320"/>
            <a:ext cx="3244680" cy="77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" name="Google Shape;343;p36">
            <a:hlinkClick r:id="rId3"/>
          </p:cNvPr>
          <p:cNvPicPr/>
          <p:nvPr/>
        </p:nvPicPr>
        <p:blipFill>
          <a:blip r:embed="rId4"/>
          <a:srcRect l="0" t="4725" r="0" b="12314"/>
          <a:stretch/>
        </p:blipFill>
        <p:spPr>
          <a:xfrm>
            <a:off x="3164040" y="29160"/>
            <a:ext cx="1168560" cy="51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Google Shape;344;p36" title="alberto.jpg"/>
          <p:cNvSpPr/>
          <p:nvPr/>
        </p:nvSpPr>
        <p:spPr>
          <a:xfrm>
            <a:off x="4263480" y="1515960"/>
            <a:ext cx="3348360" cy="3348360"/>
          </a:xfrm>
          <a:prstGeom prst="ellipse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349;p37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Google Shape;350;p37"/>
          <p:cNvSpPr/>
          <p:nvPr/>
        </p:nvSpPr>
        <p:spPr>
          <a:xfrm>
            <a:off x="544680" y="862920"/>
            <a:ext cx="4737240" cy="51674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51;p37"/>
          <p:cNvSpPr/>
          <p:nvPr/>
        </p:nvSpPr>
        <p:spPr>
          <a:xfrm>
            <a:off x="1017360" y="1380960"/>
            <a:ext cx="4264920" cy="40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Consejos finales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52;p37"/>
          <p:cNvSpPr/>
          <p:nvPr/>
        </p:nvSpPr>
        <p:spPr>
          <a:xfrm>
            <a:off x="2745360" y="1177920"/>
            <a:ext cx="21639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7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357;p38"/>
          <p:cNvPicPr/>
          <p:nvPr/>
        </p:nvPicPr>
        <p:blipFill>
          <a:blip r:embed="rId1"/>
          <a:stretch/>
        </p:blipFill>
        <p:spPr>
          <a:xfrm>
            <a:off x="0" y="-20520"/>
            <a:ext cx="12191760" cy="376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Google Shape;358;p38"/>
          <p:cNvSpPr/>
          <p:nvPr/>
        </p:nvSpPr>
        <p:spPr>
          <a:xfrm>
            <a:off x="4271400" y="3749040"/>
            <a:ext cx="3648960" cy="286056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59;p38"/>
          <p:cNvSpPr/>
          <p:nvPr/>
        </p:nvSpPr>
        <p:spPr>
          <a:xfrm>
            <a:off x="622080" y="862920"/>
            <a:ext cx="10947600" cy="2029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60;p38"/>
          <p:cNvSpPr/>
          <p:nvPr/>
        </p:nvSpPr>
        <p:spPr>
          <a:xfrm>
            <a:off x="4271400" y="862920"/>
            <a:ext cx="7298280" cy="2029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61;p38"/>
          <p:cNvSpPr/>
          <p:nvPr/>
        </p:nvSpPr>
        <p:spPr>
          <a:xfrm>
            <a:off x="7920720" y="862920"/>
            <a:ext cx="3648960" cy="2029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62;p38"/>
          <p:cNvSpPr/>
          <p:nvPr/>
        </p:nvSpPr>
        <p:spPr>
          <a:xfrm>
            <a:off x="8039880" y="1414800"/>
            <a:ext cx="337356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Usad el principio KISS (Keep It Simple, Stupid!)​ Menos es más, intenta primero que funcione, y luego ya lo harás más complejo.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63;p38"/>
          <p:cNvSpPr/>
          <p:nvPr/>
        </p:nvSpPr>
        <p:spPr>
          <a:xfrm>
            <a:off x="8644680" y="939600"/>
            <a:ext cx="2163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KISS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64;p38"/>
          <p:cNvSpPr/>
          <p:nvPr/>
        </p:nvSpPr>
        <p:spPr>
          <a:xfrm>
            <a:off x="4414320" y="1414800"/>
            <a:ext cx="337356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Debéis coordinaros muy bien, porque un retraso en una entrega afecta a los demás, y por tanto al proyecto entero.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65;p38"/>
          <p:cNvSpPr/>
          <p:nvPr/>
        </p:nvSpPr>
        <p:spPr>
          <a:xfrm>
            <a:off x="4414320" y="939600"/>
            <a:ext cx="3373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DEPENDENCIAS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66;p38"/>
          <p:cNvSpPr/>
          <p:nvPr/>
        </p:nvSpPr>
        <p:spPr>
          <a:xfrm>
            <a:off x="4414320" y="4821840"/>
            <a:ext cx="337356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Cuanto más estés presencialmente (en cuerpo y alma), las cosas suelen ir mejor. Acude puntual a la cita con tus mentores. Recuerda que tienes un cliente real.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67;p38"/>
          <p:cNvSpPr/>
          <p:nvPr/>
        </p:nvSpPr>
        <p:spPr>
          <a:xfrm>
            <a:off x="4306680" y="4285080"/>
            <a:ext cx="35380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PROFESIONALIDAD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68;p38"/>
          <p:cNvSpPr/>
          <p:nvPr/>
        </p:nvSpPr>
        <p:spPr>
          <a:xfrm>
            <a:off x="8039880" y="4821840"/>
            <a:ext cx="337356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Un buen trabajo en el desafío será parte de tu portfolio para demostrar a las empresas tu capacidad de desempeño. Esta es la antesala a tu trabajo.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69;p38"/>
          <p:cNvSpPr/>
          <p:nvPr/>
        </p:nvSpPr>
        <p:spPr>
          <a:xfrm>
            <a:off x="8644680" y="4285080"/>
            <a:ext cx="216396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PORTFOLIO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70;p38"/>
          <p:cNvSpPr/>
          <p:nvPr/>
        </p:nvSpPr>
        <p:spPr>
          <a:xfrm>
            <a:off x="755280" y="1414800"/>
            <a:ext cx="337356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Ahora sois un equipo, tenéis que dejar de pensar “Mi claaase, mi verticaal”. Evitar el individualismo como forma de trabajo.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71;p38"/>
          <p:cNvSpPr/>
          <p:nvPr/>
        </p:nvSpPr>
        <p:spPr>
          <a:xfrm>
            <a:off x="1360080" y="939600"/>
            <a:ext cx="2163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EQUIPO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72;p38"/>
          <p:cNvSpPr/>
          <p:nvPr/>
        </p:nvSpPr>
        <p:spPr>
          <a:xfrm>
            <a:off x="526680" y="4821840"/>
            <a:ext cx="337356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Tan importante es que el trabajo sea bueno técnicamente, como hacer una buena presentación. Recordad que ese día pueden venir empresas. Hay que hacer un poco hype ;)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73;p38"/>
          <p:cNvSpPr/>
          <p:nvPr/>
        </p:nvSpPr>
        <p:spPr>
          <a:xfrm>
            <a:off x="1131480" y="4285080"/>
            <a:ext cx="216396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HYPE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378;p39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379;p39"/>
          <p:cNvSpPr/>
          <p:nvPr/>
        </p:nvSpPr>
        <p:spPr>
          <a:xfrm>
            <a:off x="544680" y="862920"/>
            <a:ext cx="4737240" cy="5167440"/>
          </a:xfrm>
          <a:prstGeom prst="rect">
            <a:avLst/>
          </a:prstGeom>
          <a:solidFill>
            <a:srgbClr val="EF33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80;p39"/>
          <p:cNvSpPr/>
          <p:nvPr/>
        </p:nvSpPr>
        <p:spPr>
          <a:xfrm>
            <a:off x="1017360" y="1380960"/>
            <a:ext cx="4264920" cy="40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Preguntas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81;p39"/>
          <p:cNvSpPr/>
          <p:nvPr/>
        </p:nvSpPr>
        <p:spPr>
          <a:xfrm>
            <a:off x="2745360" y="1177920"/>
            <a:ext cx="21639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000" b="0" u="none" strike="noStrike">
                <a:solidFill>
                  <a:srgbClr val="FBFBFB"/>
                </a:solidFill>
                <a:effectLst/>
                <a:uFillTx/>
                <a:latin typeface="Poppins"/>
                <a:ea typeface="Poppins"/>
              </a:rPr>
              <a:t>8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386;p40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</p:pic>
      <p:sp>
        <p:nvSpPr>
          <p:cNvPr id="274" name="Google Shape;387;p40"/>
          <p:cNvSpPr/>
          <p:nvPr/>
        </p:nvSpPr>
        <p:spPr>
          <a:xfrm>
            <a:off x="622080" y="0"/>
            <a:ext cx="10947600" cy="5994720"/>
          </a:xfrm>
          <a:prstGeom prst="rect">
            <a:avLst/>
          </a:prstGeom>
          <a:solidFill>
            <a:schemeClr val="dk2">
              <a:alpha val="8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88;p40"/>
          <p:cNvSpPr/>
          <p:nvPr/>
        </p:nvSpPr>
        <p:spPr>
          <a:xfrm>
            <a:off x="3087000" y="3654360"/>
            <a:ext cx="60177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A por ello! 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89;p40"/>
          <p:cNvSpPr/>
          <p:nvPr/>
        </p:nvSpPr>
        <p:spPr>
          <a:xfrm>
            <a:off x="4154040" y="3313800"/>
            <a:ext cx="38836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FEFEF"/>
                </a:solidFill>
                <a:effectLst/>
                <a:uFillTx/>
                <a:latin typeface="Poppins"/>
                <a:ea typeface="Poppins"/>
              </a:rPr>
              <a:t>Egurre!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Google Shape;390;p40" descr="Texto&#10;&#10;Descripción generada automáticamente">
            <a:hlinkClick r:id="rId4"/>
          </p:cNvPr>
          <p:cNvPicPr/>
          <p:nvPr/>
        </p:nvPicPr>
        <p:blipFill>
          <a:blip r:embed="rId5"/>
          <a:stretch/>
        </p:blipFill>
        <p:spPr>
          <a:xfrm>
            <a:off x="5185080" y="525636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Google Shape;391;p40" descr="Icono&#10;&#10;Descripción generada automáticamente">
            <a:hlinkClick r:id="rId6"/>
          </p:cNvPr>
          <p:cNvPicPr/>
          <p:nvPr/>
        </p:nvPicPr>
        <p:blipFill>
          <a:blip r:embed="rId7"/>
          <a:stretch/>
        </p:blipFill>
        <p:spPr>
          <a:xfrm>
            <a:off x="5673960" y="525636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Google Shape;392;p40" descr="Icono&#10;&#10;Descripción generada automáticamente con confianza media">
            <a:hlinkClick r:id="rId8"/>
          </p:cNvPr>
          <p:cNvPicPr/>
          <p:nvPr/>
        </p:nvPicPr>
        <p:blipFill>
          <a:blip r:embed="rId9"/>
          <a:stretch/>
        </p:blipFill>
        <p:spPr>
          <a:xfrm>
            <a:off x="6162480" y="525636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0" name="Google Shape;393;p40" descr="Dibujo en blanco y negro&#10;&#10;Descripción generada automáticamente con confianza media">
            <a:hlinkClick r:id="rId10"/>
          </p:cNvPr>
          <p:cNvPicPr/>
          <p:nvPr/>
        </p:nvPicPr>
        <p:blipFill>
          <a:blip r:embed="rId11"/>
          <a:stretch/>
        </p:blipFill>
        <p:spPr>
          <a:xfrm>
            <a:off x="6651360" y="526572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Google Shape;394;p40"/>
          <p:cNvPicPr/>
          <p:nvPr/>
        </p:nvPicPr>
        <p:blipFill>
          <a:blip r:embed="rId12"/>
          <a:stretch/>
        </p:blipFill>
        <p:spPr>
          <a:xfrm>
            <a:off x="2747880" y="1601640"/>
            <a:ext cx="6595920" cy="158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Google Shape;395;p40"/>
          <p:cNvPicPr/>
          <p:nvPr/>
        </p:nvPicPr>
        <p:blipFill>
          <a:blip r:embed="rId13"/>
          <a:stretch/>
        </p:blipFill>
        <p:spPr>
          <a:xfrm>
            <a:off x="4893840" y="464040"/>
            <a:ext cx="2404080" cy="14097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ersonalizados 15">
      <a:dk1>
        <a:srgbClr val="000000"/>
      </a:dk1>
      <a:lt1>
        <a:srgbClr val="FFFFFF"/>
      </a:lt1>
      <a:dk2>
        <a:srgbClr val="EF3340"/>
      </a:dk2>
      <a:lt2>
        <a:srgbClr val="E7E6E6"/>
      </a:lt2>
      <a:accent1>
        <a:srgbClr val="E8959C"/>
      </a:accent1>
      <a:accent2>
        <a:srgbClr val="641C22"/>
      </a:accent2>
      <a:accent3>
        <a:srgbClr val="7F7F7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cp:revision>0</cp:revision>
  <dc:subject/>
  <dc:title/>
</cp:coreProperties>
</file>
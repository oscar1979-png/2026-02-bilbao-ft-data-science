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3.xml" ContentType="application/vnd.openxmlformats-officedocument.theme+xml"/>
  <Override PartName="/ppt/theme/theme1.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11.xml" ContentType="application/vnd.openxmlformats-officedocument.presentationml.comment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Authors.xml" ContentType="application/vnd.openxmlformats-officedocument.presentationml.commentAuthor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presentation>
</file>

<file path=ppt/commentAuthors.xml><?xml version="1.0" encoding="utf-8"?>
<p:cmAuthorLst xmlns:p="http://schemas.openxmlformats.org/presentationml/2006/main">
  <p:cmAuthor id="0" name="" initials="" lastIdx="4" clrIdx="0"/>
</p:cmAuthorLst>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Relationship Id="rId17" Type="http://schemas.openxmlformats.org/officeDocument/2006/relationships/commentAuthors" Target="commentAuthors.xml"/>
</Relationships>
</file>

<file path=ppt/comments/comment2.xml><?xml version="1.0" encoding="utf-8"?>
<p:cmLst xmlns:p="http://schemas.openxmlformats.org/presentationml/2006/main">
  <p:cm authorId="0" dt="2026-05-04T12:37:15.000000000" idx="1">
    <p:pos x="0" y="0"/>
    <p:text>Las nuevas rectas conservan el maximo de la varianza de los puntos.
La intersección es ortogonal siempre.</p:text>
  </p:cm>
</p:cmLst>
</file>

<file path=ppt/comments/comment3.xml><?xml version="1.0" encoding="utf-8"?>
<p:cmLst xmlns:p="http://schemas.openxmlformats.org/presentationml/2006/main">
  <p:cm authorId="0" dt="2026-05-04T12:42:19.000000000" idx="2">
    <p:pos x="0" y="0"/>
    <p:text>Saca dos dimensiones de unas cuantas features.</p:text>
  </p:cm>
</p:cmLst>
</file>

<file path=ppt/comments/comment4.xml><?xml version="1.0" encoding="utf-8"?>
<p:cmLst xmlns:p="http://schemas.openxmlformats.org/presentationml/2006/main">
  <p:cm authorId="0" dt="2026-05-04T12:45:48.000000000" idx="3">
    <p:pos x="0" y="0"/>
    <p:text>Quita eje x2 y se queda con uno solo, el z1. Aplasta la info al eje z1.
En C1, mayor variabilidad, más que en C2.</p:text>
  </p:cm>
</p:cmLst>
</file>

<file path=ppt/comments/comment11.xml><?xml version="1.0" encoding="utf-8"?>
<p:cmLst xmlns:p="http://schemas.openxmlformats.org/presentationml/2006/main">
  <p:cm authorId="0" dt="2026-05-04T12:53:50.000000000" idx="4">
    <p:pos x="0" y="0"/>
    <p:text>Componente principal: feature</p:text>
  </p:cm>
</p:cmLst>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defTabSz="914400">
              <a:lnSpc>
                <a:spcPct val="90000"/>
              </a:lnSpc>
            </a:pPr>
            <a:r>
              <a:rPr lang="es-ES" sz="4400" b="0" u="none" strike="noStrike">
                <a:solidFill>
                  <a:schemeClr val="dk1"/>
                </a:solidFill>
                <a:effectLst/>
                <a:uFillTx/>
                <a:latin typeface="Arial"/>
              </a:rPr>
              <a:t>Pulse para desplazar la diapositiva</a:t>
            </a:r>
            <a:endParaRPr lang="es-ES" sz="4400" b="0" u="none" strike="noStrike">
              <a:solidFill>
                <a:schemeClr val="dk1"/>
              </a:solidFill>
              <a:effectLst/>
              <a:uFillTx/>
              <a:latin typeface="Arial"/>
            </a:endParaRPr>
          </a:p>
        </p:txBody>
      </p:sp>
      <p:sp>
        <p:nvSpPr>
          <p:cNvPr id="3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s-ES" sz="2000" b="0" u="none" strike="noStrike">
                <a:solidFill>
                  <a:srgbClr val="000000"/>
                </a:solidFill>
                <a:effectLst/>
                <a:uFillTx/>
                <a:latin typeface="Arial"/>
              </a:rPr>
              <a:t>Pulse para editar el formato de las notas</a:t>
            </a:r>
            <a:endParaRPr lang="es-ES" sz="2000" b="0" u="none" strike="noStrike">
              <a:solidFill>
                <a:srgbClr val="000000"/>
              </a:solidFill>
              <a:effectLst/>
              <a:uFillTx/>
              <a:latin typeface="Arial"/>
            </a:endParaRPr>
          </a:p>
        </p:txBody>
      </p:sp>
      <p:sp>
        <p:nvSpPr>
          <p:cNvPr id="38"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s-ES" sz="1400" b="0" u="none" strike="noStrike">
                <a:solidFill>
                  <a:srgbClr val="000000"/>
                </a:solidFill>
                <a:effectLst/>
                <a:uFillTx/>
                <a:latin typeface="Times New Roman"/>
              </a:rPr>
              <a:t>&lt;cabecera&gt;</a:t>
            </a:r>
            <a:endParaRPr lang="es-ES" sz="1400" b="0" u="none" strike="noStrike">
              <a:solidFill>
                <a:srgbClr val="000000"/>
              </a:solidFill>
              <a:effectLst/>
              <a:uFillTx/>
              <a:latin typeface="Times New Roman"/>
            </a:endParaRPr>
          </a:p>
        </p:txBody>
      </p:sp>
      <p:sp>
        <p:nvSpPr>
          <p:cNvPr id="39"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40"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s-ES" sz="1400" b="0" u="none" strike="noStrike">
                <a:solidFill>
                  <a:srgbClr val="000000"/>
                </a:solidFill>
                <a:effectLst/>
                <a:uFillTx/>
                <a:latin typeface="Times New Roman"/>
              </a:defRPr>
            </a:lvl1pPr>
          </a:lstStyle>
          <a:p>
            <a:pPr indent="0" algn="l">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1"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000B2D57-8264-43C3-BBB9-1EBD5AF8D521}" type="slidenum">
              <a:rPr lang="es-ES"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685800" y="1143000"/>
            <a:ext cx="5486040" cy="3085920"/>
          </a:xfrm>
          <a:prstGeom prst="rect">
            <a:avLst/>
          </a:prstGeom>
          <a:ln w="0">
            <a:noFill/>
          </a:ln>
        </p:spPr>
      </p:sp>
      <p:sp>
        <p:nvSpPr>
          <p:cNvPr id="91"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92"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51A5D67F-3FAB-4CED-8934-F6988387B053}" type="slidenum">
              <a:rPr lang="es-ES" sz="1200" b="0" u="none" strike="noStrike">
                <a:solidFill>
                  <a:srgbClr val="000000"/>
                </a:solidFill>
                <a:effectLst/>
                <a:uFillTx/>
                <a:latin typeface="Times New Roman"/>
                <a:ea typeface="+mn-ea"/>
              </a:rPr>
              <a:t>12</a:t>
            </a:fld>
            <a:endParaRPr lang="es-ES" sz="12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sldImg"/>
          </p:nvPr>
        </p:nvSpPr>
        <p:spPr>
          <a:xfrm>
            <a:off x="685800" y="1143000"/>
            <a:ext cx="5486040" cy="3085920"/>
          </a:xfrm>
          <a:prstGeom prst="rect">
            <a:avLst/>
          </a:prstGeom>
          <a:ln w="0">
            <a:noFill/>
          </a:ln>
        </p:spPr>
      </p:sp>
      <p:sp>
        <p:nvSpPr>
          <p:cNvPr id="94"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95"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52A99432-4976-4E47-BA23-AFADC323A74C}" type="slidenum">
              <a:rPr lang="es-ES" sz="1200" b="0" u="none" strike="noStrike">
                <a:solidFill>
                  <a:srgbClr val="000000"/>
                </a:solidFill>
                <a:effectLst/>
                <a:uFillTx/>
                <a:latin typeface="Times New Roman"/>
                <a:ea typeface="+mn-ea"/>
              </a:rPr>
              <a:t>12</a:t>
            </a:fld>
            <a:endParaRPr lang="es-ES" sz="12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685800" y="1143000"/>
            <a:ext cx="5486040" cy="3085920"/>
          </a:xfrm>
          <a:prstGeom prst="rect">
            <a:avLst/>
          </a:prstGeom>
          <a:ln w="0">
            <a:noFill/>
          </a:ln>
        </p:spPr>
      </p:sp>
      <p:sp>
        <p:nvSpPr>
          <p:cNvPr id="97"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98"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859EB602-AB0E-4852-B4EE-6A93E2BC7199}" type="slidenum">
              <a:rPr lang="es-ES" sz="1200" b="0" u="none" strike="noStrike">
                <a:solidFill>
                  <a:srgbClr val="000000"/>
                </a:solidFill>
                <a:effectLst/>
                <a:uFillTx/>
                <a:latin typeface="Times New Roman"/>
                <a:ea typeface="+mn-ea"/>
              </a:rPr>
              <a:t>12</a:t>
            </a:fld>
            <a:endParaRPr lang="es-ES" sz="12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685800" y="1143000"/>
            <a:ext cx="5486040" cy="3085920"/>
          </a:xfrm>
          <a:prstGeom prst="rect">
            <a:avLst/>
          </a:prstGeom>
          <a:ln w="0">
            <a:noFill/>
          </a:ln>
        </p:spPr>
      </p:sp>
      <p:sp>
        <p:nvSpPr>
          <p:cNvPr id="100"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01"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E5AEECC1-3E17-4B9F-9915-0DC42A33CF6D}" type="slidenum">
              <a:rPr lang="es-ES" sz="1200" b="0" u="none" strike="noStrike">
                <a:solidFill>
                  <a:srgbClr val="000000"/>
                </a:solidFill>
                <a:effectLst/>
                <a:uFillTx/>
                <a:latin typeface="Times New Roman"/>
                <a:ea typeface="+mn-ea"/>
              </a:rPr>
              <a:t>12</a:t>
            </a:fld>
            <a:endParaRPr lang="es-ES" sz="12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sldImg"/>
          </p:nvPr>
        </p:nvSpPr>
        <p:spPr>
          <a:xfrm>
            <a:off x="685800" y="1143000"/>
            <a:ext cx="5486040" cy="3085920"/>
          </a:xfrm>
          <a:prstGeom prst="rect">
            <a:avLst/>
          </a:prstGeom>
          <a:ln w="0">
            <a:noFill/>
          </a:ln>
        </p:spPr>
      </p:sp>
      <p:sp>
        <p:nvSpPr>
          <p:cNvPr id="103"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04"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3CF05C30-C5D0-4F4C-863A-F5482D9DEC70}" type="slidenum">
              <a:rPr lang="es-ES" sz="1200" b="0" u="none" strike="noStrike">
                <a:solidFill>
                  <a:srgbClr val="000000"/>
                </a:solidFill>
                <a:effectLst/>
                <a:uFillTx/>
                <a:latin typeface="Times New Roman"/>
                <a:ea typeface="+mn-ea"/>
              </a:rPr>
              <a:t>12</a:t>
            </a:fld>
            <a:endParaRPr lang="es-ES" sz="12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sldImg"/>
          </p:nvPr>
        </p:nvSpPr>
        <p:spPr>
          <a:xfrm>
            <a:off x="685800" y="1143000"/>
            <a:ext cx="5486040" cy="3085920"/>
          </a:xfrm>
          <a:prstGeom prst="rect">
            <a:avLst/>
          </a:prstGeom>
          <a:ln w="0">
            <a:noFill/>
          </a:ln>
        </p:spPr>
      </p:sp>
      <p:sp>
        <p:nvSpPr>
          <p:cNvPr id="106"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07"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FB4F5CDA-5A01-468A-A61C-4AB259A4E323}" type="slidenum">
              <a:rPr lang="es-ES" sz="1200" b="0" u="none" strike="noStrike">
                <a:solidFill>
                  <a:srgbClr val="000000"/>
                </a:solidFill>
                <a:effectLst/>
                <a:uFillTx/>
                <a:latin typeface="Times New Roman"/>
                <a:ea typeface="+mn-ea"/>
              </a:rPr>
              <a:t>12</a:t>
            </a:fld>
            <a:endParaRPr lang="es-ES" sz="12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685800" y="1143000"/>
            <a:ext cx="5486040" cy="3085920"/>
          </a:xfrm>
          <a:prstGeom prst="rect">
            <a:avLst/>
          </a:prstGeom>
          <a:ln w="0">
            <a:noFill/>
          </a:ln>
        </p:spPr>
      </p:sp>
      <p:sp>
        <p:nvSpPr>
          <p:cNvPr id="109"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10"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E0A808D7-E0BA-40B4-8659-6940D733A65C}"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685800" y="1143000"/>
            <a:ext cx="5486040" cy="3085920"/>
          </a:xfrm>
          <a:prstGeom prst="rect">
            <a:avLst/>
          </a:prstGeom>
          <a:ln w="0">
            <a:noFill/>
          </a:ln>
        </p:spPr>
      </p:sp>
      <p:sp>
        <p:nvSpPr>
          <p:cNvPr id="112"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13"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6BCB1698-0726-428A-A8E8-FDED6DAEDF9A}"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Img"/>
          </p:nvPr>
        </p:nvSpPr>
        <p:spPr>
          <a:xfrm>
            <a:off x="685800" y="1143000"/>
            <a:ext cx="5486040" cy="3085920"/>
          </a:xfrm>
          <a:prstGeom prst="rect">
            <a:avLst/>
          </a:prstGeom>
          <a:ln w="0">
            <a:noFill/>
          </a:ln>
        </p:spPr>
      </p:sp>
      <p:sp>
        <p:nvSpPr>
          <p:cNvPr id="115"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16"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D6CCD0C2-E251-4FDA-AB86-A28CA4460208}"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685800" y="1143000"/>
            <a:ext cx="5486040" cy="3085920"/>
          </a:xfrm>
          <a:prstGeom prst="rect">
            <a:avLst/>
          </a:prstGeom>
          <a:ln w="0">
            <a:noFill/>
          </a:ln>
        </p:spPr>
      </p:sp>
      <p:sp>
        <p:nvSpPr>
          <p:cNvPr id="118"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19"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5B7D7BB9-19C0-4BD9-B794-6CB57A872AAE}"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685800" y="1143000"/>
            <a:ext cx="5486040" cy="3085920"/>
          </a:xfrm>
          <a:prstGeom prst="rect">
            <a:avLst/>
          </a:prstGeom>
          <a:ln w="0">
            <a:noFill/>
          </a:ln>
        </p:spPr>
      </p:sp>
      <p:sp>
        <p:nvSpPr>
          <p:cNvPr id="121"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22"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F0D9553E-93A7-41DF-BD49-E6EE6760B997}"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685800" y="1143000"/>
            <a:ext cx="5486040" cy="3085920"/>
          </a:xfrm>
          <a:prstGeom prst="rect">
            <a:avLst/>
          </a:prstGeom>
          <a:ln w="0">
            <a:noFill/>
          </a:ln>
        </p:spPr>
      </p:sp>
      <p:sp>
        <p:nvSpPr>
          <p:cNvPr id="124"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25"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094883B3-803E-404F-9DDC-8A44136D6B7C}"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bg>
      <p:bgPr>
        <a:solidFill>
          <a:srgbClr val="000000"/>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bg>
      <p:bgPr>
        <a:solidFill>
          <a:srgbClr val="000000"/>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3" name="PlaceHolder 2"/>
          <p:cNvSpPr>
            <a:spLocks noGrp="1"/>
          </p:cNvSpPr>
          <p:nvPr>
            <p:ph type="body"/>
          </p:nvPr>
        </p:nvSpPr>
        <p:spPr>
          <a:xfrm>
            <a:off x="838080" y="1825560"/>
            <a:ext cx="252756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4" name="PlaceHolder 3"/>
          <p:cNvSpPr>
            <a:spLocks noGrp="1"/>
          </p:cNvSpPr>
          <p:nvPr>
            <p:ph type="body"/>
          </p:nvPr>
        </p:nvSpPr>
        <p:spPr>
          <a:xfrm>
            <a:off x="838080" y="4098240"/>
            <a:ext cx="252756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bg>
      <p:bgPr>
        <a:solidFill>
          <a:srgbClr val="000000"/>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6" name="PlaceHolder 2"/>
          <p:cNvSpPr>
            <a:spLocks noGrp="1"/>
          </p:cNvSpPr>
          <p:nvPr>
            <p:ph type="body"/>
          </p:nvPr>
        </p:nvSpPr>
        <p:spPr>
          <a:xfrm>
            <a:off x="838080" y="182556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7" name="PlaceHolder 3"/>
          <p:cNvSpPr>
            <a:spLocks noGrp="1"/>
          </p:cNvSpPr>
          <p:nvPr>
            <p:ph type="body"/>
          </p:nvPr>
        </p:nvSpPr>
        <p:spPr>
          <a:xfrm>
            <a:off x="2133360" y="182556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8" name="PlaceHolder 4"/>
          <p:cNvSpPr>
            <a:spLocks noGrp="1"/>
          </p:cNvSpPr>
          <p:nvPr>
            <p:ph type="body"/>
          </p:nvPr>
        </p:nvSpPr>
        <p:spPr>
          <a:xfrm>
            <a:off x="838080" y="409824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9" name="PlaceHolder 5"/>
          <p:cNvSpPr>
            <a:spLocks noGrp="1"/>
          </p:cNvSpPr>
          <p:nvPr>
            <p:ph type="body"/>
          </p:nvPr>
        </p:nvSpPr>
        <p:spPr>
          <a:xfrm>
            <a:off x="2133360" y="409824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bg>
      <p:bgPr>
        <a:solidFill>
          <a:srgbClr val="000000"/>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11" name="PlaceHolder 2"/>
          <p:cNvSpPr>
            <a:spLocks noGrp="1"/>
          </p:cNvSpPr>
          <p:nvPr>
            <p:ph type="body"/>
          </p:nvPr>
        </p:nvSpPr>
        <p:spPr>
          <a:xfrm>
            <a:off x="838080" y="1825560"/>
            <a:ext cx="81324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12" name="PlaceHolder 3"/>
          <p:cNvSpPr>
            <a:spLocks noGrp="1"/>
          </p:cNvSpPr>
          <p:nvPr>
            <p:ph type="body"/>
          </p:nvPr>
        </p:nvSpPr>
        <p:spPr>
          <a:xfrm>
            <a:off x="1692720" y="1825560"/>
            <a:ext cx="81324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13" name="PlaceHolder 4"/>
          <p:cNvSpPr>
            <a:spLocks noGrp="1"/>
          </p:cNvSpPr>
          <p:nvPr>
            <p:ph type="body"/>
          </p:nvPr>
        </p:nvSpPr>
        <p:spPr>
          <a:xfrm>
            <a:off x="2547360" y="1825560"/>
            <a:ext cx="81324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14" name="PlaceHolder 5"/>
          <p:cNvSpPr>
            <a:spLocks noGrp="1"/>
          </p:cNvSpPr>
          <p:nvPr>
            <p:ph type="body"/>
          </p:nvPr>
        </p:nvSpPr>
        <p:spPr>
          <a:xfrm>
            <a:off x="838080" y="4098240"/>
            <a:ext cx="81324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15" name="PlaceHolder 6"/>
          <p:cNvSpPr>
            <a:spLocks noGrp="1"/>
          </p:cNvSpPr>
          <p:nvPr>
            <p:ph type="body"/>
          </p:nvPr>
        </p:nvSpPr>
        <p:spPr>
          <a:xfrm>
            <a:off x="1692720" y="4098240"/>
            <a:ext cx="81324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16" name="PlaceHolder 7"/>
          <p:cNvSpPr>
            <a:spLocks noGrp="1"/>
          </p:cNvSpPr>
          <p:nvPr>
            <p:ph type="body"/>
          </p:nvPr>
        </p:nvSpPr>
        <p:spPr>
          <a:xfrm>
            <a:off x="2547360" y="4098240"/>
            <a:ext cx="81324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bg>
      <p:bgPr>
        <a:solidFill>
          <a:srgbClr val="000000"/>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bg>
      <p:bgPr>
        <a:solidFill>
          <a:srgbClr val="000000"/>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19" name="PlaceHolder 2"/>
          <p:cNvSpPr>
            <a:spLocks noGrp="1"/>
          </p:cNvSpPr>
          <p:nvPr>
            <p:ph type="body"/>
          </p:nvPr>
        </p:nvSpPr>
        <p:spPr>
          <a:xfrm>
            <a:off x="838080" y="1825560"/>
            <a:ext cx="2527560" cy="435024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bg>
      <p:bgPr>
        <a:solidFill>
          <a:srgbClr val="000000"/>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21" name="PlaceHolder 2"/>
          <p:cNvSpPr>
            <a:spLocks noGrp="1"/>
          </p:cNvSpPr>
          <p:nvPr>
            <p:ph type="body"/>
          </p:nvPr>
        </p:nvSpPr>
        <p:spPr>
          <a:xfrm>
            <a:off x="838080" y="1825560"/>
            <a:ext cx="1233000" cy="435024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22" name="PlaceHolder 3"/>
          <p:cNvSpPr>
            <a:spLocks noGrp="1"/>
          </p:cNvSpPr>
          <p:nvPr>
            <p:ph type="body"/>
          </p:nvPr>
        </p:nvSpPr>
        <p:spPr>
          <a:xfrm>
            <a:off x="2133360" y="1825560"/>
            <a:ext cx="1233000" cy="435024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000000"/>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bg>
      <p:bgPr>
        <a:solidFill>
          <a:srgbClr val="000000"/>
        </a:solidFill>
      </p:bgPr>
    </p:bg>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bg>
      <p:bgPr>
        <a:solidFill>
          <a:srgbClr val="000000"/>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25" name="PlaceHolder 2"/>
          <p:cNvSpPr>
            <a:spLocks noGrp="1"/>
          </p:cNvSpPr>
          <p:nvPr>
            <p:ph type="body"/>
          </p:nvPr>
        </p:nvSpPr>
        <p:spPr>
          <a:xfrm>
            <a:off x="838080" y="182556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26" name="PlaceHolder 3"/>
          <p:cNvSpPr>
            <a:spLocks noGrp="1"/>
          </p:cNvSpPr>
          <p:nvPr>
            <p:ph type="body"/>
          </p:nvPr>
        </p:nvSpPr>
        <p:spPr>
          <a:xfrm>
            <a:off x="2133360" y="1825560"/>
            <a:ext cx="1233000" cy="435024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27" name="PlaceHolder 4"/>
          <p:cNvSpPr>
            <a:spLocks noGrp="1"/>
          </p:cNvSpPr>
          <p:nvPr>
            <p:ph type="body"/>
          </p:nvPr>
        </p:nvSpPr>
        <p:spPr>
          <a:xfrm>
            <a:off x="838080" y="409824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bg>
      <p:bgPr>
        <a:solidFill>
          <a:srgbClr val="000000"/>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29" name="PlaceHolder 2"/>
          <p:cNvSpPr>
            <a:spLocks noGrp="1"/>
          </p:cNvSpPr>
          <p:nvPr>
            <p:ph type="body"/>
          </p:nvPr>
        </p:nvSpPr>
        <p:spPr>
          <a:xfrm>
            <a:off x="838080" y="1825560"/>
            <a:ext cx="1233000" cy="435024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30" name="PlaceHolder 3"/>
          <p:cNvSpPr>
            <a:spLocks noGrp="1"/>
          </p:cNvSpPr>
          <p:nvPr>
            <p:ph type="body"/>
          </p:nvPr>
        </p:nvSpPr>
        <p:spPr>
          <a:xfrm>
            <a:off x="2133360" y="182556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31" name="PlaceHolder 4"/>
          <p:cNvSpPr>
            <a:spLocks noGrp="1"/>
          </p:cNvSpPr>
          <p:nvPr>
            <p:ph type="body"/>
          </p:nvPr>
        </p:nvSpPr>
        <p:spPr>
          <a:xfrm>
            <a:off x="2133360" y="409824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bg>
      <p:bgPr>
        <a:solidFill>
          <a:srgbClr val="000000"/>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33" name="PlaceHolder 2"/>
          <p:cNvSpPr>
            <a:spLocks noGrp="1"/>
          </p:cNvSpPr>
          <p:nvPr>
            <p:ph type="body"/>
          </p:nvPr>
        </p:nvSpPr>
        <p:spPr>
          <a:xfrm>
            <a:off x="838080" y="182556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34" name="PlaceHolder 3"/>
          <p:cNvSpPr>
            <a:spLocks noGrp="1"/>
          </p:cNvSpPr>
          <p:nvPr>
            <p:ph type="body"/>
          </p:nvPr>
        </p:nvSpPr>
        <p:spPr>
          <a:xfrm>
            <a:off x="2133360" y="182556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35" name="PlaceHolder 4"/>
          <p:cNvSpPr>
            <a:spLocks noGrp="1"/>
          </p:cNvSpPr>
          <p:nvPr>
            <p:ph type="body"/>
          </p:nvPr>
        </p:nvSpPr>
        <p:spPr>
          <a:xfrm>
            <a:off x="838080" y="4098240"/>
            <a:ext cx="252756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Relationship Id="rId3" Type="http://schemas.openxmlformats.org/officeDocument/2006/relationships/comments" Target="../comments/comment2.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comments" Target="../comments/comment3.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 Id="rId3" Type="http://schemas.openxmlformats.org/officeDocument/2006/relationships/comments" Target="../comments/comment4.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7.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hyperlink" Target="https://fisicaymates.com/autovalores-y-autovectores-de-una-matriz/" TargetMode="External"/><Relationship Id="rId3" Type="http://schemas.openxmlformats.org/officeDocument/2006/relationships/hyperlink" Target="https://fisicaymates.com/autovalores-y-autovectores-de-una-matriz/" TargetMode="External"/><Relationship Id="rId4" Type="http://schemas.openxmlformats.org/officeDocument/2006/relationships/image" Target="../media/image6.png"/><Relationship Id="rId5" Type="http://schemas.openxmlformats.org/officeDocument/2006/relationships/slideLayout" Target="../slideLayouts/slideLayout7.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slideLayout" Target="../slideLayouts/slideLayout7.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hyperlink" Target="https://setosa.io/ev/principal-component-analysis/" TargetMode="External"/><Relationship Id="rId2" Type="http://schemas.openxmlformats.org/officeDocument/2006/relationships/slideLayout" Target="../slideLayouts/slideLayout7.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png"/><Relationship Id="rId3" Type="http://schemas.openxmlformats.org/officeDocument/2006/relationships/slideLayout" Target="../slideLayouts/slideLayout7.xml"/><Relationship Id="rId4" Type="http://schemas.openxmlformats.org/officeDocument/2006/relationships/comments" Target="../comments/comment1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hyperlink" Target="https://learning.oreilly.com/library/view/hands-on-machine-learning/9781492032632/ch08.html#idm45022161212088" TargetMode="External"/><Relationship Id="rId2" Type="http://schemas.openxmlformats.org/officeDocument/2006/relationships/hyperlink" Target="https://medium.com/@kyasar.mail/pca-principal-component-analysis-729068e28ec8" TargetMode="External"/><Relationship Id="rId3" Type="http://schemas.openxmlformats.org/officeDocument/2006/relationships/hyperlink" Target="https://setosa.io/ev/principal-component-analysis/" TargetMode="External"/><Relationship Id="rId4" Type="http://schemas.openxmlformats.org/officeDocument/2006/relationships/slideLayout" Target="../slideLayouts/slideLayout7.xml"/><Relationship Id="rId5"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CustomShape 1"/>
          <p:cNvSpPr/>
          <p:nvPr/>
        </p:nvSpPr>
        <p:spPr>
          <a:xfrm>
            <a:off x="2026080" y="1991520"/>
            <a:ext cx="8139240" cy="2629080"/>
          </a:xfrm>
          <a:prstGeom prst="rect">
            <a:avLst/>
          </a:prstGeom>
          <a:noFill/>
          <a:ln w="0">
            <a:noFill/>
          </a:ln>
        </p:spPr>
        <p:style>
          <a:lnRef idx="0"/>
          <a:fillRef idx="0"/>
          <a:effectRef idx="0"/>
          <a:fontRef idx="minor"/>
        </p:style>
        <p:txBody>
          <a:bodyPr lIns="90000" tIns="45000" rIns="90000" bIns="45000" anchor="ctr">
            <a:normAutofit/>
          </a:bodyPr>
          <a:p>
            <a:pPr algn="ctr" defTabSz="914400">
              <a:lnSpc>
                <a:spcPct val="90000"/>
              </a:lnSpc>
            </a:pPr>
            <a:r>
              <a:rPr lang="es-ES" sz="6000" b="1" u="none" strike="noStrike">
                <a:solidFill>
                  <a:schemeClr val="lt1"/>
                </a:solidFill>
                <a:effectLst/>
                <a:uFillTx/>
                <a:latin typeface="Calibri Light"/>
                <a:ea typeface="DejaVu Sans"/>
              </a:rPr>
              <a:t>Machine Learning  </a:t>
            </a:r>
            <a:br>
              <a:rPr sz="2800"/>
            </a:br>
            <a:r>
              <a:rPr lang="es-ES" sz="6000" b="1" u="none" strike="noStrike">
                <a:solidFill>
                  <a:srgbClr val="FF0000"/>
                </a:solidFill>
                <a:effectLst/>
                <a:uFillTx/>
                <a:latin typeface="Calibri Light"/>
                <a:ea typeface="DejaVu Sans"/>
              </a:rPr>
              <a:t>PCA</a:t>
            </a:r>
            <a:endParaRPr lang="es-ES" sz="6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3" name="CustomShape 1"/>
          <p:cNvSpPr/>
          <p:nvPr/>
        </p:nvSpPr>
        <p:spPr>
          <a:xfrm>
            <a:off x="649080" y="629280"/>
            <a:ext cx="4943160" cy="162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90000"/>
              </a:lnSpc>
            </a:pPr>
            <a:r>
              <a:rPr lang="en-US" sz="4400" b="0" u="none" strike="noStrike">
                <a:solidFill>
                  <a:srgbClr val="FF0000"/>
                </a:solidFill>
                <a:effectLst/>
                <a:uFillTx/>
                <a:latin typeface="Calibri Light"/>
                <a:ea typeface="DejaVu Sans"/>
              </a:rPr>
              <a:t>¿Qué es el PCA?</a:t>
            </a:r>
            <a:endParaRPr lang="es-ES" sz="4400" b="0" u="none" strike="noStrike">
              <a:solidFill>
                <a:srgbClr val="FFFFFF"/>
              </a:solidFill>
              <a:effectLst/>
              <a:uFillTx/>
              <a:latin typeface="Arial"/>
            </a:endParaRPr>
          </a:p>
        </p:txBody>
      </p:sp>
      <p:sp>
        <p:nvSpPr>
          <p:cNvPr id="44" name="CustomShape 2"/>
          <p:cNvSpPr/>
          <p:nvPr/>
        </p:nvSpPr>
        <p:spPr>
          <a:xfrm>
            <a:off x="649080" y="1971000"/>
            <a:ext cx="4943160" cy="4588200"/>
          </a:xfrm>
          <a:prstGeom prst="rect">
            <a:avLst/>
          </a:prstGeom>
          <a:noFill/>
          <a:ln w="0">
            <a:noFill/>
          </a:ln>
        </p:spPr>
        <p:style>
          <a:lnRef idx="0"/>
          <a:fillRef idx="0"/>
          <a:effectRef idx="0"/>
          <a:fontRef idx="minor"/>
        </p:style>
        <p:txBody>
          <a:bodyPr lIns="90000" tIns="45000" rIns="90000" bIns="45000" anchor="t">
            <a:normAutofit/>
          </a:bodyPr>
          <a:p>
            <a:pPr marL="228600" indent="-227880" defTabSz="914400">
              <a:lnSpc>
                <a:spcPct val="90000"/>
              </a:lnSpc>
              <a:spcBef>
                <a:spcPts val="1001"/>
              </a:spcBef>
              <a:buClr>
                <a:srgbClr val="FFFFFF"/>
              </a:buClr>
              <a:buFont typeface="Arial"/>
              <a:buChar char="•"/>
            </a:pPr>
            <a:r>
              <a:rPr lang="es-ES" sz="1700" b="0" u="none" strike="noStrike">
                <a:solidFill>
                  <a:schemeClr val="lt1"/>
                </a:solidFill>
                <a:effectLst/>
                <a:uFillTx/>
                <a:latin typeface="Calibri"/>
                <a:ea typeface="DejaVu Sans"/>
              </a:rPr>
              <a:t>Principal Component Analysis (PCA)</a:t>
            </a:r>
            <a:endParaRPr lang="es-ES" sz="1700" b="0" u="none" strike="noStrike">
              <a:solidFill>
                <a:srgbClr val="FFFFFF"/>
              </a:solidFill>
              <a:effectLst/>
              <a:uFillTx/>
              <a:latin typeface="Arial"/>
            </a:endParaRPr>
          </a:p>
          <a:p>
            <a:pPr marL="720" defTabSz="914400">
              <a:lnSpc>
                <a:spcPct val="90000"/>
              </a:lnSpc>
              <a:spcBef>
                <a:spcPts val="1001"/>
              </a:spcBef>
            </a:pPr>
            <a:endParaRPr lang="es-ES" sz="1700" b="0" u="none" strike="noStrike">
              <a:solidFill>
                <a:srgbClr val="FFFFFF"/>
              </a:solidFill>
              <a:effectLst/>
              <a:uFillTx/>
              <a:latin typeface="Arial"/>
            </a:endParaRPr>
          </a:p>
          <a:p>
            <a:pPr marL="228600" indent="-227880" defTabSz="914400">
              <a:lnSpc>
                <a:spcPct val="90000"/>
              </a:lnSpc>
              <a:spcBef>
                <a:spcPts val="1001"/>
              </a:spcBef>
              <a:buClr>
                <a:srgbClr val="FFFFFF"/>
              </a:buClr>
              <a:buFont typeface="Arial"/>
              <a:buChar char="•"/>
            </a:pPr>
            <a:r>
              <a:rPr lang="es-ES" sz="1700" b="0" u="none" strike="noStrike">
                <a:solidFill>
                  <a:schemeClr val="lt1"/>
                </a:solidFill>
                <a:effectLst/>
                <a:uFillTx/>
                <a:latin typeface="Calibri"/>
                <a:ea typeface="DejaVu Sans"/>
              </a:rPr>
              <a:t>Método estadístico que permite simplificar la complejidad de espacios muestrales con muchas dimensiones a la vez que conserva su información. </a:t>
            </a:r>
            <a:endParaRPr lang="es-ES" sz="1700" b="0" u="none" strike="noStrike">
              <a:solidFill>
                <a:srgbClr val="FFFFFF"/>
              </a:solidFill>
              <a:effectLst/>
              <a:uFillTx/>
              <a:latin typeface="Arial"/>
            </a:endParaRPr>
          </a:p>
          <a:p>
            <a:pPr marL="720" defTabSz="914400">
              <a:lnSpc>
                <a:spcPct val="90000"/>
              </a:lnSpc>
              <a:spcBef>
                <a:spcPts val="1001"/>
              </a:spcBef>
            </a:pPr>
            <a:endParaRPr lang="es-ES" sz="1700" b="0" u="none" strike="noStrike">
              <a:solidFill>
                <a:srgbClr val="FFFFFF"/>
              </a:solidFill>
              <a:effectLst/>
              <a:uFillTx/>
              <a:latin typeface="Arial"/>
            </a:endParaRPr>
          </a:p>
          <a:p>
            <a:pPr marL="228600" indent="-227880" defTabSz="914400">
              <a:lnSpc>
                <a:spcPct val="90000"/>
              </a:lnSpc>
              <a:spcBef>
                <a:spcPts val="1001"/>
              </a:spcBef>
              <a:buClr>
                <a:srgbClr val="FFFFFF"/>
              </a:buClr>
              <a:buFont typeface="Arial"/>
              <a:buChar char="•"/>
            </a:pPr>
            <a:r>
              <a:rPr lang="es-ES" sz="1700" b="0" u="none" strike="noStrike">
                <a:solidFill>
                  <a:schemeClr val="lt1"/>
                </a:solidFill>
                <a:effectLst/>
                <a:uFillTx/>
                <a:latin typeface="Calibri"/>
                <a:ea typeface="DejaVu Sans"/>
              </a:rPr>
              <a:t>Supóngase que existe una muestra con n individuos cada uno con p variables (X1, X2, …, Xp), es decir, el espacio muestral tiene p dimensiones. PCA permite encontrar un número de factores subyacentes (z&lt;p) que explican aproximadamente lo mismo que las p variables originales. </a:t>
            </a:r>
            <a:endParaRPr lang="es-ES" sz="1700" b="0" u="none" strike="noStrike">
              <a:solidFill>
                <a:srgbClr val="FFFFFF"/>
              </a:solidFill>
              <a:effectLst/>
              <a:uFillTx/>
              <a:latin typeface="Arial"/>
            </a:endParaRPr>
          </a:p>
          <a:p>
            <a:pPr marL="720" defTabSz="914400">
              <a:lnSpc>
                <a:spcPct val="90000"/>
              </a:lnSpc>
              <a:spcBef>
                <a:spcPts val="1001"/>
              </a:spcBef>
            </a:pPr>
            <a:endParaRPr lang="es-ES" sz="1700" b="0" u="none" strike="noStrike">
              <a:solidFill>
                <a:srgbClr val="FFFFFF"/>
              </a:solidFill>
              <a:effectLst/>
              <a:uFillTx/>
              <a:latin typeface="Arial"/>
            </a:endParaRPr>
          </a:p>
          <a:p>
            <a:pPr marL="228600" indent="-227880" defTabSz="914400">
              <a:lnSpc>
                <a:spcPct val="90000"/>
              </a:lnSpc>
              <a:spcBef>
                <a:spcPts val="1001"/>
              </a:spcBef>
              <a:buClr>
                <a:srgbClr val="FFFFFF"/>
              </a:buClr>
              <a:buFont typeface="Arial"/>
              <a:buChar char="•"/>
            </a:pPr>
            <a:r>
              <a:rPr lang="es-ES" sz="1700" b="0" u="none" strike="noStrike">
                <a:solidFill>
                  <a:schemeClr val="lt1"/>
                </a:solidFill>
                <a:effectLst/>
                <a:uFillTx/>
                <a:latin typeface="Calibri"/>
                <a:ea typeface="DejaVu Sans"/>
              </a:rPr>
              <a:t>Cada una de estas z nuevas variables recibe el nombre de componente principal.</a:t>
            </a:r>
            <a:endParaRPr lang="es-ES" sz="1700" b="0" u="none" strike="noStrike">
              <a:solidFill>
                <a:srgbClr val="FFFFFF"/>
              </a:solidFill>
              <a:effectLst/>
              <a:uFillTx/>
              <a:latin typeface="Arial"/>
            </a:endParaRPr>
          </a:p>
        </p:txBody>
      </p:sp>
      <p:sp>
        <p:nvSpPr>
          <p:cNvPr id="45" name="CustomShape 3"/>
          <p:cNvSpPr/>
          <p:nvPr/>
        </p:nvSpPr>
        <p:spPr>
          <a:xfrm>
            <a:off x="6093000" y="0"/>
            <a:ext cx="6098040" cy="685692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p>
            <a:endParaRPr lang="es-ES" sz="1800" b="0" u="none" strike="noStrike">
              <a:solidFill>
                <a:srgbClr val="000000"/>
              </a:solidFill>
              <a:effectLst/>
              <a:uFillTx/>
              <a:latin typeface="Arial"/>
            </a:endParaRPr>
          </a:p>
        </p:txBody>
      </p:sp>
      <p:sp>
        <p:nvSpPr>
          <p:cNvPr id="46" name="CustomShape 4"/>
          <p:cNvSpPr/>
          <p:nvPr/>
        </p:nvSpPr>
        <p:spPr>
          <a:xfrm>
            <a:off x="6577560" y="557640"/>
            <a:ext cx="5129280" cy="5738040"/>
          </a:xfrm>
          <a:prstGeom prst="roundRect">
            <a:avLst>
              <a:gd name="adj" fmla="val 0"/>
            </a:avLst>
          </a:prstGeom>
          <a:solidFill>
            <a:srgbClr val="FFFFFF"/>
          </a:solidFill>
          <a:ln w="9525">
            <a:solidFill>
              <a:srgbClr val="C8CACA"/>
            </a:solidFill>
          </a:ln>
          <a:effectLst>
            <a:outerShdw algn="t" blurRad="57240" dir="5400000" dist="19080" rotWithShape="0">
              <a:srgbClr val="000000">
                <a:alpha val="6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p>
            <a:endParaRPr lang="es-ES" sz="1800" b="0" u="none" strike="noStrike">
              <a:solidFill>
                <a:srgbClr val="000000"/>
              </a:solidFill>
              <a:effectLst/>
              <a:uFillTx/>
              <a:latin typeface="Arial"/>
            </a:endParaRPr>
          </a:p>
        </p:txBody>
      </p:sp>
      <p:sp>
        <p:nvSpPr>
          <p:cNvPr id="47" name="AutoShape 2" descr="k"/>
          <p:cNvSpPr/>
          <p:nvPr/>
        </p:nvSpPr>
        <p:spPr>
          <a:xfrm>
            <a:off x="9080640" y="-144360"/>
            <a:ext cx="304560" cy="304560"/>
          </a:xfrm>
          <a:prstGeom prst="rect">
            <a:avLst/>
          </a:prstGeom>
          <a:noFill/>
          <a:ln w="0">
            <a:noFill/>
          </a:ln>
        </p:spPr>
        <p:style>
          <a:lnRef idx="0"/>
          <a:fillRef idx="0"/>
          <a:effectRef idx="0"/>
          <a:fontRef idx="minor"/>
        </p:style>
        <p:txBody>
          <a:bodyPr numCol="1" spcCol="0" anchor="t">
            <a:noAutofit/>
          </a:bodyPr>
          <a:p>
            <a:endParaRPr lang="es-ES" sz="1800" b="0" u="none" strike="noStrike">
              <a:solidFill>
                <a:schemeClr val="dk1"/>
              </a:solidFill>
              <a:effectLst/>
              <a:uFillTx/>
              <a:latin typeface="Arial"/>
            </a:endParaRPr>
          </a:p>
        </p:txBody>
      </p:sp>
      <p:pic>
        <p:nvPicPr>
          <p:cNvPr id="48" name="Imagen 3"/>
          <p:cNvPicPr/>
          <p:nvPr/>
        </p:nvPicPr>
        <p:blipFill>
          <a:blip r:embed="rId1"/>
          <a:stretch/>
        </p:blipFill>
        <p:spPr>
          <a:xfrm>
            <a:off x="6563520" y="1065240"/>
            <a:ext cx="5157360" cy="515736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CustomShape 1"/>
          <p:cNvSpPr/>
          <p:nvPr/>
        </p:nvSpPr>
        <p:spPr>
          <a:xfrm>
            <a:off x="471960" y="160200"/>
            <a:ext cx="7162200" cy="162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90000"/>
              </a:lnSpc>
            </a:pPr>
            <a:r>
              <a:rPr lang="es-ES" sz="4400" b="0" u="none" strike="noStrike">
                <a:solidFill>
                  <a:srgbClr val="FF0000"/>
                </a:solidFill>
                <a:effectLst/>
                <a:uFillTx/>
                <a:latin typeface="Calibri Light"/>
                <a:ea typeface="DejaVu Sans"/>
              </a:rPr>
              <a:t>¿Para qué se usa PCA?</a:t>
            </a:r>
            <a:endParaRPr lang="es-ES" sz="4400" b="0" u="none" strike="noStrike">
              <a:solidFill>
                <a:srgbClr val="FFFFFF"/>
              </a:solidFill>
              <a:effectLst/>
              <a:uFillTx/>
              <a:latin typeface="Arial"/>
            </a:endParaRPr>
          </a:p>
        </p:txBody>
      </p:sp>
      <p:sp>
        <p:nvSpPr>
          <p:cNvPr id="50" name="AutoShape 2" descr="k"/>
          <p:cNvSpPr/>
          <p:nvPr/>
        </p:nvSpPr>
        <p:spPr>
          <a:xfrm>
            <a:off x="9080640" y="-144360"/>
            <a:ext cx="304560" cy="304560"/>
          </a:xfrm>
          <a:prstGeom prst="rect">
            <a:avLst/>
          </a:prstGeom>
          <a:noFill/>
          <a:ln w="0">
            <a:noFill/>
          </a:ln>
        </p:spPr>
        <p:style>
          <a:lnRef idx="0"/>
          <a:fillRef idx="0"/>
          <a:effectRef idx="0"/>
          <a:fontRef idx="minor"/>
        </p:style>
        <p:txBody>
          <a:bodyPr numCol="1" spcCol="0" anchor="t">
            <a:noAutofit/>
          </a:bodyPr>
          <a:p>
            <a:endParaRPr lang="es-ES" sz="1800" b="0" u="none" strike="noStrike">
              <a:solidFill>
                <a:schemeClr val="dk1"/>
              </a:solidFill>
              <a:effectLst/>
              <a:uFillTx/>
              <a:latin typeface="Arial"/>
            </a:endParaRPr>
          </a:p>
        </p:txBody>
      </p:sp>
      <p:sp>
        <p:nvSpPr>
          <p:cNvPr id="51" name="CustomShape 2"/>
          <p:cNvSpPr/>
          <p:nvPr/>
        </p:nvSpPr>
        <p:spPr>
          <a:xfrm>
            <a:off x="649080" y="1781640"/>
            <a:ext cx="10943280" cy="3755160"/>
          </a:xfrm>
          <a:prstGeom prst="rect">
            <a:avLst/>
          </a:prstGeom>
          <a:noFill/>
          <a:ln w="0">
            <a:noFill/>
          </a:ln>
        </p:spPr>
        <p:style>
          <a:lnRef idx="0"/>
          <a:fillRef idx="0"/>
          <a:effectRef idx="0"/>
          <a:fontRef idx="minor"/>
        </p:style>
        <p:txBody>
          <a:bodyPr lIns="90000" tIns="45000" rIns="90000" bIns="45000" anchor="t">
            <a:normAutofit/>
          </a:bodyPr>
          <a:p>
            <a:pPr marL="343800" indent="-343080" defTabSz="914400">
              <a:lnSpc>
                <a:spcPct val="90000"/>
              </a:lnSpc>
              <a:spcBef>
                <a:spcPts val="1001"/>
              </a:spcBef>
              <a:buClr>
                <a:srgbClr val="FFFFFF"/>
              </a:buClr>
              <a:buFont typeface="Arial"/>
              <a:buAutoNum type="arabicPeriod"/>
            </a:pPr>
            <a:r>
              <a:rPr lang="es-ES" sz="1700" b="1" u="none" strike="noStrike">
                <a:solidFill>
                  <a:schemeClr val="lt1"/>
                </a:solidFill>
                <a:effectLst/>
                <a:uFillTx/>
                <a:latin typeface="Calibri"/>
                <a:ea typeface="DejaVu Sans"/>
              </a:rPr>
              <a:t>Extracción de patrones en los datos</a:t>
            </a:r>
            <a:r>
              <a:rPr lang="es-ES" sz="1700" b="0" u="none" strike="noStrike">
                <a:solidFill>
                  <a:schemeClr val="lt1"/>
                </a:solidFill>
                <a:effectLst/>
                <a:uFillTx/>
                <a:latin typeface="Calibri"/>
                <a:ea typeface="DejaVu Sans"/>
              </a:rPr>
              <a:t>: convierte el dataset para ver similitudes y diferencias en los datos.</a:t>
            </a: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AutoNum type="arabicPeriod"/>
            </a:pPr>
            <a:r>
              <a:rPr lang="es-ES" sz="1700" b="1" u="none" strike="noStrike">
                <a:solidFill>
                  <a:schemeClr val="lt1"/>
                </a:solidFill>
                <a:effectLst/>
                <a:uFillTx/>
                <a:latin typeface="Calibri"/>
                <a:ea typeface="DejaVu Sans"/>
              </a:rPr>
              <a:t>Feature reduction</a:t>
            </a:r>
            <a:r>
              <a:rPr lang="es-ES" sz="1700" b="0" u="none" strike="noStrike">
                <a:solidFill>
                  <a:schemeClr val="lt1"/>
                </a:solidFill>
                <a:effectLst/>
                <a:uFillTx/>
                <a:latin typeface="Calibri"/>
                <a:ea typeface="DejaVu Sans"/>
              </a:rPr>
              <a:t>: Comprimir la información de un dataset en menos variables. Imprescindible con datasets de cientos o miles de features.</a:t>
            </a: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AutoNum type="arabicPeriod"/>
            </a:pPr>
            <a:r>
              <a:rPr lang="es-ES" sz="1700" b="1" u="none" strike="noStrike">
                <a:solidFill>
                  <a:schemeClr val="lt1"/>
                </a:solidFill>
                <a:effectLst/>
                <a:uFillTx/>
                <a:latin typeface="Calibri"/>
                <a:ea typeface="DejaVu Sans"/>
              </a:rPr>
              <a:t>Visualización para clasificación</a:t>
            </a:r>
            <a:r>
              <a:rPr lang="es-ES" sz="1700" b="0" u="none" strike="noStrike">
                <a:solidFill>
                  <a:schemeClr val="lt1"/>
                </a:solidFill>
                <a:effectLst/>
                <a:uFillTx/>
                <a:latin typeface="Calibri"/>
                <a:ea typeface="DejaVu Sans"/>
              </a:rPr>
              <a:t>: Datasets de más de tres variables son imposibles de representar en una gráfica. Con PCA podemos.</a:t>
            </a:r>
            <a:endParaRPr lang="es-ES" sz="1700" b="0" u="none" strike="noStrike">
              <a:solidFill>
                <a:srgbClr val="FFFFFF"/>
              </a:solidFill>
              <a:effectLst/>
              <a:uFillTx/>
              <a:latin typeface="Arial"/>
            </a:endParaRPr>
          </a:p>
        </p:txBody>
      </p:sp>
      <p:pic>
        <p:nvPicPr>
          <p:cNvPr id="52" name="Imagen 3"/>
          <p:cNvPicPr/>
          <p:nvPr/>
        </p:nvPicPr>
        <p:blipFill>
          <a:blip r:embed="rId1"/>
          <a:stretch/>
        </p:blipFill>
        <p:spPr>
          <a:xfrm>
            <a:off x="3339000" y="3329280"/>
            <a:ext cx="4294800" cy="30308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CustomShape 1"/>
          <p:cNvSpPr/>
          <p:nvPr/>
        </p:nvSpPr>
        <p:spPr>
          <a:xfrm>
            <a:off x="471960" y="160200"/>
            <a:ext cx="7162200" cy="162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90000"/>
              </a:lnSpc>
            </a:pPr>
            <a:r>
              <a:rPr lang="en-US" sz="4400" b="0" u="none" strike="noStrike">
                <a:solidFill>
                  <a:srgbClr val="FF0000"/>
                </a:solidFill>
                <a:effectLst/>
                <a:uFillTx/>
                <a:latin typeface="Calibri Light"/>
                <a:ea typeface="DejaVu Sans"/>
              </a:rPr>
              <a:t>¿Qué es el PCA?</a:t>
            </a:r>
            <a:endParaRPr lang="es-ES" sz="4400" b="0" u="none" strike="noStrike">
              <a:solidFill>
                <a:srgbClr val="FFFFFF"/>
              </a:solidFill>
              <a:effectLst/>
              <a:uFillTx/>
              <a:latin typeface="Arial"/>
            </a:endParaRPr>
          </a:p>
        </p:txBody>
      </p:sp>
      <p:sp>
        <p:nvSpPr>
          <p:cNvPr id="54" name="AutoShape 2" descr="k"/>
          <p:cNvSpPr/>
          <p:nvPr/>
        </p:nvSpPr>
        <p:spPr>
          <a:xfrm>
            <a:off x="9080640" y="-144360"/>
            <a:ext cx="304560" cy="304560"/>
          </a:xfrm>
          <a:prstGeom prst="rect">
            <a:avLst/>
          </a:prstGeom>
          <a:noFill/>
          <a:ln w="0">
            <a:noFill/>
          </a:ln>
        </p:spPr>
        <p:style>
          <a:lnRef idx="0"/>
          <a:fillRef idx="0"/>
          <a:effectRef idx="0"/>
          <a:fontRef idx="minor"/>
        </p:style>
        <p:txBody>
          <a:bodyPr numCol="1" spcCol="0" anchor="t">
            <a:noAutofit/>
          </a:bodyPr>
          <a:p>
            <a:endParaRPr lang="es-ES" sz="1800" b="0" u="none" strike="noStrike">
              <a:solidFill>
                <a:schemeClr val="dk1"/>
              </a:solidFill>
              <a:effectLst/>
              <a:uFillTx/>
              <a:latin typeface="Arial"/>
            </a:endParaRPr>
          </a:p>
        </p:txBody>
      </p:sp>
      <p:sp>
        <p:nvSpPr>
          <p:cNvPr id="55" name="CustomShape 2"/>
          <p:cNvSpPr/>
          <p:nvPr/>
        </p:nvSpPr>
        <p:spPr>
          <a:xfrm>
            <a:off x="649080" y="1781640"/>
            <a:ext cx="10943280" cy="3755160"/>
          </a:xfrm>
          <a:prstGeom prst="rect">
            <a:avLst/>
          </a:prstGeom>
          <a:noFill/>
          <a:ln w="0">
            <a:noFill/>
          </a:ln>
        </p:spPr>
        <p:style>
          <a:lnRef idx="0"/>
          <a:fillRef idx="0"/>
          <a:effectRef idx="0"/>
          <a:fontRef idx="minor"/>
        </p:style>
        <p:txBody>
          <a:bodyPr lIns="90000" tIns="45000" rIns="90000" bIns="45000" anchor="t">
            <a:normAutofit/>
          </a:bodyPr>
          <a:p>
            <a:pPr marL="720" defTabSz="914400">
              <a:lnSpc>
                <a:spcPct val="90000"/>
              </a:lnSpc>
              <a:spcBef>
                <a:spcPts val="1001"/>
              </a:spcBef>
            </a:pPr>
            <a:r>
              <a:rPr lang="es-ES" sz="1700" b="0" u="none" strike="noStrike">
                <a:solidFill>
                  <a:schemeClr val="lt1"/>
                </a:solidFill>
                <a:effectLst/>
                <a:uFillTx/>
                <a:latin typeface="Calibri"/>
                <a:ea typeface="DejaVu Sans"/>
              </a:rPr>
              <a:t>Normalmente se usa para reducir la dimensionalidad. Identifica los hiperplanos que maximizan la varianza y proyecta los datos en esos hiperplanos, de tal manera que minimicemos la pérdida de información.</a:t>
            </a:r>
            <a:endParaRPr lang="es-ES" sz="1700" b="0" u="none" strike="noStrike">
              <a:solidFill>
                <a:srgbClr val="FFFFFF"/>
              </a:solidFill>
              <a:effectLst/>
              <a:uFillTx/>
              <a:latin typeface="Arial"/>
            </a:endParaRPr>
          </a:p>
          <a:p>
            <a:pPr marL="720" defTabSz="914400">
              <a:lnSpc>
                <a:spcPct val="90000"/>
              </a:lnSpc>
              <a:spcBef>
                <a:spcPts val="1001"/>
              </a:spcBef>
            </a:pPr>
            <a:r>
              <a:rPr lang="es-ES" sz="1700" b="0" u="none" strike="noStrike">
                <a:solidFill>
                  <a:schemeClr val="lt1"/>
                </a:solidFill>
                <a:effectLst/>
                <a:uFillTx/>
                <a:latin typeface="Calibri"/>
                <a:ea typeface="DejaVu Sans"/>
              </a:rPr>
              <a:t>Las líneas discontinuas de la siguiente imagen serían una proyección con muy poca varianza de la variable.</a:t>
            </a:r>
            <a:endParaRPr lang="es-ES" sz="1700" b="0" u="none" strike="noStrike">
              <a:solidFill>
                <a:srgbClr val="FFFFFF"/>
              </a:solidFill>
              <a:effectLst/>
              <a:uFillTx/>
              <a:latin typeface="Arial"/>
            </a:endParaRPr>
          </a:p>
        </p:txBody>
      </p:sp>
      <p:pic>
        <p:nvPicPr>
          <p:cNvPr id="56" name="Picture 2" descr="mls2 0807"/>
          <p:cNvPicPr/>
          <p:nvPr/>
        </p:nvPicPr>
        <p:blipFill>
          <a:blip r:embed="rId1"/>
          <a:stretch/>
        </p:blipFill>
        <p:spPr>
          <a:xfrm>
            <a:off x="2336760" y="3090600"/>
            <a:ext cx="6857640" cy="322848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CustomShape 1"/>
          <p:cNvSpPr/>
          <p:nvPr/>
        </p:nvSpPr>
        <p:spPr>
          <a:xfrm>
            <a:off x="2233440" y="2430000"/>
            <a:ext cx="7724520" cy="1997280"/>
          </a:xfrm>
          <a:prstGeom prst="rect">
            <a:avLst/>
          </a:prstGeom>
          <a:noFill/>
          <a:ln w="0">
            <a:noFill/>
          </a:ln>
        </p:spPr>
        <p:style>
          <a:lnRef idx="0"/>
          <a:fillRef idx="0"/>
          <a:effectRef idx="0"/>
          <a:fontRef idx="minor"/>
        </p:style>
        <p:txBody>
          <a:bodyPr lIns="90000" tIns="45000" rIns="90000" bIns="45000" anchor="ctr">
            <a:normAutofit/>
          </a:bodyPr>
          <a:p>
            <a:pPr algn="ctr" defTabSz="914400">
              <a:lnSpc>
                <a:spcPct val="90000"/>
              </a:lnSpc>
            </a:pPr>
            <a:r>
              <a:rPr lang="es-ES" sz="4400" b="0" u="none" strike="noStrike">
                <a:solidFill>
                  <a:srgbClr val="FF0000"/>
                </a:solidFill>
                <a:effectLst/>
                <a:uFillTx/>
                <a:latin typeface="Calibri Light"/>
                <a:ea typeface="DejaVu Sans"/>
              </a:rPr>
              <a:t>Algunos conceptos matemáticos</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CustomShape 1"/>
          <p:cNvSpPr/>
          <p:nvPr/>
        </p:nvSpPr>
        <p:spPr>
          <a:xfrm>
            <a:off x="471960" y="160200"/>
            <a:ext cx="7162200" cy="162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90000"/>
              </a:lnSpc>
            </a:pPr>
            <a:r>
              <a:rPr lang="es-ES" sz="4400" b="0" u="none" strike="noStrike">
                <a:solidFill>
                  <a:srgbClr val="FF0000"/>
                </a:solidFill>
                <a:effectLst/>
                <a:uFillTx/>
                <a:latin typeface="Calibri Light"/>
                <a:ea typeface="DejaVu Sans"/>
              </a:rPr>
              <a:t>Matriz de Covarianza</a:t>
            </a:r>
            <a:endParaRPr lang="es-ES" sz="4400" b="0" u="none" strike="noStrike">
              <a:solidFill>
                <a:srgbClr val="FFFFFF"/>
              </a:solidFill>
              <a:effectLst/>
              <a:uFillTx/>
              <a:latin typeface="Arial"/>
            </a:endParaRPr>
          </a:p>
        </p:txBody>
      </p:sp>
      <p:sp>
        <p:nvSpPr>
          <p:cNvPr id="59" name="AutoShape 2" descr="k"/>
          <p:cNvSpPr/>
          <p:nvPr/>
        </p:nvSpPr>
        <p:spPr>
          <a:xfrm>
            <a:off x="9080640" y="-144360"/>
            <a:ext cx="304560" cy="304560"/>
          </a:xfrm>
          <a:prstGeom prst="rect">
            <a:avLst/>
          </a:prstGeom>
          <a:noFill/>
          <a:ln w="0">
            <a:noFill/>
          </a:ln>
        </p:spPr>
        <p:style>
          <a:lnRef idx="0"/>
          <a:fillRef idx="0"/>
          <a:effectRef idx="0"/>
          <a:fontRef idx="minor"/>
        </p:style>
        <p:txBody>
          <a:bodyPr numCol="1" spcCol="0" anchor="t">
            <a:noAutofit/>
          </a:bodyPr>
          <a:p>
            <a:endParaRPr lang="es-ES" sz="1800" b="0" u="none" strike="noStrike">
              <a:solidFill>
                <a:schemeClr val="dk1"/>
              </a:solidFill>
              <a:effectLst/>
              <a:uFillTx/>
              <a:latin typeface="Arial"/>
            </a:endParaRPr>
          </a:p>
        </p:txBody>
      </p:sp>
      <p:sp>
        <p:nvSpPr>
          <p:cNvPr id="60" name="CustomShape 2"/>
          <p:cNvSpPr/>
          <p:nvPr/>
        </p:nvSpPr>
        <p:spPr>
          <a:xfrm>
            <a:off x="649080" y="1781640"/>
            <a:ext cx="10943280" cy="3755160"/>
          </a:xfrm>
          <a:prstGeom prst="rect">
            <a:avLst/>
          </a:prstGeom>
          <a:noFill/>
          <a:ln w="0">
            <a:noFill/>
          </a:ln>
        </p:spPr>
        <p:style>
          <a:lnRef idx="0"/>
          <a:fillRef idx="0"/>
          <a:effectRef idx="0"/>
          <a:fontRef idx="minor"/>
        </p:style>
        <p:txBody>
          <a:bodyPr lIns="90000" tIns="45000" rIns="90000" bIns="45000" anchor="t">
            <a:normAutofit/>
          </a:bodyPr>
          <a:p>
            <a:pPr marL="720" defTabSz="914400">
              <a:lnSpc>
                <a:spcPct val="90000"/>
              </a:lnSpc>
              <a:spcBef>
                <a:spcPts val="1001"/>
              </a:spcBef>
            </a:pPr>
            <a:r>
              <a:rPr lang="es-ES" sz="1700" b="1" u="none" strike="noStrike">
                <a:solidFill>
                  <a:schemeClr val="lt1"/>
                </a:solidFill>
                <a:effectLst/>
                <a:uFillTx/>
                <a:latin typeface="Calibri"/>
                <a:ea typeface="DejaVu Sans"/>
              </a:rPr>
              <a:t>La covarianza es el valor que refleja en qué cuantía dos variables aleatorias varían de forma conjunta respecto a sus medias.</a:t>
            </a:r>
            <a:endParaRPr lang="es-ES" sz="1700" b="0" u="none" strike="noStrike">
              <a:solidFill>
                <a:srgbClr val="FFFFFF"/>
              </a:solidFill>
              <a:effectLst/>
              <a:uFillTx/>
              <a:latin typeface="Arial"/>
            </a:endParaRPr>
          </a:p>
          <a:p>
            <a:pPr marL="720" defTabSz="914400">
              <a:lnSpc>
                <a:spcPct val="90000"/>
              </a:lnSpc>
              <a:spcBef>
                <a:spcPts val="1001"/>
              </a:spcBef>
            </a:pPr>
            <a:r>
              <a:rPr lang="es-ES" sz="1700" b="0" u="none" strike="noStrike">
                <a:solidFill>
                  <a:schemeClr val="lt1"/>
                </a:solidFill>
                <a:effectLst/>
                <a:uFillTx/>
                <a:latin typeface="Calibri"/>
                <a:ea typeface="DejaVu Sans"/>
              </a:rPr>
              <a:t>Nos permite saber cómo se comporta una variable en función de lo que hace otra variable. Es decir, cuando X sube ¿Cómo se comporta Y? Así pues, la covarianza puede tomar los siguiente valores:</a:t>
            </a:r>
            <a:endParaRPr lang="es-ES" sz="1700" b="0" u="none" strike="noStrike">
              <a:solidFill>
                <a:srgbClr val="FFFFFF"/>
              </a:solidFill>
              <a:effectLst/>
              <a:uFillTx/>
              <a:latin typeface="Arial"/>
            </a:endParaRPr>
          </a:p>
          <a:p>
            <a:pPr marL="720" defTabSz="914400">
              <a:lnSpc>
                <a:spcPct val="90000"/>
              </a:lnSpc>
              <a:spcBef>
                <a:spcPts val="1001"/>
              </a:spcBef>
            </a:pPr>
            <a:endParaRPr lang="es-ES" sz="1700" b="0" u="none" strike="noStrike">
              <a:solidFill>
                <a:srgbClr val="FFFFFF"/>
              </a:solidFill>
              <a:effectLst/>
              <a:uFillTx/>
              <a:latin typeface="Arial"/>
            </a:endParaRPr>
          </a:p>
          <a:p>
            <a:pPr marL="720" defTabSz="914400">
              <a:lnSpc>
                <a:spcPct val="90000"/>
              </a:lnSpc>
              <a:spcBef>
                <a:spcPts val="1001"/>
              </a:spcBef>
            </a:pPr>
            <a:r>
              <a:rPr lang="es-ES" sz="1700" b="0" u="none" strike="noStrike">
                <a:solidFill>
                  <a:schemeClr val="lt1"/>
                </a:solidFill>
                <a:effectLst/>
                <a:uFillTx/>
                <a:latin typeface="Calibri"/>
                <a:ea typeface="DejaVu Sans"/>
              </a:rPr>
              <a:t>Covarianza (X,Y)  es menor que cero cuando “X” sube e “Y” baja. Hay una relación negativa.</a:t>
            </a:r>
            <a:endParaRPr lang="es-ES" sz="1700" b="0" u="none" strike="noStrike">
              <a:solidFill>
                <a:srgbClr val="FFFFFF"/>
              </a:solidFill>
              <a:effectLst/>
              <a:uFillTx/>
              <a:latin typeface="Arial"/>
            </a:endParaRPr>
          </a:p>
          <a:p>
            <a:pPr marL="720" defTabSz="914400">
              <a:lnSpc>
                <a:spcPct val="90000"/>
              </a:lnSpc>
              <a:spcBef>
                <a:spcPts val="1001"/>
              </a:spcBef>
            </a:pPr>
            <a:endParaRPr lang="es-ES" sz="1700" b="0" u="none" strike="noStrike">
              <a:solidFill>
                <a:srgbClr val="FFFFFF"/>
              </a:solidFill>
              <a:effectLst/>
              <a:uFillTx/>
              <a:latin typeface="Arial"/>
            </a:endParaRPr>
          </a:p>
          <a:p>
            <a:pPr marL="720" defTabSz="914400">
              <a:lnSpc>
                <a:spcPct val="90000"/>
              </a:lnSpc>
              <a:spcBef>
                <a:spcPts val="1001"/>
              </a:spcBef>
            </a:pPr>
            <a:r>
              <a:rPr lang="es-ES" sz="1700" b="0" u="none" strike="noStrike">
                <a:solidFill>
                  <a:schemeClr val="lt1"/>
                </a:solidFill>
                <a:effectLst/>
                <a:uFillTx/>
                <a:latin typeface="Calibri"/>
                <a:ea typeface="DejaVu Sans"/>
              </a:rPr>
              <a:t>Covarianza (X,Y)  es mayor que cero cuando “X” sube e “Y” sube. Hay una relación positiva.</a:t>
            </a:r>
            <a:endParaRPr lang="es-ES" sz="1700" b="0" u="none" strike="noStrike">
              <a:solidFill>
                <a:srgbClr val="FFFFFF"/>
              </a:solidFill>
              <a:effectLst/>
              <a:uFillTx/>
              <a:latin typeface="Arial"/>
            </a:endParaRPr>
          </a:p>
        </p:txBody>
      </p:sp>
      <p:pic>
        <p:nvPicPr>
          <p:cNvPr id="61" name="Imagen 2"/>
          <p:cNvPicPr/>
          <p:nvPr/>
        </p:nvPicPr>
        <p:blipFill>
          <a:blip r:embed="rId1"/>
          <a:stretch/>
        </p:blipFill>
        <p:spPr>
          <a:xfrm>
            <a:off x="3550320" y="4965840"/>
            <a:ext cx="4400280" cy="11426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CustomShape 1"/>
          <p:cNvSpPr/>
          <p:nvPr/>
        </p:nvSpPr>
        <p:spPr>
          <a:xfrm>
            <a:off x="471960" y="160200"/>
            <a:ext cx="7162200" cy="162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90000"/>
              </a:lnSpc>
            </a:pPr>
            <a:r>
              <a:rPr lang="es-ES" sz="4400" b="0" u="none" strike="noStrike">
                <a:solidFill>
                  <a:srgbClr val="FF0000"/>
                </a:solidFill>
                <a:effectLst/>
                <a:uFillTx/>
                <a:latin typeface="Calibri Light"/>
                <a:ea typeface="DejaVu Sans"/>
              </a:rPr>
              <a:t>Autovalores y autovectores</a:t>
            </a:r>
            <a:endParaRPr lang="es-ES" sz="4400" b="0" u="none" strike="noStrike">
              <a:solidFill>
                <a:srgbClr val="FFFFFF"/>
              </a:solidFill>
              <a:effectLst/>
              <a:uFillTx/>
              <a:latin typeface="Arial"/>
            </a:endParaRPr>
          </a:p>
        </p:txBody>
      </p:sp>
      <p:sp>
        <p:nvSpPr>
          <p:cNvPr id="63" name="AutoShape 2" descr="k"/>
          <p:cNvSpPr/>
          <p:nvPr/>
        </p:nvSpPr>
        <p:spPr>
          <a:xfrm>
            <a:off x="9080640" y="-144360"/>
            <a:ext cx="304560" cy="304560"/>
          </a:xfrm>
          <a:prstGeom prst="rect">
            <a:avLst/>
          </a:prstGeom>
          <a:noFill/>
          <a:ln w="0">
            <a:noFill/>
          </a:ln>
        </p:spPr>
        <p:style>
          <a:lnRef idx="0"/>
          <a:fillRef idx="0"/>
          <a:effectRef idx="0"/>
          <a:fontRef idx="minor"/>
        </p:style>
        <p:txBody>
          <a:bodyPr numCol="1" spcCol="0" anchor="t">
            <a:noAutofit/>
          </a:bodyPr>
          <a:p>
            <a:endParaRPr lang="es-ES" sz="1800" b="0" u="none" strike="noStrike">
              <a:solidFill>
                <a:schemeClr val="dk1"/>
              </a:solidFill>
              <a:effectLst/>
              <a:uFillTx/>
              <a:latin typeface="Arial"/>
            </a:endParaRPr>
          </a:p>
        </p:txBody>
      </p:sp>
      <p:sp>
        <p:nvSpPr>
          <p:cNvPr id="64" name="CustomShape 2"/>
          <p:cNvSpPr/>
          <p:nvPr/>
        </p:nvSpPr>
        <p:spPr>
          <a:xfrm>
            <a:off x="471960" y="1492200"/>
            <a:ext cx="10943280" cy="2896560"/>
          </a:xfrm>
          <a:prstGeom prst="rect">
            <a:avLst/>
          </a:prstGeom>
          <a:noFill/>
          <a:ln w="0">
            <a:noFill/>
          </a:ln>
        </p:spPr>
        <p:style>
          <a:lnRef idx="0"/>
          <a:fillRef idx="0"/>
          <a:effectRef idx="0"/>
          <a:fontRef idx="minor"/>
        </p:style>
        <p:txBody>
          <a:bodyPr lIns="90000" tIns="45000" rIns="90000" bIns="45000" anchor="t">
            <a:normAutofit/>
          </a:bodyPr>
          <a:p>
            <a:pPr marL="720" defTabSz="914400">
              <a:lnSpc>
                <a:spcPct val="90000"/>
              </a:lnSpc>
              <a:spcBef>
                <a:spcPts val="1001"/>
              </a:spcBef>
            </a:pPr>
            <a:r>
              <a:rPr lang="es-ES" sz="1700" b="0" u="none" strike="noStrike">
                <a:solidFill>
                  <a:schemeClr val="lt1"/>
                </a:solidFill>
                <a:effectLst/>
                <a:uFillTx/>
                <a:latin typeface="Calibri"/>
                <a:ea typeface="DejaVu Sans"/>
              </a:rPr>
              <a:t>En álgebra lineal, los vectores propios, eigenvectores o autovectores de un operador lineal son los vectores no nulos que, cuando son transformados por el operador, dan lugar a un múltiplo escalar de sí mismos, con lo que no cambian su dirección. Este escalar lambda  recibe el nombre valor propio, autovalor o valor característico</a:t>
            </a:r>
            <a:endParaRPr lang="es-ES" sz="1700" b="0" u="none" strike="noStrike">
              <a:solidFill>
                <a:srgbClr val="FFFFFF"/>
              </a:solidFill>
              <a:effectLst/>
              <a:uFillTx/>
              <a:latin typeface="Arial"/>
            </a:endParaRPr>
          </a:p>
          <a:p>
            <a:pPr marL="720" defTabSz="914400">
              <a:lnSpc>
                <a:spcPct val="90000"/>
              </a:lnSpc>
              <a:spcBef>
                <a:spcPts val="1001"/>
              </a:spcBef>
            </a:pP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AutoNum type="arabicPeriod"/>
            </a:pPr>
            <a:r>
              <a:rPr lang="es-ES" sz="1700" b="0" u="none" strike="noStrike">
                <a:solidFill>
                  <a:schemeClr val="lt1"/>
                </a:solidFill>
                <a:effectLst/>
                <a:uFillTx/>
                <a:latin typeface="Calibri"/>
                <a:ea typeface="DejaVu Sans"/>
              </a:rPr>
              <a:t>La matriz sobre la que se calculan los autovalores y autovectores tiene que ser cuadrada.</a:t>
            </a: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AutoNum type="arabicPeriod"/>
            </a:pPr>
            <a:r>
              <a:rPr lang="es-ES" sz="1700" b="0" u="none" strike="noStrike">
                <a:solidFill>
                  <a:schemeClr val="lt1"/>
                </a:solidFill>
                <a:effectLst/>
                <a:uFillTx/>
                <a:latin typeface="Calibri"/>
                <a:ea typeface="DejaVu Sans"/>
              </a:rPr>
              <a:t>Hay tantos autovalores como dimensiones tenga la matriz. Se pueden repetir.</a:t>
            </a: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AutoNum type="arabicPeriod"/>
            </a:pPr>
            <a:r>
              <a:rPr lang="es-ES" sz="1700" b="0" u="none" strike="noStrike">
                <a:solidFill>
                  <a:schemeClr val="lt1"/>
                </a:solidFill>
                <a:effectLst/>
                <a:uFillTx/>
                <a:latin typeface="Calibri"/>
                <a:ea typeface="DejaVu Sans"/>
              </a:rPr>
              <a:t>Todos los autovectores son perpendiculares entre sí</a:t>
            </a: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AutoNum type="arabicPeriod"/>
            </a:pPr>
            <a:r>
              <a:rPr lang="es-ES" sz="1700" b="0" u="none" strike="noStrike">
                <a:solidFill>
                  <a:schemeClr val="lt1"/>
                </a:solidFill>
                <a:effectLst/>
                <a:uFillTx/>
                <a:latin typeface="Calibri"/>
                <a:ea typeface="DejaVu Sans"/>
              </a:rPr>
              <a:t>La longitud del autovector es 1 y su autovalor representa el poder de cada autovector.</a:t>
            </a: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p:txBody>
      </p:sp>
      <p:pic>
        <p:nvPicPr>
          <p:cNvPr id="65" name="Imagen 2"/>
          <p:cNvPicPr/>
          <p:nvPr/>
        </p:nvPicPr>
        <p:blipFill>
          <a:blip r:embed="rId1"/>
          <a:stretch/>
        </p:blipFill>
        <p:spPr>
          <a:xfrm>
            <a:off x="3186720" y="4636440"/>
            <a:ext cx="3266640" cy="933120"/>
          </a:xfrm>
          <a:prstGeom prst="rect">
            <a:avLst/>
          </a:prstGeom>
          <a:noFill/>
          <a:ln w="0">
            <a:noFill/>
          </a:ln>
        </p:spPr>
      </p:pic>
      <p:sp>
        <p:nvSpPr>
          <p:cNvPr id="66" name="CuadroTexto 5"/>
          <p:cNvSpPr/>
          <p:nvPr/>
        </p:nvSpPr>
        <p:spPr>
          <a:xfrm>
            <a:off x="649080" y="6051240"/>
            <a:ext cx="5620680" cy="3074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400" b="0" u="sng" strike="noStrike">
                <a:solidFill>
                  <a:schemeClr val="lt1"/>
                </a:solidFill>
                <a:effectLst/>
                <a:uFillTx/>
                <a:latin typeface="Arial"/>
                <a:ea typeface="DejaVu Sans"/>
                <a:hlinkClick r:id="rId2"/>
              </a:rPr>
              <a:t>Explicación detallada de cálculo de autovalores y </a:t>
            </a:r>
            <a:r>
              <a:rPr lang="es-ES" sz="1400" b="0" u="sng" strike="noStrike">
                <a:solidFill>
                  <a:schemeClr val="lt1"/>
                </a:solidFill>
                <a:effectLst/>
                <a:uFillTx/>
                <a:latin typeface="Arial"/>
                <a:ea typeface="DejaVu Sans"/>
                <a:hlinkClick r:id="rId3"/>
              </a:rPr>
              <a:t>autovectores</a:t>
            </a:r>
            <a:endParaRPr lang="es-ES" sz="1400" b="0" u="none" strike="noStrike">
              <a:solidFill>
                <a:srgbClr val="FFFFFF"/>
              </a:solidFill>
              <a:effectLst/>
              <a:uFillTx/>
              <a:latin typeface="Arial"/>
            </a:endParaRPr>
          </a:p>
        </p:txBody>
      </p:sp>
      <p:pic>
        <p:nvPicPr>
          <p:cNvPr id="67" name="Imagen 12"/>
          <p:cNvPicPr/>
          <p:nvPr/>
        </p:nvPicPr>
        <p:blipFill>
          <a:blip r:embed="rId4"/>
          <a:stretch/>
        </p:blipFill>
        <p:spPr>
          <a:xfrm>
            <a:off x="8682120" y="3806640"/>
            <a:ext cx="2943720" cy="224424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CustomShape 1"/>
          <p:cNvSpPr/>
          <p:nvPr/>
        </p:nvSpPr>
        <p:spPr>
          <a:xfrm>
            <a:off x="2233440" y="2430000"/>
            <a:ext cx="7724520" cy="1997280"/>
          </a:xfrm>
          <a:prstGeom prst="rect">
            <a:avLst/>
          </a:prstGeom>
          <a:noFill/>
          <a:ln w="0">
            <a:noFill/>
          </a:ln>
        </p:spPr>
        <p:style>
          <a:lnRef idx="0"/>
          <a:fillRef idx="0"/>
          <a:effectRef idx="0"/>
          <a:fontRef idx="minor"/>
        </p:style>
        <p:txBody>
          <a:bodyPr lIns="90000" tIns="45000" rIns="90000" bIns="45000" anchor="ctr">
            <a:normAutofit/>
          </a:bodyPr>
          <a:p>
            <a:pPr algn="ctr" defTabSz="914400">
              <a:lnSpc>
                <a:spcPct val="90000"/>
              </a:lnSpc>
            </a:pPr>
            <a:r>
              <a:rPr lang="es-ES" sz="4400" b="0" u="none" strike="noStrike">
                <a:solidFill>
                  <a:srgbClr val="FF0000"/>
                </a:solidFill>
                <a:effectLst/>
                <a:uFillTx/>
                <a:latin typeface="Calibri Light"/>
                <a:ea typeface="DejaVu Sans"/>
              </a:rPr>
              <a:t>PCA</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CustomShape 1"/>
          <p:cNvSpPr/>
          <p:nvPr/>
        </p:nvSpPr>
        <p:spPr>
          <a:xfrm>
            <a:off x="471960" y="160200"/>
            <a:ext cx="8814240" cy="162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90000"/>
              </a:lnSpc>
            </a:pPr>
            <a:r>
              <a:rPr lang="es-ES" sz="4400" b="0" u="none" strike="noStrike">
                <a:solidFill>
                  <a:srgbClr val="FF0000"/>
                </a:solidFill>
                <a:effectLst/>
                <a:uFillTx/>
                <a:latin typeface="Calibri Light"/>
                <a:ea typeface="DejaVu Sans"/>
              </a:rPr>
              <a:t>Cálculo de los Principal Components</a:t>
            </a:r>
            <a:endParaRPr lang="es-ES" sz="4400" b="0" u="none" strike="noStrike">
              <a:solidFill>
                <a:srgbClr val="FFFFFF"/>
              </a:solidFill>
              <a:effectLst/>
              <a:uFillTx/>
              <a:latin typeface="Arial"/>
            </a:endParaRPr>
          </a:p>
        </p:txBody>
      </p:sp>
      <p:sp>
        <p:nvSpPr>
          <p:cNvPr id="70" name="AutoShape 2" descr="k"/>
          <p:cNvSpPr/>
          <p:nvPr/>
        </p:nvSpPr>
        <p:spPr>
          <a:xfrm>
            <a:off x="9080640" y="-144360"/>
            <a:ext cx="304560" cy="304560"/>
          </a:xfrm>
          <a:prstGeom prst="rect">
            <a:avLst/>
          </a:prstGeom>
          <a:noFill/>
          <a:ln w="0">
            <a:noFill/>
          </a:ln>
        </p:spPr>
        <p:style>
          <a:lnRef idx="0"/>
          <a:fillRef idx="0"/>
          <a:effectRef idx="0"/>
          <a:fontRef idx="minor"/>
        </p:style>
        <p:txBody>
          <a:bodyPr numCol="1" spcCol="0" anchor="t">
            <a:noAutofit/>
          </a:bodyPr>
          <a:p>
            <a:endParaRPr lang="es-ES" sz="1800" b="0" u="none" strike="noStrike">
              <a:solidFill>
                <a:schemeClr val="dk1"/>
              </a:solidFill>
              <a:effectLst/>
              <a:uFillTx/>
              <a:latin typeface="Arial"/>
            </a:endParaRPr>
          </a:p>
        </p:txBody>
      </p:sp>
      <p:sp>
        <p:nvSpPr>
          <p:cNvPr id="71" name="CustomShape 2"/>
          <p:cNvSpPr/>
          <p:nvPr/>
        </p:nvSpPr>
        <p:spPr>
          <a:xfrm>
            <a:off x="649080" y="1424520"/>
            <a:ext cx="6594480" cy="3282840"/>
          </a:xfrm>
          <a:prstGeom prst="rect">
            <a:avLst/>
          </a:prstGeom>
          <a:noFill/>
          <a:ln w="0">
            <a:noFill/>
          </a:ln>
        </p:spPr>
        <p:style>
          <a:lnRef idx="0"/>
          <a:fillRef idx="0"/>
          <a:effectRef idx="0"/>
          <a:fontRef idx="minor"/>
        </p:style>
        <p:txBody>
          <a:bodyPr lIns="90000" tIns="45000" rIns="90000" bIns="45000" anchor="t">
            <a:normAutofit/>
          </a:bodyPr>
          <a:p>
            <a:pPr marL="720" defTabSz="914400">
              <a:lnSpc>
                <a:spcPct val="90000"/>
              </a:lnSpc>
              <a:spcBef>
                <a:spcPts val="1001"/>
              </a:spcBef>
            </a:pPr>
            <a:r>
              <a:rPr lang="es-ES" sz="1700" b="0" u="none" strike="noStrike">
                <a:solidFill>
                  <a:schemeClr val="lt1"/>
                </a:solidFill>
                <a:effectLst/>
                <a:uFillTx/>
                <a:latin typeface="Calibri"/>
                <a:ea typeface="DejaVu Sans"/>
              </a:rPr>
              <a:t>Para calcular el PCA necesitamos:</a:t>
            </a:r>
            <a:endParaRPr lang="es-ES" sz="1700" b="0" u="none" strike="noStrike">
              <a:solidFill>
                <a:srgbClr val="FFFFFF"/>
              </a:solidFill>
              <a:effectLst/>
              <a:uFillTx/>
              <a:latin typeface="Arial"/>
            </a:endParaRPr>
          </a:p>
          <a:p>
            <a:pPr marL="720" defTabSz="914400">
              <a:lnSpc>
                <a:spcPct val="90000"/>
              </a:lnSpc>
              <a:spcBef>
                <a:spcPts val="1001"/>
              </a:spcBef>
            </a:pP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AutoNum type="arabicPeriod"/>
            </a:pPr>
            <a:r>
              <a:rPr lang="es-ES" sz="1700" b="0" u="none" strike="noStrike">
                <a:solidFill>
                  <a:schemeClr val="lt1"/>
                </a:solidFill>
                <a:effectLst/>
                <a:uFillTx/>
                <a:latin typeface="Calibri"/>
                <a:ea typeface="DejaVu Sans"/>
              </a:rPr>
              <a:t>Obtener la matriz de covarianza de nuestros datos.</a:t>
            </a: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AutoNum type="arabicPeriod"/>
            </a:pPr>
            <a:r>
              <a:rPr lang="es-ES" sz="1700" b="0" u="none" strike="noStrike">
                <a:solidFill>
                  <a:schemeClr val="lt1"/>
                </a:solidFill>
                <a:effectLst/>
                <a:uFillTx/>
                <a:latin typeface="Calibri"/>
                <a:ea typeface="DejaVu Sans"/>
              </a:rPr>
              <a:t>Descomponer la matriz de en sus autovalores y autovectores.</a:t>
            </a: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AutoNum type="arabicPeriod"/>
            </a:pPr>
            <a:r>
              <a:rPr lang="es-ES" sz="1700" b="0" u="none" strike="noStrike">
                <a:solidFill>
                  <a:schemeClr val="lt1"/>
                </a:solidFill>
                <a:effectLst/>
                <a:uFillTx/>
                <a:latin typeface="Calibri"/>
                <a:ea typeface="DejaVu Sans"/>
              </a:rPr>
              <a:t>Obtenemos un ranking de vectores, ordenando los autovalores de mayor a menor.</a:t>
            </a: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AutoNum type="arabicPeriod"/>
            </a:pPr>
            <a:r>
              <a:rPr lang="es-ES" sz="1700" b="0" u="none" strike="noStrike">
                <a:solidFill>
                  <a:schemeClr val="lt1"/>
                </a:solidFill>
                <a:effectLst/>
                <a:uFillTx/>
                <a:latin typeface="Calibri"/>
                <a:ea typeface="DejaVu Sans"/>
              </a:rPr>
              <a:t>Conseguimos los Principal Components a partir de las features originales y los autovectores.</a:t>
            </a: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p:txBody>
      </p:sp>
      <p:pic>
        <p:nvPicPr>
          <p:cNvPr id="72" name="Imagen 6"/>
          <p:cNvPicPr/>
          <p:nvPr/>
        </p:nvPicPr>
        <p:blipFill>
          <a:blip r:embed="rId1"/>
          <a:srcRect l="0" t="0" r="703" b="64480"/>
          <a:stretch/>
        </p:blipFill>
        <p:spPr>
          <a:xfrm>
            <a:off x="7506360" y="1562040"/>
            <a:ext cx="3971520" cy="755280"/>
          </a:xfrm>
          <a:prstGeom prst="rect">
            <a:avLst/>
          </a:prstGeom>
          <a:noFill/>
          <a:ln w="0">
            <a:noFill/>
          </a:ln>
        </p:spPr>
      </p:pic>
      <p:pic>
        <p:nvPicPr>
          <p:cNvPr id="73" name="Imagen 9"/>
          <p:cNvPicPr/>
          <p:nvPr/>
        </p:nvPicPr>
        <p:blipFill>
          <a:blip r:embed="rId2"/>
          <a:srcRect l="4601" t="22276" r="7011" b="20829"/>
          <a:stretch/>
        </p:blipFill>
        <p:spPr>
          <a:xfrm>
            <a:off x="7531920" y="2875320"/>
            <a:ext cx="3549240" cy="653040"/>
          </a:xfrm>
          <a:prstGeom prst="rect">
            <a:avLst/>
          </a:prstGeom>
          <a:noFill/>
          <a:ln w="0">
            <a:noFill/>
          </a:ln>
        </p:spPr>
      </p:pic>
      <p:sp>
        <p:nvSpPr>
          <p:cNvPr id="74" name="CustomShape 2"/>
          <p:cNvSpPr/>
          <p:nvPr/>
        </p:nvSpPr>
        <p:spPr>
          <a:xfrm>
            <a:off x="649080" y="5243760"/>
            <a:ext cx="10498320" cy="1713240"/>
          </a:xfrm>
          <a:prstGeom prst="rect">
            <a:avLst/>
          </a:prstGeom>
          <a:noFill/>
          <a:ln w="0">
            <a:noFill/>
          </a:ln>
        </p:spPr>
        <p:style>
          <a:lnRef idx="0"/>
          <a:fillRef idx="0"/>
          <a:effectRef idx="0"/>
          <a:fontRef idx="minor"/>
        </p:style>
        <p:txBody>
          <a:bodyPr lIns="90000" tIns="45000" rIns="90000" bIns="45000" anchor="t">
            <a:normAutofit/>
          </a:bodyPr>
          <a:p>
            <a:pPr marL="720" defTabSz="914400">
              <a:lnSpc>
                <a:spcPct val="90000"/>
              </a:lnSpc>
              <a:spcBef>
                <a:spcPts val="1001"/>
              </a:spcBef>
            </a:pPr>
            <a:r>
              <a:rPr lang="es-ES" sz="1700" b="0" u="none" strike="noStrike">
                <a:solidFill>
                  <a:schemeClr val="lt1"/>
                </a:solidFill>
                <a:effectLst/>
                <a:uFillTx/>
                <a:latin typeface="Calibri"/>
                <a:ea typeface="DejaVu Sans"/>
              </a:rPr>
              <a:t>Aquellos valores más altos, son los que representan la mayor varianza de nuestros datos.</a:t>
            </a:r>
            <a:endParaRPr lang="es-ES" sz="1700" b="0" u="none" strike="noStrike">
              <a:solidFill>
                <a:srgbClr val="FFFFFF"/>
              </a:solidFill>
              <a:effectLst/>
              <a:uFillTx/>
              <a:latin typeface="Arial"/>
            </a:endParaRPr>
          </a:p>
          <a:p>
            <a:pPr marL="720" defTabSz="914400">
              <a:lnSpc>
                <a:spcPct val="90000"/>
              </a:lnSpc>
              <a:spcBef>
                <a:spcPts val="1001"/>
              </a:spcBef>
            </a:pPr>
            <a:r>
              <a:rPr lang="es-ES" sz="1700" b="0" u="none" strike="noStrike">
                <a:solidFill>
                  <a:schemeClr val="lt1"/>
                </a:solidFill>
                <a:effectLst/>
                <a:uFillTx/>
                <a:latin typeface="Calibri"/>
                <a:ea typeface="DejaVu Sans"/>
              </a:rPr>
              <a:t>Como estamos buscando variables que reduzcan la dimensionalidad, los autovalores de la matriz de covarianza se calculan para obtener patrones (autovalores) con su significado (autovectores). Los autovalores de la matriz de covarianza serán nuevas variables cuyo poder discriminante serán sus autovectores.</a:t>
            </a: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p:txBody>
      </p:sp>
      <p:pic>
        <p:nvPicPr>
          <p:cNvPr id="75" name="Imagen 12"/>
          <p:cNvPicPr/>
          <p:nvPr/>
        </p:nvPicPr>
        <p:blipFill>
          <a:blip r:embed="rId3"/>
          <a:stretch/>
        </p:blipFill>
        <p:spPr>
          <a:xfrm>
            <a:off x="7531920" y="3962160"/>
            <a:ext cx="4010760" cy="5310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CustomShape 1"/>
          <p:cNvSpPr/>
          <p:nvPr/>
        </p:nvSpPr>
        <p:spPr>
          <a:xfrm>
            <a:off x="471960" y="160200"/>
            <a:ext cx="4943160" cy="162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90000"/>
              </a:lnSpc>
            </a:pPr>
            <a:r>
              <a:rPr lang="es-ES" sz="4400" b="0" u="none" strike="noStrike">
                <a:solidFill>
                  <a:srgbClr val="FF0000"/>
                </a:solidFill>
                <a:effectLst/>
                <a:uFillTx/>
                <a:latin typeface="Calibri Light"/>
                <a:ea typeface="DejaVu Sans"/>
              </a:rPr>
              <a:t>¿Cómo funciona?</a:t>
            </a:r>
            <a:endParaRPr lang="es-ES" sz="4400" b="0" u="none" strike="noStrike">
              <a:solidFill>
                <a:srgbClr val="FFFFFF"/>
              </a:solidFill>
              <a:effectLst/>
              <a:uFillTx/>
              <a:latin typeface="Arial"/>
            </a:endParaRPr>
          </a:p>
        </p:txBody>
      </p:sp>
      <p:sp>
        <p:nvSpPr>
          <p:cNvPr id="77" name="AutoShape 2" descr="k"/>
          <p:cNvSpPr/>
          <p:nvPr/>
        </p:nvSpPr>
        <p:spPr>
          <a:xfrm>
            <a:off x="9080640" y="-144360"/>
            <a:ext cx="304560" cy="304560"/>
          </a:xfrm>
          <a:prstGeom prst="rect">
            <a:avLst/>
          </a:prstGeom>
          <a:noFill/>
          <a:ln w="0">
            <a:noFill/>
          </a:ln>
        </p:spPr>
        <p:style>
          <a:lnRef idx="0"/>
          <a:fillRef idx="0"/>
          <a:effectRef idx="0"/>
          <a:fontRef idx="minor"/>
        </p:style>
        <p:txBody>
          <a:bodyPr numCol="1" spcCol="0" anchor="t">
            <a:noAutofit/>
          </a:bodyPr>
          <a:p>
            <a:endParaRPr lang="es-ES" sz="1800" b="0" u="none" strike="noStrike">
              <a:solidFill>
                <a:schemeClr val="dk1"/>
              </a:solidFill>
              <a:effectLst/>
              <a:uFillTx/>
              <a:latin typeface="Arial"/>
            </a:endParaRPr>
          </a:p>
        </p:txBody>
      </p:sp>
      <p:sp>
        <p:nvSpPr>
          <p:cNvPr id="78" name="CuadroTexto 1"/>
          <p:cNvSpPr/>
          <p:nvPr/>
        </p:nvSpPr>
        <p:spPr>
          <a:xfrm>
            <a:off x="2819520" y="3429000"/>
            <a:ext cx="655272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ES" sz="1800" b="0" u="sng" strike="noStrike">
                <a:solidFill>
                  <a:schemeClr val="dk1"/>
                </a:solidFill>
                <a:effectLst/>
                <a:uFillTx/>
                <a:latin typeface="Arial"/>
                <a:ea typeface="DejaVu Sans"/>
                <a:hlinkClick r:id="rId1"/>
              </a:rPr>
              <a:t>https://setosa.io/ev/principal-component-analysis/</a:t>
            </a:r>
            <a:endParaRPr lang="es-ES" sz="1800" b="0" u="none" strike="noStrike">
              <a:solidFill>
                <a:srgbClr val="FFFFFF"/>
              </a:solidFill>
              <a:effectLst/>
              <a:uFillTx/>
              <a:latin typeface="Arial"/>
            </a:endParaRPr>
          </a:p>
          <a:p>
            <a:pPr algn="ctr" defTabSz="914400">
              <a:lnSpc>
                <a:spcPct val="100000"/>
              </a:lnSpc>
            </a:pPr>
            <a:endParaRPr lang="es-ES" sz="1800" b="0" u="none" strike="noStrike">
              <a:solidFill>
                <a:srgbClr val="FFFFFF"/>
              </a:solidFill>
              <a:effectLst/>
              <a:uFillTx/>
              <a:latin typeface="Arial"/>
            </a:endParaRPr>
          </a:p>
        </p:txBody>
      </p:sp>
      <p:sp>
        <p:nvSpPr>
          <p:cNvPr id="79" name="CustomShape 2"/>
          <p:cNvSpPr/>
          <p:nvPr/>
        </p:nvSpPr>
        <p:spPr>
          <a:xfrm>
            <a:off x="471960" y="1889640"/>
            <a:ext cx="10498320" cy="1440360"/>
          </a:xfrm>
          <a:prstGeom prst="rect">
            <a:avLst/>
          </a:prstGeom>
          <a:noFill/>
          <a:ln w="0">
            <a:noFill/>
          </a:ln>
        </p:spPr>
        <p:style>
          <a:lnRef idx="0"/>
          <a:fillRef idx="0"/>
          <a:effectRef idx="0"/>
          <a:fontRef idx="minor"/>
        </p:style>
        <p:txBody>
          <a:bodyPr lIns="90000" tIns="45000" rIns="90000" bIns="45000" anchor="t">
            <a:normAutofit/>
          </a:bodyPr>
          <a:p>
            <a:pPr marL="720" defTabSz="914400">
              <a:lnSpc>
                <a:spcPct val="90000"/>
              </a:lnSpc>
              <a:spcBef>
                <a:spcPts val="1001"/>
              </a:spcBef>
            </a:pPr>
            <a:r>
              <a:rPr lang="es-ES" sz="1700" b="0" u="none" strike="noStrike">
                <a:solidFill>
                  <a:schemeClr val="lt1"/>
                </a:solidFill>
                <a:effectLst/>
                <a:uFillTx/>
                <a:latin typeface="Calibri"/>
                <a:ea typeface="DejaVu Sans"/>
              </a:rPr>
              <a:t>Veamos en la siguiente demo cómo trabaja el PCA, de manera gráfica</a:t>
            </a: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CustomShape 1"/>
          <p:cNvSpPr/>
          <p:nvPr/>
        </p:nvSpPr>
        <p:spPr>
          <a:xfrm>
            <a:off x="328680" y="272880"/>
            <a:ext cx="5568840" cy="1550520"/>
          </a:xfrm>
          <a:prstGeom prst="rect">
            <a:avLst/>
          </a:prstGeom>
          <a:noFill/>
          <a:ln w="0">
            <a:noFill/>
          </a:ln>
        </p:spPr>
        <p:style>
          <a:lnRef idx="0"/>
          <a:fillRef idx="0"/>
          <a:effectRef idx="0"/>
          <a:fontRef idx="minor"/>
        </p:style>
        <p:txBody>
          <a:bodyPr lIns="90000" tIns="45000" rIns="90000" bIns="45000" anchor="ctr">
            <a:normAutofit/>
          </a:bodyPr>
          <a:p>
            <a:pPr defTabSz="914400">
              <a:lnSpc>
                <a:spcPct val="90000"/>
              </a:lnSpc>
            </a:pPr>
            <a:r>
              <a:rPr lang="es-ES" sz="4400" b="0" u="none" strike="noStrike">
                <a:solidFill>
                  <a:srgbClr val="FF0000"/>
                </a:solidFill>
                <a:effectLst/>
                <a:uFillTx/>
                <a:latin typeface="Calibri Light"/>
                <a:ea typeface="DejaVu Sans"/>
              </a:rPr>
              <a:t>A TENER EN CUENTA</a:t>
            </a:r>
            <a:endParaRPr lang="es-ES" sz="4400" b="0" u="none" strike="noStrike">
              <a:solidFill>
                <a:srgbClr val="FFFFFF"/>
              </a:solidFill>
              <a:effectLst/>
              <a:uFillTx/>
              <a:latin typeface="Arial"/>
            </a:endParaRPr>
          </a:p>
        </p:txBody>
      </p:sp>
      <p:sp>
        <p:nvSpPr>
          <p:cNvPr id="81" name="CustomShape 2"/>
          <p:cNvSpPr/>
          <p:nvPr/>
        </p:nvSpPr>
        <p:spPr>
          <a:xfrm>
            <a:off x="641520" y="2025720"/>
            <a:ext cx="5080320" cy="4422960"/>
          </a:xfrm>
          <a:prstGeom prst="rect">
            <a:avLst/>
          </a:prstGeom>
          <a:noFill/>
          <a:ln w="0">
            <a:noFill/>
          </a:ln>
        </p:spPr>
        <p:style>
          <a:lnRef idx="0"/>
          <a:fillRef idx="0"/>
          <a:effectRef idx="0"/>
          <a:fontRef idx="minor"/>
        </p:style>
        <p:txBody>
          <a:bodyPr lIns="90000" tIns="45000" rIns="90000" bIns="45000" anchor="t">
            <a:normAutofit/>
          </a:bodyPr>
          <a:p>
            <a:pPr marL="343800" indent="-343080" defTabSz="914400">
              <a:lnSpc>
                <a:spcPct val="90000"/>
              </a:lnSpc>
              <a:spcBef>
                <a:spcPts val="1001"/>
              </a:spcBef>
              <a:buClr>
                <a:srgbClr val="FFFFFF"/>
              </a:buClr>
              <a:buFont typeface="Arial"/>
              <a:buChar char="•"/>
            </a:pPr>
            <a:r>
              <a:rPr lang="es-ES" sz="1700" b="0" u="none" strike="noStrike">
                <a:solidFill>
                  <a:schemeClr val="lt1"/>
                </a:solidFill>
                <a:effectLst/>
                <a:uFillTx/>
                <a:latin typeface="Calibri"/>
                <a:ea typeface="DejaVu Sans"/>
              </a:rPr>
              <a:t>Escalado de variables: PCA identifica direcciones cuya varianza es mayor. Por ello deberemos tener los datos en la misma escala. </a:t>
            </a:r>
            <a:r>
              <a:rPr lang="es-ES" sz="1700" b="1" u="none" strike="noStrike">
                <a:solidFill>
                  <a:schemeClr val="lt1"/>
                </a:solidFill>
                <a:effectLst/>
                <a:uFillTx/>
                <a:latin typeface="Calibri"/>
                <a:ea typeface="DejaVu Sans"/>
              </a:rPr>
              <a:t>StandardScaler</a:t>
            </a:r>
            <a:r>
              <a:rPr lang="es-ES" sz="1700" b="0" u="none" strike="noStrike">
                <a:solidFill>
                  <a:schemeClr val="lt1"/>
                </a:solidFill>
                <a:effectLst/>
                <a:uFillTx/>
                <a:latin typeface="Calibri"/>
                <a:ea typeface="DejaVu Sans"/>
              </a:rPr>
              <a:t>.</a:t>
            </a: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Char char="•"/>
            </a:pPr>
            <a:r>
              <a:rPr lang="es-ES" sz="1700" b="0" u="none" strike="noStrike">
                <a:solidFill>
                  <a:schemeClr val="lt1"/>
                </a:solidFill>
                <a:effectLst/>
                <a:uFillTx/>
                <a:latin typeface="Calibri"/>
                <a:ea typeface="DejaVu Sans"/>
              </a:rPr>
              <a:t>Influencia de outliers: al trabajar con varianzas, PCA es altamente sensible a outliers. Es muy recomendable estudiar si los hay. </a:t>
            </a: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Char char="•"/>
            </a:pPr>
            <a:r>
              <a:rPr lang="es-ES" sz="1700" b="0" u="none" strike="noStrike">
                <a:solidFill>
                  <a:schemeClr val="lt1"/>
                </a:solidFill>
                <a:effectLst/>
                <a:uFillTx/>
                <a:latin typeface="Calibri"/>
                <a:ea typeface="DejaVu Sans"/>
              </a:rPr>
              <a:t>¿Cuánta información presente en el set de datos original se pierde al proyectar las observaciones en un espacio de menor dimensión? (Varianza explicada de cada componente principal).</a:t>
            </a:r>
            <a:endParaRPr lang="es-ES" sz="1700" b="0" u="none" strike="noStrike">
              <a:solidFill>
                <a:srgbClr val="FFFFFF"/>
              </a:solidFill>
              <a:effectLst/>
              <a:uFillTx/>
              <a:latin typeface="Arial"/>
            </a:endParaRPr>
          </a:p>
          <a:p>
            <a:pPr marL="343800" indent="-343080" defTabSz="914400">
              <a:lnSpc>
                <a:spcPct val="90000"/>
              </a:lnSpc>
              <a:spcBef>
                <a:spcPts val="1001"/>
              </a:spcBef>
              <a:buClr>
                <a:srgbClr val="FFFFFF"/>
              </a:buClr>
              <a:buFont typeface="Arial"/>
              <a:buChar char="•"/>
            </a:pPr>
            <a:r>
              <a:rPr lang="es-ES" sz="1700" b="0" u="none" strike="noStrike">
                <a:solidFill>
                  <a:schemeClr val="lt1"/>
                </a:solidFill>
                <a:effectLst/>
                <a:uFillTx/>
                <a:latin typeface="Calibri"/>
                <a:ea typeface="DejaVu Sans"/>
              </a:rPr>
              <a:t>Es de interés utilizar el número mínimo de componentes que resultan suficientes para explicar los datos.</a:t>
            </a: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p:txBody>
      </p:sp>
      <p:sp>
        <p:nvSpPr>
          <p:cNvPr id="82" name="CustomShape 3"/>
          <p:cNvSpPr/>
          <p:nvPr/>
        </p:nvSpPr>
        <p:spPr>
          <a:xfrm>
            <a:off x="6093000" y="0"/>
            <a:ext cx="6098040" cy="685692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p>
            <a:endParaRPr lang="es-ES" sz="1800" b="0" u="none" strike="noStrike">
              <a:solidFill>
                <a:srgbClr val="000000"/>
              </a:solidFill>
              <a:effectLst/>
              <a:uFillTx/>
              <a:latin typeface="Arial"/>
            </a:endParaRPr>
          </a:p>
        </p:txBody>
      </p:sp>
      <p:sp>
        <p:nvSpPr>
          <p:cNvPr id="83" name="CustomShape 4"/>
          <p:cNvSpPr/>
          <p:nvPr/>
        </p:nvSpPr>
        <p:spPr>
          <a:xfrm>
            <a:off x="6382080" y="557640"/>
            <a:ext cx="5324760" cy="6188040"/>
          </a:xfrm>
          <a:prstGeom prst="roundRect">
            <a:avLst>
              <a:gd name="adj" fmla="val 0"/>
            </a:avLst>
          </a:prstGeom>
          <a:solidFill>
            <a:srgbClr val="FFFFFF"/>
          </a:solidFill>
          <a:ln w="9525">
            <a:solidFill>
              <a:srgbClr val="C8CACA"/>
            </a:solidFill>
          </a:ln>
          <a:effectLst>
            <a:outerShdw algn="t" blurRad="57240" dir="5400000" dist="19080" rotWithShape="0">
              <a:srgbClr val="000000">
                <a:alpha val="6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p>
            <a:endParaRPr lang="es-ES" sz="1800" b="0" u="none" strike="noStrike">
              <a:solidFill>
                <a:srgbClr val="000000"/>
              </a:solidFill>
              <a:effectLst/>
              <a:uFillTx/>
              <a:latin typeface="Arial"/>
            </a:endParaRPr>
          </a:p>
        </p:txBody>
      </p:sp>
      <p:sp>
        <p:nvSpPr>
          <p:cNvPr id="84" name="AutoShape 2" descr="k"/>
          <p:cNvSpPr/>
          <p:nvPr/>
        </p:nvSpPr>
        <p:spPr>
          <a:xfrm>
            <a:off x="9080640" y="-144360"/>
            <a:ext cx="304560" cy="304560"/>
          </a:xfrm>
          <a:prstGeom prst="rect">
            <a:avLst/>
          </a:prstGeom>
          <a:noFill/>
          <a:ln w="0">
            <a:noFill/>
          </a:ln>
        </p:spPr>
        <p:style>
          <a:lnRef idx="0"/>
          <a:fillRef idx="0"/>
          <a:effectRef idx="0"/>
          <a:fontRef idx="minor"/>
        </p:style>
        <p:txBody>
          <a:bodyPr numCol="1" spcCol="0" anchor="t">
            <a:noAutofit/>
          </a:bodyPr>
          <a:p>
            <a:endParaRPr lang="es-ES" sz="1800" b="0" u="none" strike="noStrike">
              <a:solidFill>
                <a:schemeClr val="dk1"/>
              </a:solidFill>
              <a:effectLst/>
              <a:uFillTx/>
              <a:latin typeface="Arial"/>
            </a:endParaRPr>
          </a:p>
        </p:txBody>
      </p:sp>
      <p:pic>
        <p:nvPicPr>
          <p:cNvPr id="85" name="Imagen 2"/>
          <p:cNvPicPr/>
          <p:nvPr/>
        </p:nvPicPr>
        <p:blipFill>
          <a:blip r:embed="rId1"/>
          <a:stretch/>
        </p:blipFill>
        <p:spPr>
          <a:xfrm>
            <a:off x="6719760" y="694800"/>
            <a:ext cx="2360520" cy="2132280"/>
          </a:xfrm>
          <a:prstGeom prst="rect">
            <a:avLst/>
          </a:prstGeom>
          <a:noFill/>
          <a:ln w="0">
            <a:noFill/>
          </a:ln>
        </p:spPr>
      </p:pic>
      <p:pic>
        <p:nvPicPr>
          <p:cNvPr id="86" name="Picture 2"/>
          <p:cNvPicPr/>
          <p:nvPr/>
        </p:nvPicPr>
        <p:blipFill>
          <a:blip r:embed="rId2"/>
          <a:stretch/>
        </p:blipFill>
        <p:spPr>
          <a:xfrm>
            <a:off x="6463080" y="3122640"/>
            <a:ext cx="5203800" cy="33282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CustomShape 1"/>
          <p:cNvSpPr/>
          <p:nvPr/>
        </p:nvSpPr>
        <p:spPr>
          <a:xfrm>
            <a:off x="471960" y="160200"/>
            <a:ext cx="4943160" cy="162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90000"/>
              </a:lnSpc>
            </a:pPr>
            <a:r>
              <a:rPr lang="es-ES" sz="4400" b="0" u="none" strike="noStrike">
                <a:solidFill>
                  <a:srgbClr val="FF0000"/>
                </a:solidFill>
                <a:effectLst/>
                <a:uFillTx/>
                <a:latin typeface="Calibri Light"/>
                <a:ea typeface="DejaVu Sans"/>
              </a:rPr>
              <a:t>Bibliografía</a:t>
            </a:r>
            <a:endParaRPr lang="es-ES" sz="4400" b="0" u="none" strike="noStrike">
              <a:solidFill>
                <a:srgbClr val="FFFFFF"/>
              </a:solidFill>
              <a:effectLst/>
              <a:uFillTx/>
              <a:latin typeface="Arial"/>
            </a:endParaRPr>
          </a:p>
        </p:txBody>
      </p:sp>
      <p:sp>
        <p:nvSpPr>
          <p:cNvPr id="88" name="AutoShape 2" descr="k"/>
          <p:cNvSpPr/>
          <p:nvPr/>
        </p:nvSpPr>
        <p:spPr>
          <a:xfrm>
            <a:off x="9080640" y="-144360"/>
            <a:ext cx="304560" cy="304560"/>
          </a:xfrm>
          <a:prstGeom prst="rect">
            <a:avLst/>
          </a:prstGeom>
          <a:noFill/>
          <a:ln w="0">
            <a:noFill/>
          </a:ln>
        </p:spPr>
        <p:style>
          <a:lnRef idx="0"/>
          <a:fillRef idx="0"/>
          <a:effectRef idx="0"/>
          <a:fontRef idx="minor"/>
        </p:style>
        <p:txBody>
          <a:bodyPr numCol="1" spcCol="0" anchor="t">
            <a:noAutofit/>
          </a:bodyPr>
          <a:p>
            <a:endParaRPr lang="es-ES" sz="1800" b="0" u="none" strike="noStrike">
              <a:solidFill>
                <a:schemeClr val="dk1"/>
              </a:solidFill>
              <a:effectLst/>
              <a:uFillTx/>
              <a:latin typeface="Arial"/>
            </a:endParaRPr>
          </a:p>
        </p:txBody>
      </p:sp>
      <p:sp>
        <p:nvSpPr>
          <p:cNvPr id="89" name="CustomShape 2"/>
          <p:cNvSpPr/>
          <p:nvPr/>
        </p:nvSpPr>
        <p:spPr>
          <a:xfrm>
            <a:off x="471960" y="1889640"/>
            <a:ext cx="10498320" cy="3186000"/>
          </a:xfrm>
          <a:prstGeom prst="rect">
            <a:avLst/>
          </a:prstGeom>
          <a:noFill/>
          <a:ln w="0">
            <a:noFill/>
          </a:ln>
        </p:spPr>
        <p:style>
          <a:lnRef idx="0"/>
          <a:fillRef idx="0"/>
          <a:effectRef idx="0"/>
          <a:fontRef idx="minor"/>
        </p:style>
        <p:txBody>
          <a:bodyPr lIns="90000" tIns="45000" rIns="90000" bIns="45000" anchor="t">
            <a:normAutofit/>
          </a:bodyPr>
          <a:p>
            <a:pPr marL="720" defTabSz="914400">
              <a:lnSpc>
                <a:spcPct val="90000"/>
              </a:lnSpc>
              <a:spcBef>
                <a:spcPts val="1001"/>
              </a:spcBef>
            </a:pPr>
            <a:r>
              <a:rPr lang="es-ES" sz="1700" b="0" u="sng" strike="noStrike">
                <a:solidFill>
                  <a:schemeClr val="lt1"/>
                </a:solidFill>
                <a:effectLst/>
                <a:uFillTx/>
                <a:latin typeface="Calibri"/>
                <a:ea typeface="DejaVu Sans"/>
                <a:hlinkClick r:id="rId1"/>
              </a:rPr>
              <a:t>https://learning.oreilly.com/library/view/hands-on-machine-learning/9781492032632/ch08.html#idm45022161212088</a:t>
            </a:r>
            <a:endParaRPr lang="es-ES" sz="1700" b="0" u="none" strike="noStrike">
              <a:solidFill>
                <a:srgbClr val="FFFFFF"/>
              </a:solidFill>
              <a:effectLst/>
              <a:uFillTx/>
              <a:latin typeface="Arial"/>
            </a:endParaRPr>
          </a:p>
          <a:p>
            <a:pPr marL="720" defTabSz="914400">
              <a:lnSpc>
                <a:spcPct val="90000"/>
              </a:lnSpc>
              <a:spcBef>
                <a:spcPts val="1001"/>
              </a:spcBef>
            </a:pPr>
            <a:endParaRPr lang="es-ES" sz="1700" b="0" u="none" strike="noStrike">
              <a:solidFill>
                <a:srgbClr val="FFFFFF"/>
              </a:solidFill>
              <a:effectLst/>
              <a:uFillTx/>
              <a:latin typeface="Arial"/>
            </a:endParaRPr>
          </a:p>
          <a:p>
            <a:pPr marL="720" defTabSz="914400">
              <a:lnSpc>
                <a:spcPct val="90000"/>
              </a:lnSpc>
              <a:spcBef>
                <a:spcPts val="1001"/>
              </a:spcBef>
            </a:pPr>
            <a:r>
              <a:rPr lang="es-ES" sz="1700" b="0" u="sng" strike="noStrike">
                <a:solidFill>
                  <a:schemeClr val="lt1"/>
                </a:solidFill>
                <a:effectLst/>
                <a:uFillTx/>
                <a:latin typeface="Calibri"/>
                <a:ea typeface="DejaVu Sans"/>
                <a:hlinkClick r:id="rId2"/>
              </a:rPr>
              <a:t>https://medium.com/@kyasar.mail/pca-principal-component-analysis-729068e28ec8</a:t>
            </a:r>
            <a:endParaRPr lang="es-ES" sz="1700" b="0" u="none" strike="noStrike">
              <a:solidFill>
                <a:srgbClr val="FFFFFF"/>
              </a:solidFill>
              <a:effectLst/>
              <a:uFillTx/>
              <a:latin typeface="Arial"/>
            </a:endParaRPr>
          </a:p>
          <a:p>
            <a:pPr marL="720" defTabSz="914400">
              <a:lnSpc>
                <a:spcPct val="90000"/>
              </a:lnSpc>
              <a:spcBef>
                <a:spcPts val="1001"/>
              </a:spcBef>
            </a:pPr>
            <a:endParaRPr lang="es-ES" sz="1700" b="0" u="none" strike="noStrike">
              <a:solidFill>
                <a:srgbClr val="FFFFFF"/>
              </a:solidFill>
              <a:effectLst/>
              <a:uFillTx/>
              <a:latin typeface="Arial"/>
            </a:endParaRPr>
          </a:p>
          <a:p>
            <a:pPr marL="720" defTabSz="914400">
              <a:lnSpc>
                <a:spcPct val="90000"/>
              </a:lnSpc>
              <a:spcBef>
                <a:spcPts val="1001"/>
              </a:spcBef>
            </a:pPr>
            <a:r>
              <a:rPr lang="es-ES" sz="1700" b="0" u="sng" strike="noStrike">
                <a:solidFill>
                  <a:schemeClr val="lt1"/>
                </a:solidFill>
                <a:effectLst/>
                <a:uFillTx/>
                <a:latin typeface="Calibri"/>
                <a:ea typeface="DejaVu Sans"/>
                <a:hlinkClick r:id="rId3"/>
              </a:rPr>
              <a:t>https://setosa.io/ev/principal-component-analysis/</a:t>
            </a:r>
            <a:endParaRPr lang="es-ES" sz="1700" b="0" u="none" strike="noStrike">
              <a:solidFill>
                <a:srgbClr val="FFFFFF"/>
              </a:solidFill>
              <a:effectLst/>
              <a:uFillTx/>
              <a:latin typeface="Arial"/>
            </a:endParaRPr>
          </a:p>
          <a:p>
            <a:pPr marL="720" defTabSz="914400">
              <a:lnSpc>
                <a:spcPct val="90000"/>
              </a:lnSpc>
              <a:spcBef>
                <a:spcPts val="1001"/>
              </a:spcBef>
            </a:pPr>
            <a:endParaRPr lang="es-ES" sz="1700" b="0" u="none" strike="noStrike">
              <a:solidFill>
                <a:srgbClr val="FFFFFF"/>
              </a:solidFill>
              <a:effectLst/>
              <a:uFillTx/>
              <a:latin typeface="Arial"/>
            </a:endParaRPr>
          </a:p>
          <a:p>
            <a:pPr marL="720" defTabSz="914400">
              <a:lnSpc>
                <a:spcPct val="90000"/>
              </a:lnSpc>
              <a:spcBef>
                <a:spcPts val="1001"/>
              </a:spcBef>
            </a:pP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5309</TotalTime>
  <Application>LibreOffice/26.2.2.2$Windows_X86_64 LibreOffice_project/1f77d10d6938fd34972958f64b2bcfa54f8b1ba5</Application>
  <AppVersion>15.0000</AppVersion>
  <Words>738</Words>
  <Paragraphs>72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2020-08-31T20:14:59Z</dcterms:created>
  <dc:creator>Gabriel VT</dc:creator>
  <dc:description/>
  <dc:language>es-ES</dc:language>
  <cp:lastModifiedBy/>
  <dcterms:modified xsi:type="dcterms:W3CDTF">2026-05-04T14:49:21Z</dcterms:modified>
  <cp:revision>76</cp:revision>
  <dc:subject/>
  <dc:title>Machine Learning   Regresión Lineal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LinksUpToDate">
    <vt:bool>0</vt:bool>
  </property>
  <property fmtid="{D5CDD505-2E9C-101B-9397-08002B2CF9AE}" pid="5" name="MMClips">
    <vt:i4>0</vt:i4>
  </property>
  <property fmtid="{D5CDD505-2E9C-101B-9397-08002B2CF9AE}" pid="6" name="Notes">
    <vt:i4>12</vt:i4>
  </property>
  <property fmtid="{D5CDD505-2E9C-101B-9397-08002B2CF9AE}" pid="7" name="PresentationFormat">
    <vt:lpwstr>Panorámica</vt:lpwstr>
  </property>
  <property fmtid="{D5CDD505-2E9C-101B-9397-08002B2CF9AE}" pid="8" name="ScaleCrop">
    <vt:bool>0</vt:bool>
  </property>
  <property fmtid="{D5CDD505-2E9C-101B-9397-08002B2CF9AE}" pid="9" name="ShareDoc">
    <vt:bool>0</vt:bool>
  </property>
  <property fmtid="{D5CDD505-2E9C-101B-9397-08002B2CF9AE}" pid="10" name="Slides">
    <vt:i4>12</vt:i4>
  </property>
</Properties>
</file>
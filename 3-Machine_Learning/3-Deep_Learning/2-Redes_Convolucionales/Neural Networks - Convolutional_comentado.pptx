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media/image6.gif" ContentType="image/gif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comments/comment1.xml" ContentType="application/vnd.openxmlformats-officedocument.presentationml.comment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</p:presentation>
</file>

<file path=ppt/commentAuthors.xml><?xml version="1.0" encoding="utf-8"?>
<p:cmAuthorLst xmlns:p="http://schemas.openxmlformats.org/presentationml/2006/main">
  <p:cmAuthor id="0" name="" initials="" lastIdx="1" clrIdx="0"/>
</p:cmAuthorLst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<Relationship Id="rId17" Type="http://schemas.openxmlformats.org/officeDocument/2006/relationships/commentAuthors" Target="commentAuthors.xml"/>
</Relationships>
</file>

<file path=ppt/comments/comment1.xml><?xml version="1.0" encoding="utf-8"?>
<p:cmLst xmlns:p="http://schemas.openxmlformats.org/presentationml/2006/main">
  <p:cm authorId="0" dt="2026-05-06T11:37:00.000000000" idx="1">
    <p:pos x="0" y="0"/>
    <p:text>Tecnica habitual hoy en dia, aunque esta cambiando</p:text>
  </p:cm>
</p:cmLst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desplazar la diapositiva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&lt;cabecera&gt;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23277CD-8647-48B1-A81A-4877DF329DDC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A0E5506-8DB3-446C-904C-6603EDBA2C1B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3BBA681-4B90-4E23-A6B4-6582ADBFEC66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456952C-EC27-4691-A4DC-F7D06BBD40E1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2B65C18-9562-4A3C-823D-3E29A6DB66F0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CFFEDD4-7DD1-4700-84AA-5A037099D1C4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B69BB66-7EE6-441C-A235-4AADB89BD4AD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33FFF20-80B8-4199-8680-BFBC2D663BBF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069B3E1-2518-45DD-B682-DC2BF9D13548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B418C23-3AD7-4E44-A020-C1EB10333ECA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2EED9D6-E812-4844-9F77-FAE854AD4C5E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65715AD-E8E0-4F7F-BBE4-F435FC8FA2C8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70893B4-FEA5-4F41-8ADE-65F0D640AF06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>
            <a:lvl1pPr indent="0" algn="l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FFFDA28-80D0-4A36-BBD3-71EEDD6F5D28}" type="slidenum">
              <a: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>
            <a:lvl1pPr indent="0" algn="l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 rot="5400000">
            <a:off x="3920400" y="-1256400"/>
            <a:ext cx="4350960" cy="10515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CF72E95-D1BD-4ED9-94D2-6A4D2CF25077}" type="slidenum">
              <a: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 rot="5400000">
            <a:off x="7133400" y="1956240"/>
            <a:ext cx="5811480" cy="262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 rot="5400000">
            <a:off x="1800000" y="-596160"/>
            <a:ext cx="5811480" cy="773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6B65C0E-C9D8-4026-92DF-D6AC65521268}" type="slidenum">
              <a: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s-ES" sz="6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7CFAEC9-028E-42E0-9046-BFE4228BD983}" type="slidenum">
              <a: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>
            <a:lvl1pPr indent="0" algn="l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C5C07F0-BB97-49D0-9FC8-EADB269C7F0A}" type="slidenum">
              <a: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s-ES" sz="6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8D2C7EF-7814-4B51-B513-0C7EDDBF5A70}" type="slidenum">
              <a: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>
            <a:lvl1pPr indent="0" algn="l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72EC5FC-1382-4CF5-B7D5-89E407EEE17A}" type="slidenum">
              <a: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>
            <a:lvl1pPr indent="0" algn="l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9B64675-D9E4-40CD-AA14-5E95C6031D1B}" type="slidenum">
              <a: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F5F3975-C449-462A-8534-4A97AD5C48C0}" type="slidenum">
              <a: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3164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064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8088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5568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556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556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556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0CE065C-F0A2-4F07-B3C6-40CBCB91697F}" type="slidenum">
              <a: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3426F07-035C-4DBA-B060-30509392AE41}" type="slidenum">
              <a:rPr lang="es-E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es-E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hyperlink" Target="https://setosa.io/ev/image-kernels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2276640" y="2330280"/>
            <a:ext cx="7638480" cy="2197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Neural Networks - Convolutional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95;ga264c5d9f9_0_3"/>
          <p:cNvPicPr/>
          <p:nvPr/>
        </p:nvPicPr>
        <p:blipFill>
          <a:blip r:embed="rId1"/>
          <a:stretch/>
        </p:blipFill>
        <p:spPr>
          <a:xfrm>
            <a:off x="2559600" y="1897920"/>
            <a:ext cx="7072200" cy="397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25240" y="443520"/>
            <a:ext cx="10556640" cy="71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Dos dimensiones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102;gad60638395_0_0"/>
          <p:cNvSpPr/>
          <p:nvPr/>
        </p:nvSpPr>
        <p:spPr>
          <a:xfrm>
            <a:off x="598680" y="1294200"/>
            <a:ext cx="10704960" cy="143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Los pixels entran como un vector, en una red neuronal normal. Independiza los pixels, y perderemos la relación 2D, formas, estructuras y patrones.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Las redes convolucionales se crean para sacarle partido  a la estructura espacial 2D de una imagen.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" name="Google Shape;103;gad60638395_0_0"/>
          <p:cNvPicPr/>
          <p:nvPr/>
        </p:nvPicPr>
        <p:blipFill>
          <a:blip r:embed="rId1"/>
          <a:stretch/>
        </p:blipFill>
        <p:spPr>
          <a:xfrm>
            <a:off x="6300000" y="3094200"/>
            <a:ext cx="3511800" cy="286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Google Shape;104;gad60638395_0_0"/>
          <p:cNvSpPr/>
          <p:nvPr/>
        </p:nvSpPr>
        <p:spPr>
          <a:xfrm>
            <a:off x="3791160" y="4401000"/>
            <a:ext cx="2232720" cy="25488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63720" bIns="6372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Google Shape;105;gad60638395_0_0"/>
          <p:cNvPicPr/>
          <p:nvPr/>
        </p:nvPicPr>
        <p:blipFill>
          <a:blip r:embed="rId2"/>
          <a:stretch/>
        </p:blipFill>
        <p:spPr>
          <a:xfrm>
            <a:off x="525240" y="2886840"/>
            <a:ext cx="2918520" cy="164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Google Shape;105;gad60638395_0_0"/>
          <p:cNvPicPr/>
          <p:nvPr/>
        </p:nvPicPr>
        <p:blipFill>
          <a:blip r:embed="rId3"/>
          <a:srcRect l="0" t="0" r="49047" b="45404"/>
          <a:stretch/>
        </p:blipFill>
        <p:spPr>
          <a:xfrm>
            <a:off x="443880" y="5726520"/>
            <a:ext cx="1486800" cy="89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Google Shape;105;gad60638395_0_0"/>
          <p:cNvPicPr/>
          <p:nvPr/>
        </p:nvPicPr>
        <p:blipFill>
          <a:blip r:embed="rId4"/>
          <a:srcRect l="49047" t="0" r="0" b="45404"/>
          <a:stretch/>
        </p:blipFill>
        <p:spPr>
          <a:xfrm>
            <a:off x="2152800" y="4688280"/>
            <a:ext cx="1486800" cy="89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Google Shape;105;gad60638395_0_0"/>
          <p:cNvPicPr/>
          <p:nvPr/>
        </p:nvPicPr>
        <p:blipFill>
          <a:blip r:embed="rId5"/>
          <a:srcRect l="0" t="45404" r="43600" b="0"/>
          <a:stretch/>
        </p:blipFill>
        <p:spPr>
          <a:xfrm>
            <a:off x="2147040" y="5726520"/>
            <a:ext cx="1486800" cy="880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Google Shape;105;gad60638395_0_0"/>
          <p:cNvPicPr/>
          <p:nvPr/>
        </p:nvPicPr>
        <p:blipFill>
          <a:blip r:embed="rId6"/>
          <a:srcRect l="49047" t="45404" r="0" b="0"/>
          <a:stretch/>
        </p:blipFill>
        <p:spPr>
          <a:xfrm>
            <a:off x="448200" y="4688280"/>
            <a:ext cx="1486800" cy="896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25240" y="443520"/>
            <a:ext cx="10556640" cy="71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Imágenes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112;gad60638395_0_8"/>
          <p:cNvSpPr/>
          <p:nvPr/>
        </p:nvSpPr>
        <p:spPr>
          <a:xfrm>
            <a:off x="598680" y="1294200"/>
            <a:ext cx="10704960" cy="33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Para realizar predicciones sobre datos espaciales lo mejor es acudir a RRNN, ya que el espacio dimensional es muy grande (todos los pixels), y con técnicas como las convoluciones y el pooling, podremos trabajar con estos datos.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19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¿Cómo interpretamos el problema?</a:t>
            </a:r>
            <a:endParaRPr lang="es-E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Cada pixel es una entrada del algoritmo. Una neurona de entrada. Ahora manejamos el problema en 2D.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Después de la entrada habrá una serie de hidden layers mediante las que transformaremos y reduciremos la dimensionalidad de la entrada. En esta etapa se aplica lo que se denomina convoluciones en la imagen, que no son más que transformaciones.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Después habrá una serie de capas de neuronas con las que entrenaremos el output de las convoluciones.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Output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" name="Google Shape;113;gad60638395_0_8"/>
          <p:cNvPicPr/>
          <p:nvPr/>
        </p:nvPicPr>
        <p:blipFill>
          <a:blip r:embed="rId1"/>
          <a:stretch/>
        </p:blipFill>
        <p:spPr>
          <a:xfrm>
            <a:off x="2607120" y="4624920"/>
            <a:ext cx="6977160" cy="1864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25240" y="443520"/>
            <a:ext cx="10556640" cy="71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Input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20;ga2de8da6d3_0_15"/>
          <p:cNvSpPr/>
          <p:nvPr/>
        </p:nvSpPr>
        <p:spPr>
          <a:xfrm>
            <a:off x="598680" y="1294200"/>
            <a:ext cx="10704960" cy="235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Tendremos que poner los datos en el formato de entrada de la red, que será un tensor, un array de numpy compuesto por la altura x anchura de las imágenes x los canales. Los canales podrían ser R,G,B o escala de grises.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Normalizar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Otro punto importante es normalizar los datos para mejorar los tiempos de entrenamiento y el performance del modelo. Dependerá de la codificación de la imagen, pero lo habitual es que los canales de colores vayan de 0 a 255.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" name="Google Shape;121;ga2de8da6d3_0_15"/>
          <p:cNvPicPr/>
          <p:nvPr/>
        </p:nvPicPr>
        <p:blipFill>
          <a:blip r:embed="rId1"/>
          <a:stretch/>
        </p:blipFill>
        <p:spPr>
          <a:xfrm>
            <a:off x="1994400" y="3932280"/>
            <a:ext cx="7618320" cy="1864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25240" y="443520"/>
            <a:ext cx="10556640" cy="71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Convolutional layer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28;ga2de8da6d3_0_24"/>
          <p:cNvSpPr/>
          <p:nvPr/>
        </p:nvSpPr>
        <p:spPr>
          <a:xfrm>
            <a:off x="598680" y="1294200"/>
            <a:ext cx="1070496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¿Qué es una convolución? preprocesado o transformación que se aplica a la imagen para destacar las características predictivas de la misma. Se trata de aplicarle un filtro a la imagen.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4" name="Google Shape;129;ga2de8da6d3_0_24"/>
          <p:cNvPicPr/>
          <p:nvPr/>
        </p:nvPicPr>
        <p:blipFill>
          <a:blip r:embed="rId1"/>
          <a:stretch/>
        </p:blipFill>
        <p:spPr>
          <a:xfrm>
            <a:off x="5450040" y="2711880"/>
            <a:ext cx="5466960" cy="228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Google Shape;130;ga2de8da6d3_0_24"/>
          <p:cNvSpPr/>
          <p:nvPr/>
        </p:nvSpPr>
        <p:spPr>
          <a:xfrm>
            <a:off x="5723280" y="5360040"/>
            <a:ext cx="51116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ES" sz="15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En </a:t>
            </a:r>
            <a:r>
              <a:rPr lang="es-ES" sz="1500" b="0" u="sng" strike="noStrike">
                <a:solidFill>
                  <a:schemeClr val="hlink"/>
                </a:solidFill>
                <a:effectLst/>
                <a:uFillTx/>
                <a:latin typeface="Calibri"/>
                <a:ea typeface="Calibri"/>
                <a:hlinkClick r:id="rId2"/>
              </a:rPr>
              <a:t>esta página</a:t>
            </a:r>
            <a:r>
              <a:rPr lang="es-ES" sz="15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podrás jugar con diferentes convoluciones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31;ga2de8da6d3_0_24"/>
          <p:cNvSpPr/>
          <p:nvPr/>
        </p:nvSpPr>
        <p:spPr>
          <a:xfrm>
            <a:off x="598680" y="2285280"/>
            <a:ext cx="4233600" cy="345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Una convolución se define por: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es-ES" sz="18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Matriz o kernel</a:t>
            </a:r>
            <a:r>
              <a:rPr lang="es-E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. Tendrá que ser de dimensiones menor a la imagen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es-ES" sz="18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Padding</a:t>
            </a:r>
            <a:r>
              <a:rPr lang="es-E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: márgenes por fuera de la imagen. Se usa para que el centro del kernel coincida con el pixel en cuestión.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es-ES" sz="18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Stride</a:t>
            </a:r>
            <a:r>
              <a:rPr lang="es-E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: saltos de la matriz entre un pixel y otro.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25240" y="443520"/>
            <a:ext cx="10556640" cy="71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Convolutional layer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Picture 2"/>
          <p:cNvPicPr/>
          <p:nvPr/>
        </p:nvPicPr>
        <p:blipFill>
          <a:blip r:embed="rId1"/>
          <a:stretch/>
        </p:blipFill>
        <p:spPr>
          <a:xfrm>
            <a:off x="1727640" y="1500120"/>
            <a:ext cx="8736480" cy="4914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25240" y="443520"/>
            <a:ext cx="10556640" cy="71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¿Qué filtro defino?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38;gad60638395_0_18"/>
          <p:cNvSpPr/>
          <p:nvPr/>
        </p:nvSpPr>
        <p:spPr>
          <a:xfrm>
            <a:off x="598680" y="1294200"/>
            <a:ext cx="1070496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No lo decicimos nosotros. Probamos varios filtros aleatorios. La red los elige aleatoriamente, y crea features nuevas. Se va entrenando la red con esas features, ajustando el tipo de filtro que mejor prediga.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1" name="Google Shape;139;gad60638395_0_18"/>
          <p:cNvPicPr/>
          <p:nvPr/>
        </p:nvPicPr>
        <p:blipFill>
          <a:blip r:embed="rId1"/>
          <a:stretch/>
        </p:blipFill>
        <p:spPr>
          <a:xfrm>
            <a:off x="1378800" y="2624040"/>
            <a:ext cx="3721320" cy="329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Google Shape;140;gad60638395_0_18"/>
          <p:cNvPicPr/>
          <p:nvPr/>
        </p:nvPicPr>
        <p:blipFill>
          <a:blip r:embed="rId2"/>
          <a:stretch/>
        </p:blipFill>
        <p:spPr>
          <a:xfrm>
            <a:off x="6903000" y="2169000"/>
            <a:ext cx="2816280" cy="4551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525240" y="443520"/>
            <a:ext cx="10556640" cy="71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Pooling layers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147;ga2de8da6d3_0_7"/>
          <p:cNvSpPr/>
          <p:nvPr/>
        </p:nvSpPr>
        <p:spPr>
          <a:xfrm>
            <a:off x="598680" y="1294200"/>
            <a:ext cx="10704960" cy="25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Las pooling layers se encargan de realizar un submuestreo de sus inputs, de cara a reducir la dimensionalidad, el uso de memoria y el número de parámetros.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Estas capas funcionan como agregadoras, normalmente con el máximo de una matriz. En el siguiente ejemplo calcula el máximo dentro de una matriz de 2x2.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5" name="Google Shape;148;ga2de8da6d3_0_7"/>
          <p:cNvPicPr/>
          <p:nvPr/>
        </p:nvPicPr>
        <p:blipFill>
          <a:blip r:embed="rId1"/>
          <a:stretch/>
        </p:blipFill>
        <p:spPr>
          <a:xfrm>
            <a:off x="2584440" y="3505680"/>
            <a:ext cx="6438240" cy="267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25240" y="443520"/>
            <a:ext cx="10556640" cy="71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Fully connected layers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55;gadc851a12d_0_3"/>
          <p:cNvSpPr/>
          <p:nvPr/>
        </p:nvSpPr>
        <p:spPr>
          <a:xfrm>
            <a:off x="598680" y="1294200"/>
            <a:ext cx="10704960" cy="25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Tras una serie de capas convolucionales, las features se aplanan y entran como un vector 1D a una  fully connected layers, que son las capas de neuronas que ya conocemos.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8" name="Google Shape;156;gadc851a12d_0_3"/>
          <p:cNvPicPr/>
          <p:nvPr/>
        </p:nvPicPr>
        <p:blipFill>
          <a:blip r:embed="rId1"/>
          <a:stretch/>
        </p:blipFill>
        <p:spPr>
          <a:xfrm>
            <a:off x="3391920" y="2341440"/>
            <a:ext cx="4823280" cy="4078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25240" y="443520"/>
            <a:ext cx="10556640" cy="71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Convolutional arquitecture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163;ga2de8da6d3_0_33"/>
          <p:cNvSpPr/>
          <p:nvPr/>
        </p:nvSpPr>
        <p:spPr>
          <a:xfrm>
            <a:off x="598680" y="1294200"/>
            <a:ext cx="10704960" cy="25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convolutional + max pooling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La capa convolucional detecta features locales interesantes, mientras que la max pooling focaliza la atención en esas features, reduciendo la dimensionalidad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1" name="Google Shape;164;ga2de8da6d3_0_33"/>
          <p:cNvPicPr/>
          <p:nvPr/>
        </p:nvPicPr>
        <p:blipFill>
          <a:blip r:embed="rId1"/>
          <a:stretch/>
        </p:blipFill>
        <p:spPr>
          <a:xfrm>
            <a:off x="1994760" y="3102120"/>
            <a:ext cx="7912800" cy="267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265280" y="2766240"/>
            <a:ext cx="3661200" cy="1325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Preguntas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921</TotalTime>
  <Application>LibreOffice/26.2.2.2$Windows_X86_64 LibreOffice_project/1f77d10d6938fd34972958f64b2bcfa54f8b1ba5</Application>
  <AppVersion>15.0000</AppVersion>
  <Words>560</Words>
  <Paragraphs>50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2020-05-12T19:48:30Z</dcterms:created>
  <dc:creator>Gabriel VT</dc:creator>
  <dc:description/>
  <dc:language>es-ES</dc:language>
  <cp:lastModifiedBy/>
  <dcterms:modified xsi:type="dcterms:W3CDTF">2026-05-06T11:56:51Z</dcterms:modified>
  <cp:revision>5</cp:revision>
  <dc:subject/>
  <dc:title>Neural Networks - Convolutional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Widescreen</vt:lpwstr>
  </property>
  <property fmtid="{D5CDD505-2E9C-101B-9397-08002B2CF9AE}" pid="4" name="Slides">
    <vt:i4>12</vt:i4>
  </property>
</Properties>
</file>
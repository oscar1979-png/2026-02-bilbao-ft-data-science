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3.xml" ContentType="application/vnd.openxmlformats-officedocument.theme+xml"/>
  <Override PartName="/ppt/theme/theme1.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9.xml" ContentType="application/vnd.openxmlformats-officedocument.presentationml.slide+xml"/>
  <Override PartName="/ppt/comments/comment2.xml" ContentType="application/vnd.openxmlformats-officedocument.presentationml.comments+xml"/>
  <Override PartName="/ppt/comments/comment10.xml" ContentType="application/vnd.openxmlformats-officedocument.presentationml.comments+xml"/>
  <Override PartName="/ppt/comments/comment6.xml" ContentType="application/vnd.openxmlformats-officedocument.presentationml.comment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commentAuthors.xml" ContentType="application/vnd.openxmlformats-officedocument.presentationml.commentAuthor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Lst>
  <p:sldSz cx="12192000" cy="6858000"/>
  <p:notesSz cx="6858000" cy="9144000"/>
</p:presentation>
</file>

<file path=ppt/commentAuthors.xml><?xml version="1.0" encoding="utf-8"?>
<p:cmAuthorLst xmlns:p="http://schemas.openxmlformats.org/presentationml/2006/main">
  <p:cmAuthor id="0" name="" initials="" lastIdx="3" clrIdx="0"/>
</p:cmAuthorLst>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presProps" Target="presProps.xml"/><Relationship Id="rId29" Type="http://schemas.openxmlformats.org/officeDocument/2006/relationships/commentAuthors" Target="commentAuthors.xml"/>
</Relationships>
</file>

<file path=ppt/comments/comment2.xml><?xml version="1.0" encoding="utf-8"?>
<p:cmLst xmlns:p="http://schemas.openxmlformats.org/presentationml/2006/main">
  <p:cm authorId="0" dt="2026-04-17T11:56:37.000000000" idx="1">
    <p:pos x="0" y="0"/>
    <p:text>A = intercepto
</p:text>
  </p:cm>
</p:cmLst>
</file>

<file path=ppt/comments/comment6.xml><?xml version="1.0" encoding="utf-8"?>
<p:cmLst xmlns:p="http://schemas.openxmlformats.org/presentationml/2006/main">
  <p:cm authorId="0" dt="2026-04-17T12:03:29.000000000" idx="2">
    <p:pos x="0" y="0"/>
    <p:text>Coeficientes: beta 0 1 2 3...</p:text>
  </p:cm>
</p:cmLst>
</file>

<file path=ppt/comments/comment10.xml><?xml version="1.0" encoding="utf-8"?>
<p:cmLst xmlns:p="http://schemas.openxmlformats.org/presentationml/2006/main">
  <p:cm authorId="0" dt="2026-04-17T12:05:24.000000000" idx="3">
    <p:pos x="0" y="0"/>
    <p:text>Funcion de coste</p:text>
  </p:cm>
</p:cmLst>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sldImg"/>
          </p:nvPr>
        </p:nvSpPr>
        <p:spPr>
          <a:xfrm>
            <a:off x="0" y="812520"/>
            <a:ext cx="0" cy="0"/>
          </a:xfrm>
          <a:prstGeom prst="rect">
            <a:avLst/>
          </a:prstGeom>
          <a:noFill/>
          <a:ln w="0">
            <a:noFill/>
          </a:ln>
        </p:spPr>
        <p:txBody>
          <a:bodyPr lIns="0" tIns="0" rIns="0" bIns="0" anchor="ctr">
            <a:noAutofit/>
          </a:bodyPr>
          <a:p>
            <a:pPr defTabSz="914400">
              <a:lnSpc>
                <a:spcPct val="90000"/>
              </a:lnSpc>
            </a:pPr>
            <a:r>
              <a:rPr lang="es-ES" sz="4400" b="0" u="none" strike="noStrike">
                <a:solidFill>
                  <a:schemeClr val="dk1"/>
                </a:solidFill>
                <a:effectLst/>
                <a:uFillTx/>
                <a:latin typeface="Arial"/>
              </a:rPr>
              <a:t>Pulse para desplazar la diapositiva</a:t>
            </a:r>
            <a:endParaRPr lang="es-ES" sz="4400" b="0" u="none" strike="noStrike">
              <a:solidFill>
                <a:schemeClr val="dk1"/>
              </a:solidFill>
              <a:effectLst/>
              <a:uFillTx/>
              <a:latin typeface="Arial"/>
            </a:endParaRPr>
          </a:p>
        </p:txBody>
      </p:sp>
      <p:sp>
        <p:nvSpPr>
          <p:cNvPr id="3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s-ES" sz="2000" b="0" u="none" strike="noStrike">
                <a:solidFill>
                  <a:srgbClr val="000000"/>
                </a:solidFill>
                <a:effectLst/>
                <a:uFillTx/>
                <a:latin typeface="Arial"/>
              </a:rPr>
              <a:t>Pulse para editar el formato de las notas</a:t>
            </a:r>
            <a:endParaRPr lang="es-ES" sz="2000" b="0" u="none" strike="noStrike">
              <a:solidFill>
                <a:srgbClr val="000000"/>
              </a:solidFill>
              <a:effectLst/>
              <a:uFillTx/>
              <a:latin typeface="Arial"/>
            </a:endParaRPr>
          </a:p>
        </p:txBody>
      </p:sp>
      <p:sp>
        <p:nvSpPr>
          <p:cNvPr id="38"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s-ES" sz="1400" b="0" u="none" strike="noStrike">
                <a:solidFill>
                  <a:srgbClr val="000000"/>
                </a:solidFill>
                <a:effectLst/>
                <a:uFillTx/>
                <a:latin typeface="Times New Roman"/>
              </a:rPr>
              <a:t>&lt;cabecera&gt;</a:t>
            </a:r>
            <a:endParaRPr lang="es-ES" sz="1400" b="0" u="none" strike="noStrike">
              <a:solidFill>
                <a:srgbClr val="000000"/>
              </a:solidFill>
              <a:effectLst/>
              <a:uFillTx/>
              <a:latin typeface="Times New Roman"/>
            </a:endParaRPr>
          </a:p>
        </p:txBody>
      </p:sp>
      <p:sp>
        <p:nvSpPr>
          <p:cNvPr id="39"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s-ES" sz="1400" b="0" u="none" strike="noStrike">
                <a:solidFill>
                  <a:srgbClr val="000000"/>
                </a:solidFill>
                <a:effectLst/>
                <a:uFillTx/>
                <a:latin typeface="Times New Roman"/>
              </a:defRPr>
            </a:lvl1pPr>
          </a:lstStyle>
          <a:p>
            <a:pPr indent="0" algn="r">
              <a:buNone/>
            </a:pPr>
            <a:r>
              <a:rPr lang="es-ES" sz="1400" b="0" u="none" strike="noStrike">
                <a:solidFill>
                  <a:srgbClr val="000000"/>
                </a:solidFill>
                <a:effectLst/>
                <a:uFillTx/>
                <a:latin typeface="Times New Roman"/>
              </a:rPr>
              <a:t>&lt;fecha/hora&gt;</a:t>
            </a:r>
            <a:endParaRPr lang="es-ES" sz="1400" b="0" u="none" strike="noStrike">
              <a:solidFill>
                <a:srgbClr val="000000"/>
              </a:solidFill>
              <a:effectLst/>
              <a:uFillTx/>
              <a:latin typeface="Times New Roman"/>
            </a:endParaRPr>
          </a:p>
        </p:txBody>
      </p:sp>
      <p:sp>
        <p:nvSpPr>
          <p:cNvPr id="40"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s-ES" sz="1400" b="0" u="none" strike="noStrike">
                <a:solidFill>
                  <a:srgbClr val="000000"/>
                </a:solidFill>
                <a:effectLst/>
                <a:uFillTx/>
                <a:latin typeface="Times New Roman"/>
              </a:defRPr>
            </a:lvl1pPr>
          </a:lstStyle>
          <a:p>
            <a:pPr indent="0" algn="l">
              <a:buNone/>
            </a:pPr>
            <a:r>
              <a:rPr lang="es-ES" sz="1400" b="0" u="none" strike="noStrike">
                <a:solidFill>
                  <a:srgbClr val="000000"/>
                </a:solidFill>
                <a:effectLst/>
                <a:uFillTx/>
                <a:latin typeface="Times New Roman"/>
              </a:rPr>
              <a:t>&lt;pie de página&gt;</a:t>
            </a:r>
            <a:endParaRPr lang="es-ES" sz="1400" b="0" u="none" strike="noStrike">
              <a:solidFill>
                <a:srgbClr val="000000"/>
              </a:solidFill>
              <a:effectLst/>
              <a:uFillTx/>
              <a:latin typeface="Times New Roman"/>
            </a:endParaRPr>
          </a:p>
        </p:txBody>
      </p:sp>
      <p:sp>
        <p:nvSpPr>
          <p:cNvPr id="41"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s-ES" sz="1400" b="0" u="none" strike="noStrike">
                <a:solidFill>
                  <a:srgbClr val="000000"/>
                </a:solidFill>
                <a:effectLst/>
                <a:uFillTx/>
                <a:latin typeface="Times New Roman"/>
              </a:defRPr>
            </a:lvl1pPr>
          </a:lstStyle>
          <a:p>
            <a:pPr indent="0" algn="r">
              <a:buNone/>
            </a:pPr>
            <a:fld id="{8AD921C5-C266-4790-A626-95721D200EED}" type="slidenum">
              <a:rPr lang="es-ES" sz="1400" b="0" u="none" strike="noStrike">
                <a:solidFill>
                  <a:srgbClr val="000000"/>
                </a:solidFill>
                <a:effectLst/>
                <a:uFillTx/>
                <a:latin typeface="Times New Roman"/>
              </a:rPr>
              <a:t>&lt;número&gt;</a:t>
            </a:fld>
            <a:endParaRPr lang="es-E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sldImg"/>
          </p:nvPr>
        </p:nvSpPr>
        <p:spPr>
          <a:xfrm>
            <a:off x="685800" y="1143000"/>
            <a:ext cx="5485320" cy="3085200"/>
          </a:xfrm>
          <a:prstGeom prst="rect">
            <a:avLst/>
          </a:prstGeom>
          <a:ln w="0">
            <a:noFill/>
          </a:ln>
        </p:spPr>
      </p:sp>
      <p:sp>
        <p:nvSpPr>
          <p:cNvPr id="170"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71"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4946694D-58E0-4265-8A36-DBB5D802341B}"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Img"/>
          </p:nvPr>
        </p:nvSpPr>
        <p:spPr>
          <a:xfrm>
            <a:off x="685800" y="1143000"/>
            <a:ext cx="5486040" cy="3085920"/>
          </a:xfrm>
          <a:prstGeom prst="rect">
            <a:avLst/>
          </a:prstGeom>
          <a:ln w="0">
            <a:noFill/>
          </a:ln>
        </p:spPr>
      </p:sp>
      <p:sp>
        <p:nvSpPr>
          <p:cNvPr id="173"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74"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BDB8ABB5-26E3-4000-A006-071C45E265D1}"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PlaceHolder 1"/>
          <p:cNvSpPr>
            <a:spLocks noGrp="1"/>
          </p:cNvSpPr>
          <p:nvPr>
            <p:ph type="sldImg"/>
          </p:nvPr>
        </p:nvSpPr>
        <p:spPr>
          <a:xfrm>
            <a:off x="685800" y="1143000"/>
            <a:ext cx="5486040" cy="3085920"/>
          </a:xfrm>
          <a:prstGeom prst="rect">
            <a:avLst/>
          </a:prstGeom>
          <a:ln w="0">
            <a:noFill/>
          </a:ln>
        </p:spPr>
      </p:sp>
      <p:sp>
        <p:nvSpPr>
          <p:cNvPr id="176"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77"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3EE65E65-85D5-4AFD-A4CB-1C489D0D0DC1}"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Img"/>
          </p:nvPr>
        </p:nvSpPr>
        <p:spPr>
          <a:xfrm>
            <a:off x="685800" y="1143000"/>
            <a:ext cx="5486040" cy="3085920"/>
          </a:xfrm>
          <a:prstGeom prst="rect">
            <a:avLst/>
          </a:prstGeom>
          <a:ln w="0">
            <a:noFill/>
          </a:ln>
        </p:spPr>
      </p:sp>
      <p:sp>
        <p:nvSpPr>
          <p:cNvPr id="179"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80"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E1D31284-530F-441F-8EC8-E279A708372D}"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685800" y="1143000"/>
            <a:ext cx="5486040" cy="3085920"/>
          </a:xfrm>
          <a:prstGeom prst="rect">
            <a:avLst/>
          </a:prstGeom>
          <a:ln w="0">
            <a:noFill/>
          </a:ln>
        </p:spPr>
      </p:sp>
      <p:sp>
        <p:nvSpPr>
          <p:cNvPr id="182"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83"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7214F029-F9DC-4411-A3E7-1630F411DA69}"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Img"/>
          </p:nvPr>
        </p:nvSpPr>
        <p:spPr>
          <a:xfrm>
            <a:off x="685800" y="1143000"/>
            <a:ext cx="5486040" cy="3085920"/>
          </a:xfrm>
          <a:prstGeom prst="rect">
            <a:avLst/>
          </a:prstGeom>
          <a:ln w="0">
            <a:noFill/>
          </a:ln>
        </p:spPr>
      </p:sp>
      <p:sp>
        <p:nvSpPr>
          <p:cNvPr id="185"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86"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D58528F5-75D9-4684-90E8-F26322C76C25}"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685800" y="1143000"/>
            <a:ext cx="5486040" cy="3085920"/>
          </a:xfrm>
          <a:prstGeom prst="rect">
            <a:avLst/>
          </a:prstGeom>
          <a:ln w="0">
            <a:noFill/>
          </a:ln>
        </p:spPr>
      </p:sp>
      <p:sp>
        <p:nvSpPr>
          <p:cNvPr id="188"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89"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706C0400-653B-49D7-98E1-71AD88848AA0}"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Img"/>
          </p:nvPr>
        </p:nvSpPr>
        <p:spPr>
          <a:xfrm>
            <a:off x="685800" y="1143000"/>
            <a:ext cx="5486040" cy="3085920"/>
          </a:xfrm>
          <a:prstGeom prst="rect">
            <a:avLst/>
          </a:prstGeom>
          <a:ln w="0">
            <a:noFill/>
          </a:ln>
        </p:spPr>
      </p:sp>
      <p:sp>
        <p:nvSpPr>
          <p:cNvPr id="191"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92"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5FC5DD34-5ECD-4766-85DD-65CADB5731E5}"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685800" y="1143000"/>
            <a:ext cx="5486040" cy="3085920"/>
          </a:xfrm>
          <a:prstGeom prst="rect">
            <a:avLst/>
          </a:prstGeom>
          <a:ln w="0">
            <a:noFill/>
          </a:ln>
        </p:spPr>
      </p:sp>
      <p:sp>
        <p:nvSpPr>
          <p:cNvPr id="194"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95"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A6938445-64D7-46E9-8979-76CDE4D5D570}"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sldImg"/>
          </p:nvPr>
        </p:nvSpPr>
        <p:spPr>
          <a:xfrm>
            <a:off x="685800" y="1143000"/>
            <a:ext cx="5486040" cy="3085920"/>
          </a:xfrm>
          <a:prstGeom prst="rect">
            <a:avLst/>
          </a:prstGeom>
          <a:ln w="0">
            <a:noFill/>
          </a:ln>
        </p:spPr>
      </p:sp>
      <p:sp>
        <p:nvSpPr>
          <p:cNvPr id="197"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198"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B9A23EA4-F50D-4993-9463-8753BDEC8361}"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sldImg"/>
          </p:nvPr>
        </p:nvSpPr>
        <p:spPr>
          <a:xfrm>
            <a:off x="685800" y="1143000"/>
            <a:ext cx="5486040" cy="3085920"/>
          </a:xfrm>
          <a:prstGeom prst="rect">
            <a:avLst/>
          </a:prstGeom>
          <a:ln w="0">
            <a:noFill/>
          </a:ln>
        </p:spPr>
      </p:sp>
      <p:sp>
        <p:nvSpPr>
          <p:cNvPr id="200"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01"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104373E7-C3DB-4181-A350-1EA56D2F1B4E}"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sldImg"/>
          </p:nvPr>
        </p:nvSpPr>
        <p:spPr>
          <a:xfrm>
            <a:off x="685800" y="1143000"/>
            <a:ext cx="5486040" cy="3085920"/>
          </a:xfrm>
          <a:prstGeom prst="rect">
            <a:avLst/>
          </a:prstGeom>
          <a:ln w="0">
            <a:noFill/>
          </a:ln>
        </p:spPr>
      </p:sp>
      <p:sp>
        <p:nvSpPr>
          <p:cNvPr id="203"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04"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E6F5B2AE-2E9D-424B-9BDA-DFAC27ADFA70}"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PlaceHolder 1"/>
          <p:cNvSpPr>
            <a:spLocks noGrp="1"/>
          </p:cNvSpPr>
          <p:nvPr>
            <p:ph type="sldImg"/>
          </p:nvPr>
        </p:nvSpPr>
        <p:spPr>
          <a:xfrm>
            <a:off x="685800" y="1143000"/>
            <a:ext cx="5486040" cy="3085920"/>
          </a:xfrm>
          <a:prstGeom prst="rect">
            <a:avLst/>
          </a:prstGeom>
          <a:ln w="0">
            <a:noFill/>
          </a:ln>
        </p:spPr>
      </p:sp>
      <p:sp>
        <p:nvSpPr>
          <p:cNvPr id="206"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07"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62F175CD-6CE5-4FD7-A934-1427E0FF36FC}"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sldImg"/>
          </p:nvPr>
        </p:nvSpPr>
        <p:spPr>
          <a:xfrm>
            <a:off x="685800" y="1143000"/>
            <a:ext cx="5486040" cy="3085920"/>
          </a:xfrm>
          <a:prstGeom prst="rect">
            <a:avLst/>
          </a:prstGeom>
          <a:ln w="0">
            <a:noFill/>
          </a:ln>
        </p:spPr>
      </p:sp>
      <p:sp>
        <p:nvSpPr>
          <p:cNvPr id="209"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10"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AEFC97FE-E74D-4B90-9952-25CD2511697C}"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143000"/>
            <a:ext cx="5485320" cy="3085200"/>
          </a:xfrm>
          <a:prstGeom prst="rect">
            <a:avLst/>
          </a:prstGeom>
          <a:ln w="0">
            <a:noFill/>
          </a:ln>
        </p:spPr>
      </p:sp>
      <p:sp>
        <p:nvSpPr>
          <p:cNvPr id="212"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13"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DAE00FA6-74D9-41EB-A0E0-5ACDDA0C9526}"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143000"/>
            <a:ext cx="5486040" cy="3085920"/>
          </a:xfrm>
          <a:prstGeom prst="rect">
            <a:avLst/>
          </a:prstGeom>
          <a:ln w="0">
            <a:noFill/>
          </a:ln>
        </p:spPr>
      </p:sp>
      <p:sp>
        <p:nvSpPr>
          <p:cNvPr id="215"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16"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9FC5C5AA-9425-453E-9955-605CBDB92FEA}"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143000"/>
            <a:ext cx="5486040" cy="3085920"/>
          </a:xfrm>
          <a:prstGeom prst="rect">
            <a:avLst/>
          </a:prstGeom>
          <a:ln w="0">
            <a:noFill/>
          </a:ln>
        </p:spPr>
      </p:sp>
      <p:sp>
        <p:nvSpPr>
          <p:cNvPr id="218"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19"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8B901A65-5921-487A-B663-598B841A1A3F}" type="slidenum">
              <a:rPr lang="es-ES" sz="1200" b="0" u="none" strike="noStrike">
                <a:solidFill>
                  <a:srgbClr val="000000"/>
                </a:solidFill>
                <a:effectLst/>
                <a:uFillTx/>
                <a:latin typeface="Times New Roman"/>
                <a:ea typeface="+mn-ea"/>
              </a:rPr>
              <a:t>24</a:t>
            </a:fld>
            <a:endParaRPr lang="es-ES" sz="1200" b="0" u="none" strike="noStrike">
              <a:solidFill>
                <a:srgbClr val="000000"/>
              </a:solidFill>
              <a:effectLst/>
              <a:uFillTx/>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143000"/>
            <a:ext cx="5486040" cy="3085920"/>
          </a:xfrm>
          <a:prstGeom prst="rect">
            <a:avLst/>
          </a:prstGeom>
          <a:ln w="0">
            <a:noFill/>
          </a:ln>
        </p:spPr>
      </p:sp>
      <p:sp>
        <p:nvSpPr>
          <p:cNvPr id="221"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22"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AD731E80-7972-4156-B841-0AC91EA2CDEF}"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3000"/>
            <a:ext cx="5486040" cy="3085920"/>
          </a:xfrm>
          <a:prstGeom prst="rect">
            <a:avLst/>
          </a:prstGeom>
          <a:ln w="0">
            <a:noFill/>
          </a:ln>
        </p:spPr>
      </p:sp>
      <p:sp>
        <p:nvSpPr>
          <p:cNvPr id="224"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25"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90C1DC6D-87FF-4C3B-AE92-4B062D9C4DDA}"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3000"/>
            <a:ext cx="5486040" cy="3085920"/>
          </a:xfrm>
          <a:prstGeom prst="rect">
            <a:avLst/>
          </a:prstGeom>
          <a:ln w="0">
            <a:noFill/>
          </a:ln>
        </p:spPr>
      </p:sp>
      <p:sp>
        <p:nvSpPr>
          <p:cNvPr id="227"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28"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370DA312-6237-4FDE-859D-D2FE54CF9B3D}"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3000"/>
            <a:ext cx="5485320" cy="3085200"/>
          </a:xfrm>
          <a:prstGeom prst="rect">
            <a:avLst/>
          </a:prstGeom>
          <a:ln w="0">
            <a:noFill/>
          </a:ln>
        </p:spPr>
      </p:sp>
      <p:sp>
        <p:nvSpPr>
          <p:cNvPr id="230"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31"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A9EA6CCC-E938-4C11-819F-ABF504FC3BBF}"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6040" cy="3085920"/>
          </a:xfrm>
          <a:prstGeom prst="rect">
            <a:avLst/>
          </a:prstGeom>
          <a:ln w="0">
            <a:noFill/>
          </a:ln>
        </p:spPr>
      </p:sp>
      <p:sp>
        <p:nvSpPr>
          <p:cNvPr id="233"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34"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6AB33A3A-3EB8-477F-AB3D-AD5E4FB31C17}"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6040" cy="3085920"/>
          </a:xfrm>
          <a:prstGeom prst="rect">
            <a:avLst/>
          </a:prstGeom>
          <a:ln w="0">
            <a:noFill/>
          </a:ln>
        </p:spPr>
      </p:sp>
      <p:sp>
        <p:nvSpPr>
          <p:cNvPr id="236"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37"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DC195AF2-DE20-45C7-95EF-22FBDBF0D8E8}"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6040" cy="3085920"/>
          </a:xfrm>
          <a:prstGeom prst="rect">
            <a:avLst/>
          </a:prstGeom>
          <a:ln w="0">
            <a:noFill/>
          </a:ln>
        </p:spPr>
      </p:sp>
      <p:sp>
        <p:nvSpPr>
          <p:cNvPr id="239" name="PlaceHolder 2"/>
          <p:cNvSpPr>
            <a:spLocks noGrp="1"/>
          </p:cNvSpPr>
          <p:nvPr>
            <p:ph type="body"/>
          </p:nvPr>
        </p:nvSpPr>
        <p:spPr>
          <a:xfrm>
            <a:off x="685800" y="4400640"/>
            <a:ext cx="5485320" cy="3599280"/>
          </a:xfrm>
          <a:prstGeom prst="rect">
            <a:avLst/>
          </a:prstGeom>
          <a:noFill/>
          <a:ln w="0">
            <a:noFill/>
          </a:ln>
        </p:spPr>
        <p:txBody>
          <a:bodyPr lIns="0" tIns="0" rIns="0" bIns="0" anchor="t">
            <a:noAutofit/>
          </a:bodyPr>
          <a:p>
            <a:pPr indent="0" algn="l">
              <a:buNone/>
            </a:pPr>
            <a:endParaRPr lang="es-ES" sz="1800" b="0" u="none" strike="noStrike">
              <a:solidFill>
                <a:srgbClr val="000000"/>
              </a:solidFill>
              <a:effectLst/>
              <a:uFillTx/>
              <a:latin typeface="Arial"/>
            </a:endParaRPr>
          </a:p>
        </p:txBody>
      </p:sp>
      <p:sp>
        <p:nvSpPr>
          <p:cNvPr id="240" name="CustomShape 3"/>
          <p:cNvSpPr/>
          <p:nvPr/>
        </p:nvSpPr>
        <p:spPr>
          <a:xfrm>
            <a:off x="3884760" y="8685360"/>
            <a:ext cx="2970720" cy="457560"/>
          </a:xfrm>
          <a:prstGeom prst="rect">
            <a:avLst/>
          </a:prstGeom>
          <a:noFill/>
          <a:ln w="0">
            <a:noFill/>
          </a:ln>
        </p:spPr>
        <p:style>
          <a:lnRef idx="0"/>
          <a:fillRef idx="0"/>
          <a:effectRef idx="0"/>
          <a:fontRef idx="minor"/>
        </p:style>
        <p:txBody>
          <a:bodyPr lIns="90000" tIns="45000" rIns="90000" bIns="45000" anchor="b">
            <a:noAutofit/>
          </a:bodyPr>
          <a:p>
            <a:pPr algn="r" defTabSz="914400">
              <a:lnSpc>
                <a:spcPct val="100000"/>
              </a:lnSpc>
            </a:pPr>
            <a:fld id="{C969F084-7B13-4E00-B05D-C4581CE1CFD0}" type="slidenum">
              <a:rPr lang="es-ES" sz="1200" b="0" u="none" strike="noStrike">
                <a:solidFill>
                  <a:srgbClr val="000000"/>
                </a:solidFill>
                <a:effectLst/>
                <a:uFillTx/>
                <a:latin typeface="Times New Roman"/>
                <a:ea typeface="+mn-ea"/>
              </a:rPr>
              <a:t>&lt;número&gt;</a:t>
            </a:fld>
            <a:endParaRPr lang="es-ES" sz="12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solidFill>
          <a:srgbClr val="000000"/>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solidFill>
          <a:srgbClr val="000000"/>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3" name="PlaceHolder 2"/>
          <p:cNvSpPr>
            <a:spLocks noGrp="1"/>
          </p:cNvSpPr>
          <p:nvPr>
            <p:ph type="body"/>
          </p:nvPr>
        </p:nvSpPr>
        <p:spPr>
          <a:xfrm>
            <a:off x="838080" y="1825560"/>
            <a:ext cx="252756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4" name="PlaceHolder 3"/>
          <p:cNvSpPr>
            <a:spLocks noGrp="1"/>
          </p:cNvSpPr>
          <p:nvPr>
            <p:ph type="body"/>
          </p:nvPr>
        </p:nvSpPr>
        <p:spPr>
          <a:xfrm>
            <a:off x="838080" y="4098240"/>
            <a:ext cx="252756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solidFill>
          <a:srgbClr val="000000"/>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6" name="PlaceHolder 2"/>
          <p:cNvSpPr>
            <a:spLocks noGrp="1"/>
          </p:cNvSpPr>
          <p:nvPr>
            <p:ph type="body"/>
          </p:nvPr>
        </p:nvSpPr>
        <p:spPr>
          <a:xfrm>
            <a:off x="83808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7" name="PlaceHolder 3"/>
          <p:cNvSpPr>
            <a:spLocks noGrp="1"/>
          </p:cNvSpPr>
          <p:nvPr>
            <p:ph type="body"/>
          </p:nvPr>
        </p:nvSpPr>
        <p:spPr>
          <a:xfrm>
            <a:off x="213336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8" name="PlaceHolder 4"/>
          <p:cNvSpPr>
            <a:spLocks noGrp="1"/>
          </p:cNvSpPr>
          <p:nvPr>
            <p:ph type="body"/>
          </p:nvPr>
        </p:nvSpPr>
        <p:spPr>
          <a:xfrm>
            <a:off x="838080" y="409824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9" name="PlaceHolder 5"/>
          <p:cNvSpPr>
            <a:spLocks noGrp="1"/>
          </p:cNvSpPr>
          <p:nvPr>
            <p:ph type="body"/>
          </p:nvPr>
        </p:nvSpPr>
        <p:spPr>
          <a:xfrm>
            <a:off x="2133360" y="409824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solidFill>
          <a:srgbClr val="000000"/>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11" name="PlaceHolder 2"/>
          <p:cNvSpPr>
            <a:spLocks noGrp="1"/>
          </p:cNvSpPr>
          <p:nvPr>
            <p:ph type="body"/>
          </p:nvPr>
        </p:nvSpPr>
        <p:spPr>
          <a:xfrm>
            <a:off x="838080" y="182556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2" name="PlaceHolder 3"/>
          <p:cNvSpPr>
            <a:spLocks noGrp="1"/>
          </p:cNvSpPr>
          <p:nvPr>
            <p:ph type="body"/>
          </p:nvPr>
        </p:nvSpPr>
        <p:spPr>
          <a:xfrm>
            <a:off x="1692720" y="182556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3" name="PlaceHolder 4"/>
          <p:cNvSpPr>
            <a:spLocks noGrp="1"/>
          </p:cNvSpPr>
          <p:nvPr>
            <p:ph type="body"/>
          </p:nvPr>
        </p:nvSpPr>
        <p:spPr>
          <a:xfrm>
            <a:off x="2547360" y="182556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4" name="PlaceHolder 5"/>
          <p:cNvSpPr>
            <a:spLocks noGrp="1"/>
          </p:cNvSpPr>
          <p:nvPr>
            <p:ph type="body"/>
          </p:nvPr>
        </p:nvSpPr>
        <p:spPr>
          <a:xfrm>
            <a:off x="838080" y="409824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5" name="PlaceHolder 6"/>
          <p:cNvSpPr>
            <a:spLocks noGrp="1"/>
          </p:cNvSpPr>
          <p:nvPr>
            <p:ph type="body"/>
          </p:nvPr>
        </p:nvSpPr>
        <p:spPr>
          <a:xfrm>
            <a:off x="1692720" y="409824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16" name="PlaceHolder 7"/>
          <p:cNvSpPr>
            <a:spLocks noGrp="1"/>
          </p:cNvSpPr>
          <p:nvPr>
            <p:ph type="body"/>
          </p:nvPr>
        </p:nvSpPr>
        <p:spPr>
          <a:xfrm>
            <a:off x="2547360" y="4098240"/>
            <a:ext cx="81324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solidFill>
          <a:srgbClr val="000000"/>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solidFill>
          <a:srgbClr val="000000"/>
        </a:solidFill>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19" name="PlaceHolder 2"/>
          <p:cNvSpPr>
            <a:spLocks noGrp="1"/>
          </p:cNvSpPr>
          <p:nvPr>
            <p:ph type="body"/>
          </p:nvPr>
        </p:nvSpPr>
        <p:spPr>
          <a:xfrm>
            <a:off x="838080" y="1825560"/>
            <a:ext cx="252756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solidFill>
          <a:srgbClr val="000000"/>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21" name="PlaceHolder 2"/>
          <p:cNvSpPr>
            <a:spLocks noGrp="1"/>
          </p:cNvSpPr>
          <p:nvPr>
            <p:ph type="body"/>
          </p:nvPr>
        </p:nvSpPr>
        <p:spPr>
          <a:xfrm>
            <a:off x="838080" y="1825560"/>
            <a:ext cx="123300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22" name="PlaceHolder 3"/>
          <p:cNvSpPr>
            <a:spLocks noGrp="1"/>
          </p:cNvSpPr>
          <p:nvPr>
            <p:ph type="body"/>
          </p:nvPr>
        </p:nvSpPr>
        <p:spPr>
          <a:xfrm>
            <a:off x="2133360" y="1825560"/>
            <a:ext cx="123300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000000"/>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bg>
      <p:bgPr>
        <a:solidFill>
          <a:srgbClr val="000000"/>
        </a:solidFill>
      </p:bgPr>
    </p:bg>
    <p:spTree>
      <p:nvGrpSpPr>
        <p:cNvPr id="1" name=""/>
        <p:cNvGrpSpPr/>
        <p:nvPr/>
      </p:nvGrpSpPr>
      <p:grpSpPr>
        <a:xfrm>
          <a:off x="0" y="0"/>
          <a:ext cx="0" cy="0"/>
          <a:chOff x="0" y="0"/>
          <a:chExt cx="0" cy="0"/>
        </a:xfrm>
      </p:grpSpPr>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solidFill>
          <a:srgbClr val="000000"/>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25" name="PlaceHolder 2"/>
          <p:cNvSpPr>
            <a:spLocks noGrp="1"/>
          </p:cNvSpPr>
          <p:nvPr>
            <p:ph type="body"/>
          </p:nvPr>
        </p:nvSpPr>
        <p:spPr>
          <a:xfrm>
            <a:off x="83808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26" name="PlaceHolder 3"/>
          <p:cNvSpPr>
            <a:spLocks noGrp="1"/>
          </p:cNvSpPr>
          <p:nvPr>
            <p:ph type="body"/>
          </p:nvPr>
        </p:nvSpPr>
        <p:spPr>
          <a:xfrm>
            <a:off x="2133360" y="1825560"/>
            <a:ext cx="123300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27" name="PlaceHolder 4"/>
          <p:cNvSpPr>
            <a:spLocks noGrp="1"/>
          </p:cNvSpPr>
          <p:nvPr>
            <p:ph type="body"/>
          </p:nvPr>
        </p:nvSpPr>
        <p:spPr>
          <a:xfrm>
            <a:off x="838080" y="409824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solidFill>
          <a:srgbClr val="000000"/>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29" name="PlaceHolder 2"/>
          <p:cNvSpPr>
            <a:spLocks noGrp="1"/>
          </p:cNvSpPr>
          <p:nvPr>
            <p:ph type="body"/>
          </p:nvPr>
        </p:nvSpPr>
        <p:spPr>
          <a:xfrm>
            <a:off x="838080" y="1825560"/>
            <a:ext cx="1233000" cy="435024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30" name="PlaceHolder 3"/>
          <p:cNvSpPr>
            <a:spLocks noGrp="1"/>
          </p:cNvSpPr>
          <p:nvPr>
            <p:ph type="body"/>
          </p:nvPr>
        </p:nvSpPr>
        <p:spPr>
          <a:xfrm>
            <a:off x="213336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31" name="PlaceHolder 4"/>
          <p:cNvSpPr>
            <a:spLocks noGrp="1"/>
          </p:cNvSpPr>
          <p:nvPr>
            <p:ph type="body"/>
          </p:nvPr>
        </p:nvSpPr>
        <p:spPr>
          <a:xfrm>
            <a:off x="2133360" y="409824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solidFill>
          <a:srgbClr val="000000"/>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838080" y="365040"/>
            <a:ext cx="10514520" cy="1324440"/>
          </a:xfrm>
          <a:prstGeom prst="rect">
            <a:avLst/>
          </a:prstGeom>
          <a:noFill/>
          <a:ln w="0">
            <a:noFill/>
          </a:ln>
        </p:spPr>
        <p:txBody>
          <a:bodyPr lIns="0" tIns="0" rIns="0" bIns="0" anchor="ctr">
            <a:noAutofit/>
          </a:bodyPr>
          <a:lstStyle>
            <a:lvl1pPr indent="0" algn="l" defTabSz="914400">
              <a:lnSpc>
                <a:spcPct val="90000"/>
              </a:lnSpc>
              <a:buNone/>
              <a:defRPr lang="es-ES" sz="4400" b="0" u="none" strike="noStrike">
                <a:solidFill>
                  <a:schemeClr val="dk1"/>
                </a:solidFill>
                <a:effectLst/>
                <a:uFillTx/>
                <a:latin typeface="Arial"/>
              </a:defRPr>
            </a:lvl1pPr>
          </a:lstStyle>
          <a:p>
            <a:pPr indent="0" algn="l" defTabSz="914400">
              <a:lnSpc>
                <a:spcPct val="90000"/>
              </a:lnSpc>
              <a:buNone/>
            </a:pPr>
            <a:r>
              <a:rPr lang="es-ES" sz="4400" b="0" u="none" strike="noStrike">
                <a:solidFill>
                  <a:schemeClr val="dk1"/>
                </a:solidFill>
                <a:effectLst/>
                <a:uFillTx/>
                <a:latin typeface="Arial"/>
              </a:rPr>
              <a:t>Pulse para editar el formato del texto de título</a:t>
            </a:r>
            <a:endParaRPr lang="es-ES" sz="4400" b="0" u="none" strike="noStrike">
              <a:solidFill>
                <a:schemeClr val="dk1"/>
              </a:solidFill>
              <a:effectLst/>
              <a:uFillTx/>
              <a:latin typeface="Arial"/>
            </a:endParaRPr>
          </a:p>
        </p:txBody>
      </p:sp>
      <p:sp>
        <p:nvSpPr>
          <p:cNvPr id="33" name="PlaceHolder 2"/>
          <p:cNvSpPr>
            <a:spLocks noGrp="1"/>
          </p:cNvSpPr>
          <p:nvPr>
            <p:ph type="body"/>
          </p:nvPr>
        </p:nvSpPr>
        <p:spPr>
          <a:xfrm>
            <a:off x="83808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34" name="PlaceHolder 3"/>
          <p:cNvSpPr>
            <a:spLocks noGrp="1"/>
          </p:cNvSpPr>
          <p:nvPr>
            <p:ph type="body"/>
          </p:nvPr>
        </p:nvSpPr>
        <p:spPr>
          <a:xfrm>
            <a:off x="2133360" y="1825560"/>
            <a:ext cx="123300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
        <p:nvSpPr>
          <p:cNvPr id="35" name="PlaceHolder 4"/>
          <p:cNvSpPr>
            <a:spLocks noGrp="1"/>
          </p:cNvSpPr>
          <p:nvPr>
            <p:ph type="body"/>
          </p:nvPr>
        </p:nvSpPr>
        <p:spPr>
          <a:xfrm>
            <a:off x="838080" y="4098240"/>
            <a:ext cx="2527560" cy="2074680"/>
          </a:xfrm>
          <a:prstGeom prst="rect">
            <a:avLst/>
          </a:prstGeom>
          <a:noFill/>
          <a:ln w="0">
            <a:noFill/>
          </a:ln>
        </p:spPr>
        <p:txBody>
          <a:bodyPr lIns="0" tIns="0" rIns="0" bIns="0" anchor="t">
            <a:normAutofit fontScale="25000" lnSpcReduction="19999"/>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Arial"/>
              </a:defRPr>
            </a:lvl1pPr>
            <a:lvl2pPr lvl="1"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2pPr>
            <a:lvl3pPr lvl="2"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3pPr>
            <a:lvl4pPr lvl="3" algn="l" defTabSz="914400">
              <a:lnSpc>
                <a:spcPct val="90000"/>
              </a:lnSpc>
              <a:spcBef>
                <a:spcPts val="499"/>
              </a:spcBef>
              <a:buClr>
                <a:srgbClr val="FFFFFF"/>
              </a:buClr>
              <a:buSzPct val="75000"/>
              <a:buFont typeface="Symbol" charset="2"/>
              <a:buChar char=""/>
              <a:defRPr lang="es-ES" sz="2800" b="0" u="none" strike="noStrike">
                <a:solidFill>
                  <a:schemeClr val="dk1"/>
                </a:solidFill>
                <a:effectLst/>
                <a:uFillTx/>
                <a:latin typeface="Arial"/>
              </a:defRPr>
            </a:lvl4pPr>
            <a:lvl5pPr lvl="4"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5pPr>
            <a:lvl6pPr lvl="5"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6pPr>
            <a:lvl7pPr lvl="6" algn="l" defTabSz="914400">
              <a:lnSpc>
                <a:spcPct val="90000"/>
              </a:lnSpc>
              <a:spcBef>
                <a:spcPts val="499"/>
              </a:spcBef>
              <a:buClr>
                <a:srgbClr val="FFFFFF"/>
              </a:buClr>
              <a:buSzPct val="45000"/>
              <a:buFont typeface="Wingdings" charset="2"/>
              <a:buChar char=""/>
              <a:defRPr lang="es-ES" sz="2800" b="0" u="none" strike="noStrike">
                <a:solidFill>
                  <a:schemeClr val="dk1"/>
                </a:solidFill>
                <a:effectLst/>
                <a:uFillTx/>
                <a:latin typeface="Arial"/>
              </a:defRPr>
            </a:lvl7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Arial"/>
              </a:rPr>
              <a:t>Pulse para editar el formato de texto del esquema</a:t>
            </a:r>
            <a:endParaRPr lang="es-ES" sz="2800" b="0" u="none" strike="noStrike">
              <a:solidFill>
                <a:schemeClr val="dk1"/>
              </a:solidFill>
              <a:effectLst/>
              <a:uFillTx/>
              <a:latin typeface="Arial"/>
            </a:endParaRPr>
          </a:p>
          <a:p>
            <a:pPr marL="685800" lvl="1"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Segundo nivel del esquema</a:t>
            </a:r>
            <a:endParaRPr lang="es-ES" sz="2800" b="0" u="none" strike="noStrike">
              <a:solidFill>
                <a:schemeClr val="dk1"/>
              </a:solidFill>
              <a:effectLst/>
              <a:uFillTx/>
              <a:latin typeface="Arial"/>
            </a:endParaRPr>
          </a:p>
          <a:p>
            <a:pPr marL="1143000" lvl="2"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Tercer nivel del esquema</a:t>
            </a:r>
            <a:endParaRPr lang="es-ES" sz="2800" b="0" u="none" strike="noStrike">
              <a:solidFill>
                <a:schemeClr val="dk1"/>
              </a:solidFill>
              <a:effectLst/>
              <a:uFillTx/>
              <a:latin typeface="Arial"/>
            </a:endParaRPr>
          </a:p>
          <a:p>
            <a:pPr marL="1600200" lvl="3" indent="-228600" algn="l" defTabSz="914400">
              <a:lnSpc>
                <a:spcPct val="90000"/>
              </a:lnSpc>
              <a:spcBef>
                <a:spcPts val="499"/>
              </a:spcBef>
              <a:buClr>
                <a:srgbClr val="FFFFFF"/>
              </a:buClr>
              <a:buSzPct val="75000"/>
              <a:buFont typeface="Symbol" charset="2"/>
              <a:buChar char=""/>
            </a:pPr>
            <a:r>
              <a:rPr lang="es-ES" sz="2800" b="0" u="none" strike="noStrike">
                <a:solidFill>
                  <a:schemeClr val="dk1"/>
                </a:solidFill>
                <a:effectLst/>
                <a:uFillTx/>
                <a:latin typeface="Arial"/>
              </a:rPr>
              <a:t>Cuarto nivel del esquema</a:t>
            </a:r>
            <a:endParaRPr lang="es-ES" sz="2800" b="0" u="none" strike="noStrike">
              <a:solidFill>
                <a:schemeClr val="dk1"/>
              </a:solidFill>
              <a:effectLst/>
              <a:uFillTx/>
              <a:latin typeface="Arial"/>
            </a:endParaRPr>
          </a:p>
          <a:p>
            <a:pPr marL="2057400" lvl="4"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Quinto nivel del esquema</a:t>
            </a:r>
            <a:endParaRPr lang="es-ES" sz="2800" b="0" u="none" strike="noStrike">
              <a:solidFill>
                <a:schemeClr val="dk1"/>
              </a:solidFill>
              <a:effectLst/>
              <a:uFillTx/>
              <a:latin typeface="Arial"/>
            </a:endParaRPr>
          </a:p>
          <a:p>
            <a:pPr marL="2514600" lvl="5"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Sexto nivel del esquema</a:t>
            </a:r>
            <a:endParaRPr lang="es-ES" sz="2800" b="0" u="none" strike="noStrike">
              <a:solidFill>
                <a:schemeClr val="dk1"/>
              </a:solidFill>
              <a:effectLst/>
              <a:uFillTx/>
              <a:latin typeface="Arial"/>
            </a:endParaRPr>
          </a:p>
          <a:p>
            <a:pPr marL="2971800" lvl="6" indent="-228600" algn="l" defTabSz="914400">
              <a:lnSpc>
                <a:spcPct val="90000"/>
              </a:lnSpc>
              <a:spcBef>
                <a:spcPts val="499"/>
              </a:spcBef>
              <a:buClr>
                <a:srgbClr val="FFFFFF"/>
              </a:buClr>
              <a:buSzPct val="45000"/>
              <a:buFont typeface="Wingdings" charset="2"/>
              <a:buChar char=""/>
            </a:pPr>
            <a:r>
              <a:rPr lang="es-ES" sz="2800" b="0" u="none" strike="noStrike">
                <a:solidFill>
                  <a:schemeClr val="dk1"/>
                </a:solidFill>
                <a:effectLst/>
                <a:uFillTx/>
                <a:latin typeface="Arial"/>
              </a:rPr>
              <a:t>Séptimo nivel del esquema</a:t>
            </a:r>
            <a:endParaRPr lang="es-ES" sz="2800" b="0" u="none" strike="noStrik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7.xml"/><Relationship Id="rId4" Type="http://schemas.openxmlformats.org/officeDocument/2006/relationships/comments" Target="../comments/comment2.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7.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7.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7.xml"/><Relationship Id="rId4"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 Id="rId3" Type="http://schemas.openxmlformats.org/officeDocument/2006/relationships/comments" Target="../comments/comment6.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7.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7.png"/><Relationship Id="rId3" Type="http://schemas.openxmlformats.org/officeDocument/2006/relationships/slideLayout" Target="../slideLayouts/slideLayout7.xml"/><Relationship Id="rId4" Type="http://schemas.openxmlformats.org/officeDocument/2006/relationships/comments" Target="../comments/comment10.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9.png"/><Relationship Id="rId3" Type="http://schemas.openxmlformats.org/officeDocument/2006/relationships/slideLayout" Target="../slideLayouts/slideLayout7.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hyperlink" Target="https://developers.google.com/machine-learning/crash-course/fitter/graph" TargetMode="External"/><Relationship Id="rId3" Type="http://schemas.openxmlformats.org/officeDocument/2006/relationships/slideLayout" Target="../slideLayouts/slideLayout7.xml"/><Relationship Id="rId4"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7.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slideLayout" Target="../slideLayouts/slideLayout7.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7.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slideLayout" Target="../slideLayouts/slideLayout7.xml"/><Relationship Id="rId6"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image" Target="../media/image22.jpeg"/><Relationship Id="rId4" Type="http://schemas.openxmlformats.org/officeDocument/2006/relationships/image" Target="../media/image23.jpeg"/><Relationship Id="rId5" Type="http://schemas.openxmlformats.org/officeDocument/2006/relationships/slideLayout" Target="../slideLayouts/slideLayout7.xml"/><Relationship Id="rId6"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image" Target="../media/image25.png"/><Relationship Id="rId3" Type="http://schemas.openxmlformats.org/officeDocument/2006/relationships/image" Target="../media/image20.png"/><Relationship Id="rId4" Type="http://schemas.openxmlformats.org/officeDocument/2006/relationships/slideLayout" Target="../slideLayouts/slideLayout7.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image" Target="../media/image29.png"/><Relationship Id="rId5" Type="http://schemas.openxmlformats.org/officeDocument/2006/relationships/slideLayout" Target="../slideLayouts/slideLayout7.xml"/><Relationship Id="rId6"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7.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hyperlink" Target="https://learning.oreilly.com/library/view/hands-on-machine-learning/9781492032632/" TargetMode="External"/><Relationship Id="rId2" Type="http://schemas.openxmlformats.org/officeDocument/2006/relationships/hyperlink" Target="https://www.cienciadedatos.net/documentos/py10-regresion-lineal-python.html" TargetMode="External"/><Relationship Id="rId3" Type="http://schemas.openxmlformats.org/officeDocument/2006/relationships/hyperlink" Target="https://machinelearningmastery.com/gradient-descent-for-machine-learning/" TargetMode="External"/><Relationship Id="rId4" Type="http://schemas.openxmlformats.org/officeDocument/2006/relationships/hyperlink" Target="https://towardsdatascience.com/gradient-descent-animation-1-simple-linear-regression-e49315b24672" TargetMode="External"/><Relationship Id="rId5" Type="http://schemas.openxmlformats.org/officeDocument/2006/relationships/slideLayout" Target="../slideLayouts/slideLayout7.xml"/><Relationship Id="rId6" Type="http://schemas.openxmlformats.org/officeDocument/2006/relationships/notesSlide" Target="../notesSlides/notesSlide2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CustomShape 1"/>
          <p:cNvSpPr/>
          <p:nvPr/>
        </p:nvSpPr>
        <p:spPr>
          <a:xfrm>
            <a:off x="2233440" y="2430000"/>
            <a:ext cx="7724520" cy="19972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4400" b="0" u="none" strike="noStrike">
                <a:solidFill>
                  <a:srgbClr val="FF0000"/>
                </a:solidFill>
                <a:effectLst/>
                <a:uFillTx/>
                <a:latin typeface="Calibri Light"/>
                <a:ea typeface="DejaVu Sans"/>
              </a:rPr>
              <a:t>Machine Learning  </a:t>
            </a:r>
            <a:br>
              <a:rPr sz="1800"/>
            </a:br>
            <a:r>
              <a:rPr lang="es-ES" sz="4400" b="0" u="none" strike="noStrike">
                <a:solidFill>
                  <a:srgbClr val="FF0000"/>
                </a:solidFill>
                <a:effectLst/>
                <a:uFillTx/>
                <a:latin typeface="Calibri Light"/>
                <a:ea typeface="DejaVu Sans"/>
              </a:rPr>
              <a:t>Regresión Lineal</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Regresión Lineal</a:t>
            </a:r>
            <a:endParaRPr lang="es-ES" sz="4400" b="0" u="none" strike="noStrike">
              <a:solidFill>
                <a:srgbClr val="FFFFFF"/>
              </a:solidFill>
              <a:effectLst/>
              <a:uFillTx/>
              <a:latin typeface="Arial"/>
            </a:endParaRPr>
          </a:p>
        </p:txBody>
      </p:sp>
      <p:sp>
        <p:nvSpPr>
          <p:cNvPr id="44" name="CuadroTexto 2"/>
          <p:cNvSpPr/>
          <p:nvPr/>
        </p:nvSpPr>
        <p:spPr>
          <a:xfrm>
            <a:off x="838080" y="1510200"/>
            <a:ext cx="10337400" cy="6458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rgbClr val="FFFFFF"/>
                </a:solidFill>
                <a:effectLst/>
                <a:uFillTx/>
                <a:latin typeface="Calibri"/>
                <a:ea typeface="DejaVu Sans"/>
              </a:rPr>
              <a:t>Método estadístico que modela la relación entre una variable continua y una o más variables independientes</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p:txBody>
      </p:sp>
      <p:pic>
        <p:nvPicPr>
          <p:cNvPr id="45" name="Picture 2" descr="Resultado de imagen de regresion lineal"/>
          <p:cNvPicPr/>
          <p:nvPr/>
        </p:nvPicPr>
        <p:blipFill>
          <a:blip r:embed="rId1"/>
          <a:stretch/>
        </p:blipFill>
        <p:spPr>
          <a:xfrm>
            <a:off x="875160" y="2455200"/>
            <a:ext cx="3752640" cy="2322360"/>
          </a:xfrm>
          <a:prstGeom prst="rect">
            <a:avLst/>
          </a:prstGeom>
          <a:solidFill>
            <a:schemeClr val="bg1"/>
          </a:solidFill>
          <a:ln w="0">
            <a:noFill/>
          </a:ln>
        </p:spPr>
      </p:pic>
      <p:sp>
        <p:nvSpPr>
          <p:cNvPr id="46" name="CuadroTexto 9"/>
          <p:cNvSpPr/>
          <p:nvPr/>
        </p:nvSpPr>
        <p:spPr>
          <a:xfrm>
            <a:off x="5466240" y="2884680"/>
            <a:ext cx="5562360" cy="2031120"/>
          </a:xfrm>
          <a:prstGeom prst="rect">
            <a:avLst/>
          </a:prstGeom>
          <a:noFill/>
          <a:ln w="0">
            <a:noFill/>
          </a:ln>
        </p:spPr>
        <p:style>
          <a:lnRef idx="0"/>
          <a:fillRef idx="0"/>
          <a:effectRef idx="0"/>
          <a:fontRef idx="minor"/>
        </p:style>
        <p:txBody>
          <a:bodyPr lIns="90000" tIns="45000" rIns="90000" bIns="45000" anchor="t">
            <a:spAutoFit/>
          </a:bodyPr>
          <a:p>
            <a:pPr marL="343080" indent="-343080" defTabSz="914400">
              <a:lnSpc>
                <a:spcPct val="100000"/>
              </a:lnSpc>
              <a:buClr>
                <a:srgbClr val="FFFFFF"/>
              </a:buClr>
              <a:buFont typeface="OpenSymbol"/>
              <a:buAutoNum type="arabicPeriod"/>
            </a:pPr>
            <a:r>
              <a:rPr lang="es-ES" sz="1800" b="0" u="none" strike="noStrike">
                <a:solidFill>
                  <a:srgbClr val="FFFFFF"/>
                </a:solidFill>
                <a:effectLst/>
                <a:uFillTx/>
                <a:latin typeface="Calibri"/>
                <a:ea typeface="DejaVu Sans"/>
              </a:rPr>
              <a:t>Estimación de las ventas a partir del gasto en marketing</a:t>
            </a:r>
            <a:endParaRPr lang="es-ES" sz="1800" b="0" u="none" strike="noStrike">
              <a:solidFill>
                <a:srgbClr val="FFFFFF"/>
              </a:solidFill>
              <a:effectLst/>
              <a:uFillTx/>
              <a:latin typeface="Arial"/>
            </a:endParaRPr>
          </a:p>
          <a:p>
            <a:pPr marL="343080" indent="-343080" defTabSz="914400">
              <a:lnSpc>
                <a:spcPct val="100000"/>
              </a:lnSpc>
              <a:buClr>
                <a:srgbClr val="FFFFFF"/>
              </a:buClr>
              <a:buFont typeface="OpenSymbol"/>
              <a:buAutoNum type="arabicPeriod"/>
            </a:pPr>
            <a:r>
              <a:rPr lang="es-ES" sz="1800" b="0" u="none" strike="noStrike">
                <a:solidFill>
                  <a:srgbClr val="FFFFFF"/>
                </a:solidFill>
                <a:effectLst/>
                <a:uFillTx/>
                <a:latin typeface="Calibri"/>
                <a:ea typeface="DejaVu Sans"/>
              </a:rPr>
              <a:t>Estimación del consumo de gasolina en función de la distancia.</a:t>
            </a:r>
            <a:endParaRPr lang="es-ES" sz="1800" b="0" u="none" strike="noStrike">
              <a:solidFill>
                <a:srgbClr val="FFFFFF"/>
              </a:solidFill>
              <a:effectLst/>
              <a:uFillTx/>
              <a:latin typeface="Arial"/>
            </a:endParaRPr>
          </a:p>
          <a:p>
            <a:pPr marL="343080" indent="-343080" defTabSz="914400">
              <a:lnSpc>
                <a:spcPct val="100000"/>
              </a:lnSpc>
              <a:buClr>
                <a:srgbClr val="FFFFFF"/>
              </a:buClr>
              <a:buFont typeface="OpenSymbol"/>
              <a:buAutoNum type="arabicPeriod"/>
            </a:pPr>
            <a:r>
              <a:rPr lang="es-ES" sz="1800" b="0" u="none" strike="noStrike">
                <a:solidFill>
                  <a:srgbClr val="FFFFFF"/>
                </a:solidFill>
                <a:effectLst/>
                <a:uFillTx/>
                <a:latin typeface="Calibri"/>
                <a:ea typeface="DejaVu Sans"/>
              </a:rPr>
              <a:t>Predicción de precios de casas en función de los metros cuadrados (entre otras variables)</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p:txBody>
      </p:sp>
      <p:pic>
        <p:nvPicPr>
          <p:cNvPr id="47" name="Picture 9"/>
          <p:cNvPicPr/>
          <p:nvPr/>
        </p:nvPicPr>
        <p:blipFill>
          <a:blip r:embed="rId2"/>
          <a:stretch/>
        </p:blipFill>
        <p:spPr>
          <a:xfrm>
            <a:off x="1534320" y="5347800"/>
            <a:ext cx="2389320" cy="948600"/>
          </a:xfrm>
          <a:prstGeom prst="rect">
            <a:avLst/>
          </a:prstGeom>
          <a:noFill/>
          <a:ln w="0">
            <a:noFill/>
          </a:ln>
        </p:spPr>
      </p:pic>
      <p:sp>
        <p:nvSpPr>
          <p:cNvPr id="48" name="CuadroTexto 3"/>
          <p:cNvSpPr/>
          <p:nvPr/>
        </p:nvSpPr>
        <p:spPr>
          <a:xfrm>
            <a:off x="3987360" y="5619240"/>
            <a:ext cx="1534320" cy="3690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ES" sz="1800" b="0" u="none" strike="noStrike">
                <a:solidFill>
                  <a:schemeClr val="lt1"/>
                </a:solidFill>
                <a:effectLst/>
                <a:uFillTx/>
                <a:latin typeface="Arial"/>
                <a:ea typeface="DejaVu Sans"/>
              </a:rPr>
              <a:t>Y = 5 + 6X</a:t>
            </a: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49" name="CustomShape 1"/>
          <p:cNvSpPr/>
          <p:nvPr/>
        </p:nvSpPr>
        <p:spPr>
          <a:xfrm>
            <a:off x="649080" y="629280"/>
            <a:ext cx="4943160" cy="1621080"/>
          </a:xfrm>
          <a:prstGeom prst="rect">
            <a:avLst/>
          </a:prstGeom>
          <a:noFill/>
          <a:ln w="0">
            <a:noFill/>
          </a:ln>
        </p:spPr>
        <p:style>
          <a:lnRef idx="0"/>
          <a:fillRef idx="0"/>
          <a:effectRef idx="0"/>
          <a:fontRef idx="minor"/>
        </p:style>
        <p:txBody>
          <a:bodyPr lIns="90000" tIns="45000" rIns="90000" bIns="45000" anchor="ctr">
            <a:normAutofit/>
          </a:bodyPr>
          <a:p>
            <a:pPr defTabSz="914400">
              <a:lnSpc>
                <a:spcPct val="90000"/>
              </a:lnSpc>
            </a:pPr>
            <a:r>
              <a:rPr lang="en-US" sz="4400" b="0" u="none" strike="noStrike">
                <a:solidFill>
                  <a:srgbClr val="FF0000"/>
                </a:solidFill>
                <a:effectLst/>
                <a:uFillTx/>
                <a:latin typeface="Calibri Light"/>
                <a:ea typeface="DejaVu Sans"/>
              </a:rPr>
              <a:t>Regresión Lineal</a:t>
            </a:r>
            <a:endParaRPr lang="es-ES" sz="4400" b="0" u="none" strike="noStrike">
              <a:solidFill>
                <a:srgbClr val="FFFFFF"/>
              </a:solidFill>
              <a:effectLst/>
              <a:uFillTx/>
              <a:latin typeface="Arial"/>
            </a:endParaRPr>
          </a:p>
        </p:txBody>
      </p:sp>
      <p:sp>
        <p:nvSpPr>
          <p:cNvPr id="50" name="CustomShape 2"/>
          <p:cNvSpPr/>
          <p:nvPr/>
        </p:nvSpPr>
        <p:spPr>
          <a:xfrm>
            <a:off x="649080" y="2438280"/>
            <a:ext cx="4943160" cy="3784320"/>
          </a:xfrm>
          <a:prstGeom prst="rect">
            <a:avLst/>
          </a:prstGeom>
          <a:noFill/>
          <a:ln w="0">
            <a:noFill/>
          </a:ln>
        </p:spPr>
        <p:style>
          <a:lnRef idx="0"/>
          <a:fillRef idx="0"/>
          <a:effectRef idx="0"/>
          <a:fontRef idx="minor"/>
        </p:style>
        <p:txBody>
          <a:bodyPr lIns="90000" tIns="45000" rIns="90000" bIns="45000" anchor="t">
            <a:normAutofit/>
          </a:bodyPr>
          <a:p>
            <a:pPr marL="228600" indent="-227880" defTabSz="914400">
              <a:lnSpc>
                <a:spcPct val="90000"/>
              </a:lnSpc>
              <a:spcBef>
                <a:spcPts val="1001"/>
              </a:spcBef>
              <a:buClr>
                <a:srgbClr val="FFFFFF"/>
              </a:buClr>
              <a:buFont typeface="Arial"/>
              <a:buChar char="•"/>
            </a:pPr>
            <a:r>
              <a:rPr lang="en-US" sz="1700" b="0" u="none" strike="noStrike">
                <a:solidFill>
                  <a:srgbClr val="FFFFFF"/>
                </a:solidFill>
                <a:effectLst/>
                <a:uFillTx/>
                <a:latin typeface="Calibri"/>
                <a:ea typeface="DejaVu Sans"/>
              </a:rPr>
              <a:t>¿Por qué </a:t>
            </a:r>
            <a:r>
              <a:rPr lang="en-US" sz="1700" b="0" i="1" u="sng" strike="noStrike">
                <a:solidFill>
                  <a:srgbClr val="FFFFFF"/>
                </a:solidFill>
                <a:effectLst/>
                <a:uFillTx/>
                <a:latin typeface="Calibri"/>
                <a:ea typeface="DejaVu Sans"/>
              </a:rPr>
              <a:t>regresión</a:t>
            </a:r>
            <a:r>
              <a:rPr lang="en-US" sz="1700" b="0" u="none" strike="noStrike">
                <a:solidFill>
                  <a:srgbClr val="FFFFFF"/>
                </a:solidFill>
                <a:effectLst/>
                <a:uFillTx/>
                <a:latin typeface="Calibri"/>
                <a:ea typeface="DejaVu Sans"/>
              </a:rPr>
              <a:t>? Porque expresa la relación entre una variable que se llama regresando (y, dependiente) y otra que se llama regresor (x, independiente).</a:t>
            </a:r>
            <a:endParaRPr lang="es-ES" sz="1700" b="0" u="none" strike="noStrike">
              <a:solidFill>
                <a:srgbClr val="FFFFFF"/>
              </a:solidFill>
              <a:effectLst/>
              <a:uFillTx/>
              <a:latin typeface="Arial"/>
            </a:endParaRPr>
          </a:p>
          <a:p>
            <a:pPr marL="228600" indent="-227880" defTabSz="914400">
              <a:lnSpc>
                <a:spcPct val="90000"/>
              </a:lnSpc>
              <a:spcBef>
                <a:spcPts val="1001"/>
              </a:spcBef>
              <a:buClr>
                <a:srgbClr val="FFFFFF"/>
              </a:buClr>
              <a:buFont typeface="Arial"/>
              <a:buChar char="•"/>
            </a:pPr>
            <a:r>
              <a:rPr lang="en-US" sz="1700" b="0" u="none" strike="noStrike">
                <a:solidFill>
                  <a:srgbClr val="FFFFFF"/>
                </a:solidFill>
                <a:effectLst/>
                <a:uFillTx/>
                <a:latin typeface="Calibri"/>
                <a:ea typeface="DejaVu Sans"/>
              </a:rPr>
              <a:t>¿Por qué </a:t>
            </a:r>
            <a:r>
              <a:rPr lang="en-US" sz="1700" b="0" i="1" u="sng" strike="noStrike">
                <a:solidFill>
                  <a:srgbClr val="FFFFFF"/>
                </a:solidFill>
                <a:effectLst/>
                <a:uFillTx/>
                <a:latin typeface="Calibri"/>
                <a:ea typeface="DejaVu Sans"/>
              </a:rPr>
              <a:t>lineal</a:t>
            </a:r>
            <a:r>
              <a:rPr lang="en-US" sz="1700" b="0" u="none" strike="noStrike">
                <a:solidFill>
                  <a:srgbClr val="FFFFFF"/>
                </a:solidFill>
                <a:effectLst/>
                <a:uFillTx/>
                <a:latin typeface="Calibri"/>
                <a:ea typeface="DejaVu Sans"/>
              </a:rPr>
              <a:t>? </a:t>
            </a:r>
            <a:r>
              <a:rPr lang="es-ES" sz="1700" b="0" u="none" strike="noStrike">
                <a:solidFill>
                  <a:srgbClr val="FFFFFF"/>
                </a:solidFill>
                <a:effectLst/>
                <a:uFillTx/>
                <a:latin typeface="Calibri"/>
                <a:ea typeface="DejaVu Sans"/>
              </a:rPr>
              <a:t>Los parámetros de la ecuación se incorporan de forma lineal</a:t>
            </a:r>
            <a:endParaRPr lang="es-ES" sz="1700" b="0" u="none" strike="noStrike">
              <a:solidFill>
                <a:srgbClr val="FFFFFF"/>
              </a:solidFill>
              <a:effectLst/>
              <a:uFillTx/>
              <a:latin typeface="Arial"/>
            </a:endParaRPr>
          </a:p>
          <a:p>
            <a:pPr marL="228600" indent="-227880" defTabSz="914400">
              <a:lnSpc>
                <a:spcPct val="90000"/>
              </a:lnSpc>
              <a:spcBef>
                <a:spcPts val="1001"/>
              </a:spcBef>
              <a:buClr>
                <a:srgbClr val="FFFFFF"/>
              </a:buClr>
              <a:buFont typeface="Arial"/>
              <a:buChar char="•"/>
            </a:pPr>
            <a:r>
              <a:rPr lang="en-US" sz="1700" b="0" u="none" strike="noStrike">
                <a:solidFill>
                  <a:srgbClr val="FFFFFF"/>
                </a:solidFill>
                <a:effectLst/>
                <a:uFillTx/>
                <a:latin typeface="Calibri"/>
                <a:ea typeface="DejaVu Sans"/>
              </a:rPr>
              <a:t>Es una </a:t>
            </a:r>
            <a:r>
              <a:rPr lang="en-US" sz="1700" b="0" i="1" u="sng" strike="noStrike">
                <a:solidFill>
                  <a:srgbClr val="FFFFFF"/>
                </a:solidFill>
                <a:effectLst/>
                <a:uFillTx/>
                <a:latin typeface="Calibri"/>
                <a:ea typeface="DejaVu Sans"/>
              </a:rPr>
              <a:t>técnica paramétrica</a:t>
            </a:r>
            <a:r>
              <a:rPr lang="en-US" sz="1700" b="0" u="none" strike="noStrike">
                <a:solidFill>
                  <a:srgbClr val="FFFFFF"/>
                </a:solidFill>
                <a:effectLst/>
                <a:uFillTx/>
                <a:latin typeface="Calibri"/>
                <a:ea typeface="DejaVu Sans"/>
              </a:rPr>
              <a:t> porque hace varias suposiciones sobre el conjunto de datos.</a:t>
            </a:r>
            <a:endParaRPr lang="es-ES" sz="1700" b="0" u="none" strike="noStrike">
              <a:solidFill>
                <a:srgbClr val="FFFFFF"/>
              </a:solidFill>
              <a:effectLst/>
              <a:uFillTx/>
              <a:latin typeface="Arial"/>
            </a:endParaRPr>
          </a:p>
          <a:p>
            <a:pPr marL="228600" indent="-227880" defTabSz="914400">
              <a:lnSpc>
                <a:spcPct val="90000"/>
              </a:lnSpc>
              <a:spcBef>
                <a:spcPts val="1001"/>
              </a:spcBef>
              <a:buClr>
                <a:srgbClr val="FFFFFF"/>
              </a:buClr>
              <a:buFont typeface="Arial"/>
              <a:buChar char="•"/>
            </a:pPr>
            <a:r>
              <a:rPr lang="en-US" sz="1700" b="0" u="none" strike="noStrike">
                <a:solidFill>
                  <a:srgbClr val="FFFFFF"/>
                </a:solidFill>
                <a:effectLst/>
                <a:uFillTx/>
                <a:latin typeface="Calibri"/>
                <a:ea typeface="DejaVu Sans"/>
              </a:rPr>
              <a:t>Uno de los métodos estadísticos de predicción más utilizados. </a:t>
            </a:r>
            <a:endParaRPr lang="es-ES" sz="1700" b="0" u="none" strike="noStrike">
              <a:solidFill>
                <a:srgbClr val="FFFFFF"/>
              </a:solidFill>
              <a:effectLst/>
              <a:uFillTx/>
              <a:latin typeface="Arial"/>
            </a:endParaRPr>
          </a:p>
          <a:p>
            <a:pPr defTabSz="914400">
              <a:lnSpc>
                <a:spcPct val="90000"/>
              </a:lnSpc>
              <a:spcBef>
                <a:spcPts val="1001"/>
              </a:spcBef>
            </a:pPr>
            <a:endParaRPr lang="es-ES" sz="1700" b="0" u="none" strike="noStrike">
              <a:solidFill>
                <a:srgbClr val="FFFFFF"/>
              </a:solidFill>
              <a:effectLst/>
              <a:uFillTx/>
              <a:latin typeface="Arial"/>
            </a:endParaRPr>
          </a:p>
        </p:txBody>
      </p:sp>
      <p:sp>
        <p:nvSpPr>
          <p:cNvPr id="51" name="CustomShape 3"/>
          <p:cNvSpPr/>
          <p:nvPr/>
        </p:nvSpPr>
        <p:spPr>
          <a:xfrm>
            <a:off x="6093000" y="0"/>
            <a:ext cx="6098040" cy="685692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52" name="CustomShape 4"/>
          <p:cNvSpPr/>
          <p:nvPr/>
        </p:nvSpPr>
        <p:spPr>
          <a:xfrm>
            <a:off x="6577560" y="557640"/>
            <a:ext cx="5129280" cy="5738040"/>
          </a:xfrm>
          <a:prstGeom prst="roundRect">
            <a:avLst>
              <a:gd name="adj" fmla="val 0"/>
            </a:avLst>
          </a:prstGeom>
          <a:solidFill>
            <a:srgbClr val="FFFFFF"/>
          </a:solidFill>
          <a:ln w="9525">
            <a:solidFill>
              <a:srgbClr val="C8CACA"/>
            </a:solidFill>
          </a:ln>
          <a:effectLst>
            <a:outerShdw algn="t" blurRad="57240" dir="5400000" dist="19080" rotWithShape="0">
              <a:srgbClr val="000000">
                <a:alpha val="63000"/>
              </a:srgbClr>
            </a:outerShdw>
          </a:effectLst>
        </p:spPr>
        <p:style>
          <a:lnRef idx="2">
            <a:schemeClr val="accent1">
              <a:shade val="50000"/>
            </a:schemeClr>
          </a:lnRef>
          <a:fillRef idx="1">
            <a:schemeClr val="accent1"/>
          </a:fillRef>
          <a:effectRef idx="0">
            <a:schemeClr val="accent1"/>
          </a:effectRef>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53" name="Picture 2" descr="Resultado de imagen de regresion lineal"/>
          <p:cNvPicPr/>
          <p:nvPr/>
        </p:nvPicPr>
        <p:blipFill>
          <a:blip r:embed="rId1"/>
          <a:stretch/>
        </p:blipFill>
        <p:spPr>
          <a:xfrm>
            <a:off x="6904800" y="1950480"/>
            <a:ext cx="4474440" cy="29527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Tipos de regresión lineal</a:t>
            </a:r>
            <a:endParaRPr lang="es-ES" sz="4400" b="0" u="none" strike="noStrike">
              <a:solidFill>
                <a:srgbClr val="FFFFFF"/>
              </a:solidFill>
              <a:effectLst/>
              <a:uFillTx/>
              <a:latin typeface="Arial"/>
            </a:endParaRPr>
          </a:p>
        </p:txBody>
      </p:sp>
      <p:sp>
        <p:nvSpPr>
          <p:cNvPr id="55" name="CustomShape 2"/>
          <p:cNvSpPr/>
          <p:nvPr/>
        </p:nvSpPr>
        <p:spPr>
          <a:xfrm>
            <a:off x="6555960" y="5503320"/>
            <a:ext cx="4106160" cy="114948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90000"/>
              </a:lnSpc>
              <a:spcBef>
                <a:spcPts val="1001"/>
              </a:spcBef>
              <a:tabLst>
                <a:tab pos="0" algn="l"/>
              </a:tabLst>
            </a:pPr>
            <a:r>
              <a:rPr lang="es-ES" sz="1800" b="0" u="none" strike="noStrike">
                <a:solidFill>
                  <a:srgbClr val="FFFFFF"/>
                </a:solidFill>
                <a:effectLst/>
                <a:uFillTx/>
                <a:latin typeface="Calibri"/>
                <a:ea typeface="DejaVu Sans"/>
              </a:rPr>
              <a:t>Regresión lineal múltiple</a:t>
            </a:r>
            <a:endParaRPr lang="es-ES" sz="1800" b="0" u="none" strike="noStrike">
              <a:solidFill>
                <a:srgbClr val="FFFFFF"/>
              </a:solidFill>
              <a:effectLst/>
              <a:uFillTx/>
              <a:latin typeface="Arial"/>
            </a:endParaRPr>
          </a:p>
          <a:p>
            <a:pPr algn="ctr" defTabSz="914400">
              <a:lnSpc>
                <a:spcPct val="90000"/>
              </a:lnSpc>
              <a:spcBef>
                <a:spcPts val="1001"/>
              </a:spcBef>
              <a:tabLst>
                <a:tab pos="0" algn="l"/>
              </a:tabLst>
            </a:pPr>
            <a:endParaRPr lang="es-ES" sz="1800" b="0" u="none" strike="noStrike">
              <a:solidFill>
                <a:srgbClr val="FFFFFF"/>
              </a:solidFill>
              <a:effectLst/>
              <a:uFillTx/>
              <a:latin typeface="Arial"/>
            </a:endParaRPr>
          </a:p>
          <a:p>
            <a:pPr algn="ctr" defTabSz="914400">
              <a:lnSpc>
                <a:spcPct val="90000"/>
              </a:lnSpc>
              <a:spcBef>
                <a:spcPts val="1001"/>
              </a:spcBef>
              <a:tabLst>
                <a:tab pos="0" algn="l"/>
              </a:tabLst>
            </a:pPr>
            <a:r>
              <a:rPr lang="es-ES" sz="1800" b="0" u="none" strike="noStrike">
                <a:solidFill>
                  <a:schemeClr val="lt1"/>
                </a:solidFill>
                <a:effectLst/>
                <a:uFillTx/>
                <a:latin typeface="Arial"/>
                <a:ea typeface="DejaVu Sans"/>
              </a:rPr>
              <a:t>Y = β</a:t>
            </a:r>
            <a:r>
              <a:rPr lang="es-ES" sz="1800" b="0" u="none" strike="noStrike" baseline="-25000">
                <a:solidFill>
                  <a:schemeClr val="lt1"/>
                </a:solidFill>
                <a:effectLst/>
                <a:uFillTx/>
                <a:latin typeface="Arial"/>
                <a:ea typeface="DejaVu Sans"/>
              </a:rPr>
              <a:t>0</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2</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2</a:t>
            </a:r>
            <a:r>
              <a:rPr lang="es-ES" sz="1800" b="0" u="none" strike="noStrike">
                <a:solidFill>
                  <a:schemeClr val="lt1"/>
                </a:solidFill>
                <a:effectLst/>
                <a:uFillTx/>
                <a:latin typeface="Arial"/>
                <a:ea typeface="DejaVu Sans"/>
              </a:rPr>
              <a:t> + …. +β</a:t>
            </a:r>
            <a:r>
              <a:rPr lang="es-ES" sz="1800" b="0" u="none" strike="noStrike" baseline="-25000">
                <a:solidFill>
                  <a:schemeClr val="lt1"/>
                </a:solidFill>
                <a:effectLst/>
                <a:uFillTx/>
                <a:latin typeface="Arial"/>
                <a:ea typeface="DejaVu Sans"/>
              </a:rPr>
              <a:t>j</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j</a:t>
            </a:r>
            <a:endParaRPr lang="es-ES" sz="1800" b="0" u="none" strike="noStrike">
              <a:solidFill>
                <a:srgbClr val="FFFFFF"/>
              </a:solidFill>
              <a:effectLst/>
              <a:uFillTx/>
              <a:latin typeface="Arial"/>
            </a:endParaRPr>
          </a:p>
        </p:txBody>
      </p:sp>
      <p:pic>
        <p:nvPicPr>
          <p:cNvPr id="56" name="Picture 5"/>
          <p:cNvPicPr/>
          <p:nvPr/>
        </p:nvPicPr>
        <p:blipFill>
          <a:blip r:embed="rId1"/>
          <a:stretch/>
        </p:blipFill>
        <p:spPr>
          <a:xfrm>
            <a:off x="6325920" y="2615400"/>
            <a:ext cx="4336200" cy="2540880"/>
          </a:xfrm>
          <a:prstGeom prst="rect">
            <a:avLst/>
          </a:prstGeom>
          <a:noFill/>
          <a:ln w="0">
            <a:noFill/>
          </a:ln>
        </p:spPr>
      </p:pic>
      <p:sp>
        <p:nvSpPr>
          <p:cNvPr id="57" name="CustomShape 3"/>
          <p:cNvSpPr/>
          <p:nvPr/>
        </p:nvSpPr>
        <p:spPr>
          <a:xfrm>
            <a:off x="1374120" y="5534640"/>
            <a:ext cx="3579840" cy="11984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ES" sz="1800" b="0" u="none" strike="noStrike">
                <a:solidFill>
                  <a:srgbClr val="FFFFFF"/>
                </a:solidFill>
                <a:effectLst/>
                <a:uFillTx/>
                <a:latin typeface="Calibri"/>
                <a:ea typeface="DejaVu Sans"/>
              </a:rPr>
              <a:t>Regresión lineal simple</a:t>
            </a:r>
            <a:endParaRPr lang="es-ES" sz="1800" b="0" u="none" strike="noStrike">
              <a:solidFill>
                <a:srgbClr val="FFFFFF"/>
              </a:solidFill>
              <a:effectLst/>
              <a:uFillTx/>
              <a:latin typeface="Arial"/>
            </a:endParaRPr>
          </a:p>
          <a:p>
            <a:pPr algn="ctr" defTabSz="914400">
              <a:lnSpc>
                <a:spcPct val="100000"/>
              </a:lnSpc>
            </a:pPr>
            <a:endParaRPr lang="es-ES" sz="1800" b="0" u="none" strike="noStrike">
              <a:solidFill>
                <a:srgbClr val="FFFFFF"/>
              </a:solidFill>
              <a:effectLst/>
              <a:uFillTx/>
              <a:latin typeface="Arial"/>
            </a:endParaRPr>
          </a:p>
          <a:p>
            <a:pPr algn="ctr" defTabSz="914400">
              <a:lnSpc>
                <a:spcPct val="100000"/>
              </a:lnSpc>
            </a:pPr>
            <a:r>
              <a:rPr lang="es-ES" sz="1800" b="0" u="none" strike="noStrike">
                <a:solidFill>
                  <a:schemeClr val="lt1"/>
                </a:solidFill>
                <a:effectLst/>
                <a:uFillTx/>
                <a:latin typeface="Arial"/>
                <a:ea typeface="DejaVu Sans"/>
              </a:rPr>
              <a:t>Y = β</a:t>
            </a:r>
            <a:r>
              <a:rPr lang="es-ES" sz="1800" b="0" u="none" strike="noStrike" baseline="-25000">
                <a:solidFill>
                  <a:schemeClr val="lt1"/>
                </a:solidFill>
                <a:effectLst/>
                <a:uFillTx/>
                <a:latin typeface="Arial"/>
                <a:ea typeface="DejaVu Sans"/>
              </a:rPr>
              <a:t>0</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1</a:t>
            </a:r>
            <a:endParaRPr lang="es-ES" sz="1800" b="0" u="none" strike="noStrike">
              <a:solidFill>
                <a:srgbClr val="FFFFFF"/>
              </a:solidFill>
              <a:effectLst/>
              <a:uFillTx/>
              <a:latin typeface="Arial"/>
            </a:endParaRPr>
          </a:p>
          <a:p>
            <a:pPr algn="ctr" defTabSz="914400">
              <a:lnSpc>
                <a:spcPct val="100000"/>
              </a:lnSpc>
            </a:pPr>
            <a:endParaRPr lang="es-ES" sz="1800" b="0" u="none" strike="noStrike">
              <a:solidFill>
                <a:srgbClr val="FFFFFF"/>
              </a:solidFill>
              <a:effectLst/>
              <a:uFillTx/>
              <a:latin typeface="Arial"/>
            </a:endParaRPr>
          </a:p>
        </p:txBody>
      </p:sp>
      <p:pic>
        <p:nvPicPr>
          <p:cNvPr id="58" name="Picture 31"/>
          <p:cNvPicPr/>
          <p:nvPr/>
        </p:nvPicPr>
        <p:blipFill>
          <a:blip r:embed="rId2"/>
          <a:stretch/>
        </p:blipFill>
        <p:spPr>
          <a:xfrm>
            <a:off x="1188360" y="2615400"/>
            <a:ext cx="3897720" cy="2540880"/>
          </a:xfrm>
          <a:prstGeom prst="rect">
            <a:avLst/>
          </a:prstGeom>
          <a:noFill/>
          <a:ln w="0">
            <a:noFill/>
          </a:ln>
        </p:spPr>
      </p:pic>
      <p:pic>
        <p:nvPicPr>
          <p:cNvPr id="59" name="Imagen 2"/>
          <p:cNvPicPr/>
          <p:nvPr/>
        </p:nvPicPr>
        <p:blipFill>
          <a:blip r:embed="rId3"/>
          <a:stretch/>
        </p:blipFill>
        <p:spPr>
          <a:xfrm>
            <a:off x="6915960" y="751680"/>
            <a:ext cx="4803120" cy="1197360"/>
          </a:xfrm>
          <a:prstGeom prst="rect">
            <a:avLst/>
          </a:prstGeom>
          <a:noFill/>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¿Qué son los coeficientes?</a:t>
            </a:r>
            <a:endParaRPr lang="es-ES" sz="4400" b="0" u="none" strike="noStrike">
              <a:solidFill>
                <a:srgbClr val="FFFFFF"/>
              </a:solidFill>
              <a:effectLst/>
              <a:uFillTx/>
              <a:latin typeface="Arial"/>
            </a:endParaRPr>
          </a:p>
        </p:txBody>
      </p:sp>
      <p:sp>
        <p:nvSpPr>
          <p:cNvPr id="61" name="CuadroTexto 9"/>
          <p:cNvSpPr/>
          <p:nvPr/>
        </p:nvSpPr>
        <p:spPr>
          <a:xfrm>
            <a:off x="945000" y="2167920"/>
            <a:ext cx="8676360" cy="923040"/>
          </a:xfrm>
          <a:prstGeom prst="rect">
            <a:avLst/>
          </a:prstGeom>
          <a:noFill/>
          <a:ln w="0">
            <a:noFill/>
          </a:ln>
        </p:spPr>
        <p:style>
          <a:lnRef idx="0"/>
          <a:fillRef idx="0"/>
          <a:effectRef idx="0"/>
          <a:fontRef idx="minor"/>
        </p:style>
        <p:txBody>
          <a:bodyPr lIns="90000" tIns="45000" rIns="90000" bIns="45000" anchor="t">
            <a:spAutoFit/>
          </a:bodyPr>
          <a:p>
            <a:pPr marL="343080" indent="-343080" defTabSz="914400">
              <a:lnSpc>
                <a:spcPct val="100000"/>
              </a:lnSpc>
              <a:buClr>
                <a:srgbClr val="FFFFFF"/>
              </a:buClr>
              <a:buFont typeface="OpenSymbol"/>
              <a:buAutoNum type="arabicPeriod"/>
            </a:pPr>
            <a:r>
              <a:rPr lang="es-ES" sz="1800" b="0" u="none" strike="noStrike">
                <a:solidFill>
                  <a:schemeClr val="lt1"/>
                </a:solidFill>
                <a:effectLst/>
                <a:uFillTx/>
                <a:latin typeface="Arial"/>
                <a:ea typeface="DejaVu Sans"/>
              </a:rPr>
              <a:t>β</a:t>
            </a:r>
            <a:r>
              <a:rPr lang="es-ES" sz="1800" b="0" u="none" strike="noStrike" baseline="-25000">
                <a:solidFill>
                  <a:schemeClr val="lt1"/>
                </a:solidFill>
                <a:effectLst/>
                <a:uFillTx/>
                <a:latin typeface="Arial"/>
                <a:ea typeface="DejaVu Sans"/>
              </a:rPr>
              <a:t>0</a:t>
            </a:r>
            <a:r>
              <a:rPr lang="es-ES" sz="1800" b="0" u="none" strike="noStrike">
                <a:solidFill>
                  <a:schemeClr val="lt1"/>
                </a:solidFill>
                <a:effectLst/>
                <a:uFillTx/>
                <a:latin typeface="Arial"/>
                <a:ea typeface="DejaVu Sans"/>
              </a:rPr>
              <a:t>: valor de variable respuesta para cuando todos los predictores son 0</a:t>
            </a:r>
            <a:endParaRPr lang="es-ES" sz="1800" b="0" u="none" strike="noStrike">
              <a:solidFill>
                <a:srgbClr val="FFFFFF"/>
              </a:solidFill>
              <a:effectLst/>
              <a:uFillTx/>
              <a:latin typeface="Arial"/>
            </a:endParaRPr>
          </a:p>
          <a:p>
            <a:pPr marL="343080" indent="-343080" defTabSz="914400">
              <a:lnSpc>
                <a:spcPct val="100000"/>
              </a:lnSpc>
              <a:buClr>
                <a:srgbClr val="FFFFFF"/>
              </a:buClr>
              <a:buFont typeface="OpenSymbol"/>
              <a:buAutoNum type="arabicPeriod"/>
            </a:pPr>
            <a:r>
              <a:rPr lang="es-ES" sz="1800" b="0" u="none" strike="noStrike">
                <a:solidFill>
                  <a:schemeClr val="lt1"/>
                </a:solidFill>
                <a:effectLst/>
                <a:uFillTx/>
                <a:latin typeface="Arial"/>
                <a:ea typeface="DejaVu Sans"/>
              </a:rPr>
              <a:t>β</a:t>
            </a:r>
            <a:r>
              <a:rPr lang="es-ES" sz="1800" b="0" u="none" strike="noStrike" baseline="-25000">
                <a:solidFill>
                  <a:schemeClr val="lt1"/>
                </a:solidFill>
                <a:effectLst/>
                <a:uFillTx/>
                <a:latin typeface="Arial"/>
                <a:ea typeface="DejaVu Sans"/>
              </a:rPr>
              <a:t>j</a:t>
            </a:r>
            <a:r>
              <a:rPr lang="es-ES" sz="1800" b="0" u="none" strike="noStrike">
                <a:solidFill>
                  <a:schemeClr val="lt1"/>
                </a:solidFill>
                <a:effectLst/>
                <a:uFillTx/>
                <a:latin typeface="Arial"/>
                <a:ea typeface="DejaVu Sans"/>
              </a:rPr>
              <a:t>: cuánto aumenta la variable respuesta cuando el predictor j incrementa en una unidad</a:t>
            </a:r>
            <a:endParaRPr lang="es-ES" sz="1800" b="0" u="none" strike="noStrike">
              <a:solidFill>
                <a:srgbClr val="FFFFFF"/>
              </a:solidFill>
              <a:effectLst/>
              <a:uFillTx/>
              <a:latin typeface="Arial"/>
            </a:endParaRPr>
          </a:p>
        </p:txBody>
      </p:sp>
      <p:pic>
        <p:nvPicPr>
          <p:cNvPr id="62" name="Picture 9"/>
          <p:cNvPicPr/>
          <p:nvPr/>
        </p:nvPicPr>
        <p:blipFill>
          <a:blip r:embed="rId1"/>
          <a:stretch/>
        </p:blipFill>
        <p:spPr>
          <a:xfrm>
            <a:off x="6248520" y="3966120"/>
            <a:ext cx="2389320" cy="948600"/>
          </a:xfrm>
          <a:prstGeom prst="rect">
            <a:avLst/>
          </a:prstGeom>
          <a:noFill/>
          <a:ln w="0">
            <a:noFill/>
          </a:ln>
        </p:spPr>
      </p:pic>
      <p:sp>
        <p:nvSpPr>
          <p:cNvPr id="63" name="CuadroTexto 3"/>
          <p:cNvSpPr/>
          <p:nvPr/>
        </p:nvSpPr>
        <p:spPr>
          <a:xfrm>
            <a:off x="8701560" y="4237560"/>
            <a:ext cx="1534320" cy="3690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ES" sz="1800" b="0" u="none" strike="noStrike">
                <a:solidFill>
                  <a:schemeClr val="lt1"/>
                </a:solidFill>
                <a:effectLst/>
                <a:uFillTx/>
                <a:latin typeface="Arial"/>
                <a:ea typeface="DejaVu Sans"/>
              </a:rPr>
              <a:t>Y = 5 + 6X</a:t>
            </a:r>
            <a:endParaRPr lang="es-ES" sz="1800" b="0" u="none" strike="noStrike">
              <a:solidFill>
                <a:srgbClr val="FFFFFF"/>
              </a:solidFill>
              <a:effectLst/>
              <a:uFillTx/>
              <a:latin typeface="Arial"/>
            </a:endParaRPr>
          </a:p>
        </p:txBody>
      </p:sp>
      <p:pic>
        <p:nvPicPr>
          <p:cNvPr id="64" name="Picture 2" descr="Resultado de imagen de regresion lineal"/>
          <p:cNvPicPr/>
          <p:nvPr/>
        </p:nvPicPr>
        <p:blipFill>
          <a:blip r:embed="rId2"/>
          <a:stretch/>
        </p:blipFill>
        <p:spPr>
          <a:xfrm>
            <a:off x="1955880" y="3509640"/>
            <a:ext cx="3164760" cy="1942560"/>
          </a:xfrm>
          <a:prstGeom prst="rect">
            <a:avLst/>
          </a:prstGeom>
          <a:solidFill>
            <a:schemeClr val="bg1"/>
          </a:solidFill>
          <a:ln w="0">
            <a:noFill/>
          </a:ln>
        </p:spPr>
      </p:pic>
      <p:sp>
        <p:nvSpPr>
          <p:cNvPr id="65" name="CustomShape 2"/>
          <p:cNvSpPr/>
          <p:nvPr/>
        </p:nvSpPr>
        <p:spPr>
          <a:xfrm>
            <a:off x="3889080" y="1620000"/>
            <a:ext cx="4106160" cy="55800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90000"/>
              </a:lnSpc>
              <a:spcBef>
                <a:spcPts val="1001"/>
              </a:spcBef>
              <a:tabLst>
                <a:tab pos="0" algn="l"/>
              </a:tabLst>
            </a:pPr>
            <a:r>
              <a:rPr lang="es-ES" sz="1800" b="0" u="none" strike="noStrike">
                <a:solidFill>
                  <a:schemeClr val="lt1"/>
                </a:solidFill>
                <a:effectLst/>
                <a:uFillTx/>
                <a:latin typeface="Arial"/>
                <a:ea typeface="DejaVu Sans"/>
              </a:rPr>
              <a:t>Y = β</a:t>
            </a:r>
            <a:r>
              <a:rPr lang="es-ES" sz="1800" b="0" u="none" strike="noStrike" baseline="-25000">
                <a:solidFill>
                  <a:schemeClr val="lt1"/>
                </a:solidFill>
                <a:effectLst/>
                <a:uFillTx/>
                <a:latin typeface="Arial"/>
                <a:ea typeface="DejaVu Sans"/>
              </a:rPr>
              <a:t>0</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2</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2</a:t>
            </a:r>
            <a:r>
              <a:rPr lang="es-ES" sz="1800" b="0" u="none" strike="noStrike">
                <a:solidFill>
                  <a:schemeClr val="lt1"/>
                </a:solidFill>
                <a:effectLst/>
                <a:uFillTx/>
                <a:latin typeface="Arial"/>
                <a:ea typeface="DejaVu Sans"/>
              </a:rPr>
              <a:t> + …. +β</a:t>
            </a:r>
            <a:r>
              <a:rPr lang="es-ES" sz="1800" b="0" u="none" strike="noStrike" baseline="-25000">
                <a:solidFill>
                  <a:schemeClr val="lt1"/>
                </a:solidFill>
                <a:effectLst/>
                <a:uFillTx/>
                <a:latin typeface="Arial"/>
                <a:ea typeface="DejaVu Sans"/>
              </a:rPr>
              <a:t>j</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j</a:t>
            </a: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¿Qué son los coeficientes?</a:t>
            </a:r>
            <a:endParaRPr lang="es-ES" sz="4400" b="0" u="none" strike="noStrike">
              <a:solidFill>
                <a:srgbClr val="FFFFFF"/>
              </a:solidFill>
              <a:effectLst/>
              <a:uFillTx/>
              <a:latin typeface="Arial"/>
            </a:endParaRPr>
          </a:p>
        </p:txBody>
      </p:sp>
      <p:pic>
        <p:nvPicPr>
          <p:cNvPr id="67" name="Imagen 12"/>
          <p:cNvPicPr/>
          <p:nvPr/>
        </p:nvPicPr>
        <p:blipFill>
          <a:blip r:embed="rId1"/>
          <a:stretch/>
        </p:blipFill>
        <p:spPr>
          <a:xfrm>
            <a:off x="3521160" y="2070000"/>
            <a:ext cx="4803120" cy="1197360"/>
          </a:xfrm>
          <a:prstGeom prst="rect">
            <a:avLst/>
          </a:prstGeom>
          <a:noFill/>
          <a:ln w="0">
            <a:noFill/>
          </a:ln>
        </p:spPr>
      </p:pic>
      <p:sp>
        <p:nvSpPr>
          <p:cNvPr id="68" name="CustomShape 2"/>
          <p:cNvSpPr/>
          <p:nvPr/>
        </p:nvSpPr>
        <p:spPr>
          <a:xfrm>
            <a:off x="1785600" y="3693240"/>
            <a:ext cx="8273880" cy="57384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90000"/>
              </a:lnSpc>
              <a:spcBef>
                <a:spcPts val="1001"/>
              </a:spcBef>
              <a:tabLst>
                <a:tab pos="0" algn="l"/>
              </a:tabLst>
            </a:pPr>
            <a:r>
              <a:rPr lang="es-ES" sz="1800" b="0" u="none" strike="noStrike">
                <a:solidFill>
                  <a:schemeClr val="lt1"/>
                </a:solidFill>
                <a:effectLst/>
                <a:uFillTx/>
                <a:latin typeface="Arial"/>
                <a:ea typeface="DejaVu Sans"/>
              </a:rPr>
              <a:t>Y = β</a:t>
            </a:r>
            <a:r>
              <a:rPr lang="es-ES" sz="1800" b="0" u="none" strike="noStrike" baseline="-25000">
                <a:solidFill>
                  <a:schemeClr val="lt1"/>
                </a:solidFill>
                <a:effectLst/>
                <a:uFillTx/>
                <a:latin typeface="Arial"/>
                <a:ea typeface="DejaVu Sans"/>
              </a:rPr>
              <a:t>0</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2</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2</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3</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3</a:t>
            </a:r>
            <a:endParaRPr lang="es-ES" sz="1800" b="0" u="none" strike="noStrike">
              <a:solidFill>
                <a:srgbClr val="FFFFFF"/>
              </a:solidFill>
              <a:effectLst/>
              <a:uFillTx/>
              <a:latin typeface="Arial"/>
            </a:endParaRPr>
          </a:p>
        </p:txBody>
      </p:sp>
      <p:sp>
        <p:nvSpPr>
          <p:cNvPr id="69" name="CustomShape 2"/>
          <p:cNvSpPr/>
          <p:nvPr/>
        </p:nvSpPr>
        <p:spPr>
          <a:xfrm>
            <a:off x="2071800" y="5176080"/>
            <a:ext cx="8168400" cy="68616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90000"/>
              </a:lnSpc>
              <a:spcBef>
                <a:spcPts val="1001"/>
              </a:spcBef>
              <a:tabLst>
                <a:tab pos="0" algn="l"/>
              </a:tabLst>
            </a:pPr>
            <a:r>
              <a:rPr lang="es-ES" sz="1800" b="0" u="none" strike="noStrike">
                <a:solidFill>
                  <a:schemeClr val="lt1"/>
                </a:solidFill>
                <a:effectLst/>
                <a:uFillTx/>
                <a:latin typeface="Arial"/>
                <a:ea typeface="DejaVu Sans"/>
              </a:rPr>
              <a:t>Sales = 500 + 50*(TV) + 20(radio) + 15(newspaper)</a:t>
            </a:r>
            <a:endParaRPr lang="es-ES" sz="1800" b="0" u="none" strike="noStrike">
              <a:solidFill>
                <a:srgbClr val="FFFFFF"/>
              </a:solidFill>
              <a:effectLst/>
              <a:uFillTx/>
              <a:latin typeface="Arial"/>
            </a:endParaRPr>
          </a:p>
        </p:txBody>
      </p:sp>
      <p:sp>
        <p:nvSpPr>
          <p:cNvPr id="70" name="CustomShape 2"/>
          <p:cNvSpPr/>
          <p:nvPr/>
        </p:nvSpPr>
        <p:spPr>
          <a:xfrm>
            <a:off x="2019240" y="4375800"/>
            <a:ext cx="8273880" cy="573840"/>
          </a:xfrm>
          <a:prstGeom prst="rect">
            <a:avLst/>
          </a:prstGeom>
          <a:noFill/>
          <a:ln w="0">
            <a:noFill/>
          </a:ln>
        </p:spPr>
        <p:style>
          <a:lnRef idx="0"/>
          <a:fillRef idx="0"/>
          <a:effectRef idx="0"/>
          <a:fontRef idx="minor"/>
        </p:style>
        <p:txBody>
          <a:bodyPr lIns="90000" tIns="45000" rIns="90000" bIns="45000" anchor="t">
            <a:normAutofit/>
          </a:bodyPr>
          <a:p>
            <a:pPr algn="ctr" defTabSz="914400">
              <a:lnSpc>
                <a:spcPct val="90000"/>
              </a:lnSpc>
              <a:spcBef>
                <a:spcPts val="1001"/>
              </a:spcBef>
              <a:tabLst>
                <a:tab pos="0" algn="l"/>
              </a:tabLst>
            </a:pPr>
            <a:r>
              <a:rPr lang="es-ES" sz="1800" b="0" u="none" strike="noStrike">
                <a:solidFill>
                  <a:schemeClr val="lt1"/>
                </a:solidFill>
                <a:effectLst/>
                <a:uFillTx/>
                <a:latin typeface="Arial"/>
                <a:ea typeface="DejaVu Sans"/>
              </a:rPr>
              <a:t>Sales = β</a:t>
            </a:r>
            <a:r>
              <a:rPr lang="es-ES" sz="1800" b="0" u="none" strike="noStrike" baseline="-25000">
                <a:solidFill>
                  <a:schemeClr val="lt1"/>
                </a:solidFill>
                <a:effectLst/>
                <a:uFillTx/>
                <a:latin typeface="Arial"/>
                <a:ea typeface="DejaVu Sans"/>
              </a:rPr>
              <a:t>0</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 *(TV) + β</a:t>
            </a:r>
            <a:r>
              <a:rPr lang="es-ES" sz="1800" b="0" u="none" strike="noStrike" baseline="-25000">
                <a:solidFill>
                  <a:schemeClr val="lt1"/>
                </a:solidFill>
                <a:effectLst/>
                <a:uFillTx/>
                <a:latin typeface="Arial"/>
                <a:ea typeface="DejaVu Sans"/>
              </a:rPr>
              <a:t>2</a:t>
            </a:r>
            <a:r>
              <a:rPr lang="es-ES" sz="1800" b="0" u="none" strike="noStrike">
                <a:solidFill>
                  <a:schemeClr val="lt1"/>
                </a:solidFill>
                <a:effectLst/>
                <a:uFillTx/>
                <a:latin typeface="Arial"/>
                <a:ea typeface="DejaVu Sans"/>
              </a:rPr>
              <a:t> (radio) + β</a:t>
            </a:r>
            <a:r>
              <a:rPr lang="es-ES" sz="1800" b="0" u="none" strike="noStrike" baseline="-25000">
                <a:solidFill>
                  <a:schemeClr val="lt1"/>
                </a:solidFill>
                <a:effectLst/>
                <a:uFillTx/>
                <a:latin typeface="Arial"/>
                <a:ea typeface="DejaVu Sans"/>
              </a:rPr>
              <a:t>3</a:t>
            </a:r>
            <a:r>
              <a:rPr lang="es-ES" sz="1800" b="0" u="none" strike="noStrike">
                <a:solidFill>
                  <a:schemeClr val="lt1"/>
                </a:solidFill>
                <a:effectLst/>
                <a:uFillTx/>
                <a:latin typeface="Arial"/>
                <a:ea typeface="DejaVu Sans"/>
              </a:rPr>
              <a:t> (newspaper)</a:t>
            </a: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fill="hold">
                      <p:stCondLst>
                        <p:cond delay="indefinite"/>
                      </p:stCondLst>
                      <p:childTnLst>
                        <p:par>
                          <p:cTn id="10" fill="hold">
                            <p:stCondLst>
                              <p:cond delay="0"/>
                            </p:stCondLst>
                            <p:childTnLst>
                              <p:par>
                                <p:cTn id="11" presetID="1" presetClass="entr" fill="hold" nodeType="clickEffect">
                                  <p:stCondLst>
                                    <p:cond delay="0"/>
                                  </p:stCondLst>
                                  <p:childTnLst>
                                    <p:set>
                                      <p:cBhvr>
                                        <p:cTn id="12" dur="1" fill="hold">
                                          <p:stCondLst>
                                            <p:cond delay="0"/>
                                          </p:stCondLst>
                                        </p:cTn>
                                        <p:tgtEl>
                                          <p:spTgt spid="7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fill="hold" nodeType="click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CustomShape 1"/>
          <p:cNvSpPr/>
          <p:nvPr/>
        </p:nvSpPr>
        <p:spPr>
          <a:xfrm>
            <a:off x="1980000" y="2430000"/>
            <a:ext cx="8385840" cy="19972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4400" b="0" u="none" strike="noStrike">
                <a:solidFill>
                  <a:srgbClr val="FF0000"/>
                </a:solidFill>
                <a:effectLst/>
                <a:uFillTx/>
                <a:latin typeface="Calibri Light"/>
                <a:ea typeface="DejaVu Sans"/>
              </a:rPr>
              <a:t>¿Cómo calculo los coeficientes </a:t>
            </a:r>
            <a:r>
              <a:rPr lang="el-GR" sz="4400" b="0" u="none" strike="noStrike">
                <a:solidFill>
                  <a:srgbClr val="FF0000"/>
                </a:solidFill>
                <a:effectLst/>
                <a:uFillTx/>
                <a:latin typeface="Calibri Light"/>
                <a:ea typeface="DejaVu Sans"/>
              </a:rPr>
              <a:t>β</a:t>
            </a:r>
            <a:r>
              <a:rPr lang="es-ES" sz="4400" b="0" u="none" strike="noStrike">
                <a:solidFill>
                  <a:srgbClr val="FF0000"/>
                </a:solidFill>
                <a:effectLst/>
                <a:uFillTx/>
                <a:latin typeface="Calibri Light"/>
                <a:ea typeface="DejaVu Sans"/>
              </a:rPr>
              <a:t>?</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Las </a:t>
            </a:r>
            <a:r>
              <a:rPr lang="el-GR" sz="4400" b="0" u="none" strike="noStrike">
                <a:solidFill>
                  <a:srgbClr val="FF0000"/>
                </a:solidFill>
                <a:effectLst/>
                <a:uFillTx/>
                <a:latin typeface="Calibri Light"/>
                <a:ea typeface="DejaVu Sans"/>
              </a:rPr>
              <a:t>β</a:t>
            </a:r>
            <a:r>
              <a:rPr lang="es-ES" sz="4400" b="0" u="none" strike="noStrike">
                <a:solidFill>
                  <a:srgbClr val="FF0000"/>
                </a:solidFill>
                <a:effectLst/>
                <a:uFillTx/>
                <a:latin typeface="Calibri Light"/>
                <a:ea typeface="DejaVu Sans"/>
              </a:rPr>
              <a:t> van a definir mi recta o hiperplano </a:t>
            </a:r>
            <a:endParaRPr lang="es-ES" sz="4400" b="0" u="none" strike="noStrike">
              <a:solidFill>
                <a:srgbClr val="FFFFFF"/>
              </a:solidFill>
              <a:effectLst/>
              <a:uFillTx/>
              <a:latin typeface="Arial"/>
            </a:endParaRPr>
          </a:p>
        </p:txBody>
      </p:sp>
      <p:pic>
        <p:nvPicPr>
          <p:cNvPr id="73" name="Picture 2" descr="Scatter plot of a strong positive correlation, (r = .93). | Download  Scientific Diagram"/>
          <p:cNvPicPr/>
          <p:nvPr/>
        </p:nvPicPr>
        <p:blipFill>
          <a:blip r:embed="rId1"/>
          <a:stretch/>
        </p:blipFill>
        <p:spPr>
          <a:xfrm>
            <a:off x="1659960" y="2359080"/>
            <a:ext cx="4656240" cy="3701520"/>
          </a:xfrm>
          <a:prstGeom prst="rect">
            <a:avLst/>
          </a:prstGeom>
          <a:noFill/>
          <a:ln w="0">
            <a:noFill/>
          </a:ln>
        </p:spPr>
      </p:pic>
      <p:cxnSp>
        <p:nvCxnSpPr>
          <p:cNvPr id="74" name="Conector recto 2"/>
          <p:cNvCxnSpPr/>
          <p:nvPr/>
        </p:nvCxnSpPr>
        <p:spPr>
          <a:xfrm flipV="1">
            <a:off x="1155960" y="1851480"/>
            <a:ext cx="2832480" cy="2603160"/>
          </a:xfrm>
          <a:prstGeom prst="straightConnector1">
            <a:avLst/>
          </a:prstGeom>
          <a:ln w="41275">
            <a:solidFill>
              <a:srgbClr val="FFFF00"/>
            </a:solidFill>
          </a:ln>
        </p:spPr>
      </p:cxnSp>
      <p:cxnSp>
        <p:nvCxnSpPr>
          <p:cNvPr id="75" name="Conector recto 9"/>
          <p:cNvCxnSpPr/>
          <p:nvPr/>
        </p:nvCxnSpPr>
        <p:spPr>
          <a:xfrm flipV="1">
            <a:off x="2144520" y="3501720"/>
            <a:ext cx="4405680" cy="577800"/>
          </a:xfrm>
          <a:prstGeom prst="straightConnector1">
            <a:avLst/>
          </a:prstGeom>
          <a:ln w="41275">
            <a:solidFill>
              <a:srgbClr val="00B0F0"/>
            </a:solidFill>
          </a:ln>
        </p:spPr>
      </p:cxnSp>
      <p:cxnSp>
        <p:nvCxnSpPr>
          <p:cNvPr id="76" name="Conector recto 11"/>
          <p:cNvCxnSpPr/>
          <p:nvPr/>
        </p:nvCxnSpPr>
        <p:spPr>
          <a:xfrm flipV="1">
            <a:off x="4049280" y="3501720"/>
            <a:ext cx="2826360" cy="2442600"/>
          </a:xfrm>
          <a:prstGeom prst="straightConnector1">
            <a:avLst/>
          </a:prstGeom>
          <a:ln w="41275">
            <a:solidFill>
              <a:srgbClr val="92D050"/>
            </a:solidFill>
          </a:ln>
        </p:spPr>
      </p:cxnSp>
      <p:cxnSp>
        <p:nvCxnSpPr>
          <p:cNvPr id="77" name="Conector recto 16"/>
          <p:cNvCxnSpPr/>
          <p:nvPr/>
        </p:nvCxnSpPr>
        <p:spPr>
          <a:xfrm flipV="1">
            <a:off x="2621880" y="2701800"/>
            <a:ext cx="3445560" cy="2628360"/>
          </a:xfrm>
          <a:prstGeom prst="straightConnector1">
            <a:avLst/>
          </a:prstGeom>
          <a:ln w="63500">
            <a:solidFill>
              <a:srgbClr val="FF0000"/>
            </a:solidFill>
          </a:ln>
        </p:spPr>
      </p:cxnSp>
      <p:pic>
        <p:nvPicPr>
          <p:cNvPr id="78" name="Imagen 17"/>
          <p:cNvPicPr/>
          <p:nvPr/>
        </p:nvPicPr>
        <p:blipFill>
          <a:blip r:embed="rId2"/>
          <a:stretch/>
        </p:blipFill>
        <p:spPr>
          <a:xfrm>
            <a:off x="7027560" y="2617560"/>
            <a:ext cx="4404960" cy="2923200"/>
          </a:xfrm>
          <a:prstGeom prst="rect">
            <a:avLst/>
          </a:prstGeom>
          <a:noFill/>
          <a:ln w="0">
            <a:noFill/>
          </a:ln>
        </p:spPr>
      </p:pic>
    </p:spTree>
  </p:cSld>
  <mc:AlternateContent>
    <mc:Choice Requires="p14">
      <p:transition spd="slow" p14:dur="2000"/>
    </mc:Choice>
    <mc:Fallback>
      <p:transition spd="slow"/>
    </mc:Fallback>
  </mc:AlternateContent>
  <p:timing>
    <p:tnLst>
      <p:par>
        <p:cTn id="17" dur="indefinite" restart="never" nodeType="tmRoot">
          <p:childTnLst>
            <p:seq>
              <p:cTn id="18" dur="indefinite" nodeType="mainSeq">
                <p:childTnLst>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7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7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fill="hold" nodeType="clickEffect">
                                  <p:stCondLst>
                                    <p:cond delay="0"/>
                                  </p:stCondLst>
                                  <p:childTnLst>
                                    <p:set>
                                      <p:cBhvr>
                                        <p:cTn id="34" dur="1" fill="hold">
                                          <p:stCondLst>
                                            <p:cond delay="0"/>
                                          </p:stCondLst>
                                        </p:cTn>
                                        <p:tgtEl>
                                          <p:spTgt spid="7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fill="hold" nodeType="clickEffect">
                                  <p:stCondLst>
                                    <p:cond delay="0"/>
                                  </p:stCondLst>
                                  <p:childTnLst>
                                    <p:set>
                                      <p:cBhvr>
                                        <p:cTn id="38"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CustomShape 1"/>
          <p:cNvSpPr/>
          <p:nvPr/>
        </p:nvSpPr>
        <p:spPr>
          <a:xfrm>
            <a:off x="1980000" y="2430000"/>
            <a:ext cx="8385840" cy="19972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4400" b="0" u="none" strike="noStrike">
                <a:solidFill>
                  <a:srgbClr val="FF0000"/>
                </a:solidFill>
                <a:effectLst/>
                <a:uFillTx/>
                <a:latin typeface="Calibri Light"/>
                <a:ea typeface="DejaVu Sans"/>
              </a:rPr>
              <a:t>¿Cómo medimos el error cometido?</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Shape 1"/>
          <p:cNvSpPr/>
          <p:nvPr/>
        </p:nvSpPr>
        <p:spPr>
          <a:xfrm>
            <a:off x="900000" y="3240000"/>
            <a:ext cx="2519640" cy="829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600" b="0" u="none" strike="noStrike">
                <a:solidFill>
                  <a:schemeClr val="dk1"/>
                </a:solidFill>
                <a:effectLst/>
                <a:uFillTx/>
                <a:latin typeface="Arial"/>
                <a:ea typeface="DejaVu Sans"/>
              </a:rPr>
              <a:t>N = n.º observaciones</a:t>
            </a:r>
            <a:endParaRPr lang="es-ES" sz="1600" b="0" u="none" strike="noStrike">
              <a:solidFill>
                <a:srgbClr val="FFFFFF"/>
              </a:solidFill>
              <a:effectLst/>
              <a:uFillTx/>
              <a:latin typeface="Arial"/>
            </a:endParaRPr>
          </a:p>
          <a:p>
            <a:pPr defTabSz="914400">
              <a:lnSpc>
                <a:spcPct val="100000"/>
              </a:lnSpc>
            </a:pPr>
            <a:r>
              <a:rPr lang="es-ES" sz="1600" b="0" u="none" strike="noStrike">
                <a:solidFill>
                  <a:schemeClr val="dk1"/>
                </a:solidFill>
                <a:effectLst/>
                <a:uFillTx/>
                <a:latin typeface="Arial"/>
                <a:ea typeface="DejaVu Sans"/>
              </a:rPr>
              <a:t>Y = valores reales</a:t>
            </a:r>
            <a:endParaRPr lang="es-ES" sz="1600" b="0" u="none" strike="noStrike">
              <a:solidFill>
                <a:srgbClr val="FFFFFF"/>
              </a:solidFill>
              <a:effectLst/>
              <a:uFillTx/>
              <a:latin typeface="Arial"/>
            </a:endParaRPr>
          </a:p>
          <a:p>
            <a:pPr defTabSz="914400">
              <a:lnSpc>
                <a:spcPct val="100000"/>
              </a:lnSpc>
            </a:pPr>
            <a:r>
              <a:rPr lang="es-ES" sz="1600" b="0" u="none" strike="noStrike">
                <a:solidFill>
                  <a:schemeClr val="dk1"/>
                </a:solidFill>
                <a:effectLst/>
                <a:uFillTx/>
                <a:latin typeface="Arial"/>
                <a:ea typeface="DejaVu Sans"/>
              </a:rPr>
              <a:t>Ŷ = valores predichos</a:t>
            </a:r>
            <a:endParaRPr lang="es-ES" sz="1600" b="0" u="none" strike="noStrike">
              <a:solidFill>
                <a:srgbClr val="FFFFFF"/>
              </a:solidFill>
              <a:effectLst/>
              <a:uFillTx/>
              <a:latin typeface="Arial"/>
            </a:endParaRPr>
          </a:p>
        </p:txBody>
      </p:sp>
      <p:sp>
        <p:nvSpPr>
          <p:cNvPr id="81" name="CustomShape 2"/>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Loss function</a:t>
            </a:r>
            <a:endParaRPr lang="es-ES" sz="4400" b="0" u="none" strike="noStrike">
              <a:solidFill>
                <a:srgbClr val="FFFFFF"/>
              </a:solidFill>
              <a:effectLst/>
              <a:uFillTx/>
              <a:latin typeface="Arial"/>
            </a:endParaRPr>
          </a:p>
        </p:txBody>
      </p:sp>
      <p:sp>
        <p:nvSpPr>
          <p:cNvPr id="82" name="CustomShape 3"/>
          <p:cNvSpPr/>
          <p:nvPr/>
        </p:nvSpPr>
        <p:spPr>
          <a:xfrm>
            <a:off x="838080" y="1620000"/>
            <a:ext cx="10259280" cy="8575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Necesitamos una métrica que nos diga cómo de bien o mal predice el modelo:</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a:p>
            <a:pPr defTabSz="914400">
              <a:lnSpc>
                <a:spcPct val="100000"/>
              </a:lnSpc>
            </a:pPr>
            <a:r>
              <a:rPr lang="es-ES" sz="1800" b="1" u="none" strike="noStrike">
                <a:solidFill>
                  <a:schemeClr val="lt1"/>
                </a:solidFill>
                <a:effectLst/>
                <a:uFillTx/>
                <a:latin typeface="Arial"/>
                <a:ea typeface="DejaVu Sans"/>
              </a:rPr>
              <a:t>Error cuadrático medio (Mean Squared Error)</a:t>
            </a:r>
            <a:endParaRPr lang="es-ES" sz="1800" b="0" u="none" strike="noStrike">
              <a:solidFill>
                <a:srgbClr val="FFFFFF"/>
              </a:solidFill>
              <a:effectLst/>
              <a:uFillTx/>
              <a:latin typeface="Arial"/>
            </a:endParaRPr>
          </a:p>
        </p:txBody>
      </p:sp>
      <p:pic>
        <p:nvPicPr>
          <p:cNvPr id="83" name="Imagen 64"/>
          <p:cNvPicPr/>
          <p:nvPr/>
        </p:nvPicPr>
        <p:blipFill>
          <a:blip r:embed="rId1"/>
          <a:stretch/>
        </p:blipFill>
        <p:spPr>
          <a:xfrm>
            <a:off x="1788480" y="2944800"/>
            <a:ext cx="3505320" cy="1403280"/>
          </a:xfrm>
          <a:prstGeom prst="rect">
            <a:avLst/>
          </a:prstGeom>
          <a:noFill/>
          <a:ln w="0">
            <a:noFill/>
          </a:ln>
        </p:spPr>
      </p:pic>
      <p:sp>
        <p:nvSpPr>
          <p:cNvPr id="84" name="CustomShape 4"/>
          <p:cNvSpPr/>
          <p:nvPr/>
        </p:nvSpPr>
        <p:spPr>
          <a:xfrm>
            <a:off x="900000" y="4722120"/>
            <a:ext cx="10259280" cy="8575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Que sería la </a:t>
            </a:r>
            <a:r>
              <a:rPr lang="es-ES" sz="1800" b="1" u="none" strike="noStrike">
                <a:solidFill>
                  <a:schemeClr val="lt1"/>
                </a:solidFill>
                <a:effectLst/>
                <a:uFillTx/>
                <a:latin typeface="Arial"/>
                <a:ea typeface="DejaVu Sans"/>
              </a:rPr>
              <a:t>loss function</a:t>
            </a:r>
            <a:r>
              <a:rPr lang="es-ES" sz="1800" b="0" u="none" strike="noStrike">
                <a:solidFill>
                  <a:schemeClr val="lt1"/>
                </a:solidFill>
                <a:effectLst/>
                <a:uFillTx/>
                <a:latin typeface="Arial"/>
                <a:ea typeface="DejaVu Sans"/>
              </a:rPr>
              <a:t> o función de costes de la regresión lineal</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Perfecto, definida nuestra métrica de calidad del modelo, ¿ahora qué viene?</a:t>
            </a: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Que nuestra regresión tenga la mínima cantidad de errores, ¿cómo lo hago?</a:t>
            </a:r>
            <a:endParaRPr lang="es-ES" sz="1800" b="0" u="none" strike="noStrike">
              <a:solidFill>
                <a:srgbClr val="FFFFFF"/>
              </a:solidFill>
              <a:effectLst/>
              <a:uFillTx/>
              <a:latin typeface="Arial"/>
            </a:endParaRPr>
          </a:p>
          <a:p>
            <a:pPr defTabSz="914400">
              <a:lnSpc>
                <a:spcPct val="100000"/>
              </a:lnSpc>
            </a:pPr>
            <a:r>
              <a:rPr lang="es-ES" sz="1800" b="1" u="none" strike="noStrike">
                <a:solidFill>
                  <a:schemeClr val="lt1"/>
                </a:solidFill>
                <a:effectLst/>
                <a:uFillTx/>
                <a:latin typeface="Arial"/>
                <a:ea typeface="DejaVu Sans"/>
              </a:rPr>
              <a:t>Hay que encontrar aquellos Ws que me minimicen la función de costes</a:t>
            </a:r>
            <a:endParaRPr lang="es-ES" sz="1800" b="0" u="none" strike="noStrike">
              <a:solidFill>
                <a:srgbClr val="FFFFFF"/>
              </a:solidFill>
              <a:effectLst/>
              <a:uFillTx/>
              <a:latin typeface="Arial"/>
            </a:endParaRPr>
          </a:p>
        </p:txBody>
      </p:sp>
      <p:pic>
        <p:nvPicPr>
          <p:cNvPr id="85" name="Imagen 66"/>
          <p:cNvPicPr/>
          <p:nvPr/>
        </p:nvPicPr>
        <p:blipFill>
          <a:blip r:embed="rId2"/>
          <a:stretch/>
        </p:blipFill>
        <p:spPr>
          <a:xfrm>
            <a:off x="6192720" y="2135880"/>
            <a:ext cx="4210200" cy="242568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6" name="Imagen 17"/>
          <p:cNvPicPr/>
          <p:nvPr/>
        </p:nvPicPr>
        <p:blipFill>
          <a:blip r:embed="rId1"/>
          <a:stretch/>
        </p:blipFill>
        <p:spPr>
          <a:xfrm>
            <a:off x="6487200" y="2508120"/>
            <a:ext cx="4404960" cy="2923200"/>
          </a:xfrm>
          <a:prstGeom prst="rect">
            <a:avLst/>
          </a:prstGeom>
          <a:noFill/>
          <a:ln w="0">
            <a:noFill/>
          </a:ln>
        </p:spPr>
      </p:pic>
      <p:pic>
        <p:nvPicPr>
          <p:cNvPr id="87" name="Picture 2" descr="Understanding the 3 most common loss functions for Machine Learning  Regression | by George Seif | Towards Data Science"/>
          <p:cNvPicPr/>
          <p:nvPr/>
        </p:nvPicPr>
        <p:blipFill>
          <a:blip r:embed="rId2"/>
          <a:srcRect l="13154" t="12549" r="11161" b="13307"/>
          <a:stretch/>
        </p:blipFill>
        <p:spPr>
          <a:xfrm>
            <a:off x="1065960" y="2470320"/>
            <a:ext cx="3686400" cy="2708280"/>
          </a:xfrm>
          <a:prstGeom prst="rect">
            <a:avLst/>
          </a:prstGeom>
          <a:noFill/>
          <a:ln w="0">
            <a:noFill/>
          </a:ln>
        </p:spPr>
      </p:pic>
      <p:sp>
        <p:nvSpPr>
          <p:cNvPr id="88"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Buscamos la recta que me minimice el error</a:t>
            </a:r>
            <a:endParaRPr lang="es-ES" sz="4400" b="0" u="none" strike="noStrike">
              <a:solidFill>
                <a:srgbClr val="FFFFFF"/>
              </a:solidFill>
              <a:effectLst/>
              <a:uFillTx/>
              <a:latin typeface="Arial"/>
            </a:endParaRPr>
          </a:p>
        </p:txBody>
      </p:sp>
      <p:cxnSp>
        <p:nvCxnSpPr>
          <p:cNvPr id="89" name="Conector recto 2"/>
          <p:cNvCxnSpPr/>
          <p:nvPr/>
        </p:nvCxnSpPr>
        <p:spPr>
          <a:xfrm flipV="1">
            <a:off x="5391000" y="2134800"/>
            <a:ext cx="4152240" cy="1337040"/>
          </a:xfrm>
          <a:prstGeom prst="straightConnector1">
            <a:avLst/>
          </a:prstGeom>
          <a:ln w="41275">
            <a:solidFill>
              <a:srgbClr val="FFFF00"/>
            </a:solidFill>
          </a:ln>
        </p:spPr>
      </p:cxnSp>
      <p:cxnSp>
        <p:nvCxnSpPr>
          <p:cNvPr id="90" name="Conector recto 16"/>
          <p:cNvCxnSpPr/>
          <p:nvPr/>
        </p:nvCxnSpPr>
        <p:spPr>
          <a:xfrm flipV="1">
            <a:off x="6671880" y="3016440"/>
            <a:ext cx="3753720" cy="1311840"/>
          </a:xfrm>
          <a:prstGeom prst="straightConnector1">
            <a:avLst/>
          </a:prstGeom>
          <a:ln w="63500">
            <a:solidFill>
              <a:srgbClr val="FF0000"/>
            </a:solidFill>
          </a:ln>
        </p:spPr>
      </p:cxnSp>
      <p:cxnSp>
        <p:nvCxnSpPr>
          <p:cNvPr id="91" name="Conector recto 12"/>
          <p:cNvCxnSpPr/>
          <p:nvPr/>
        </p:nvCxnSpPr>
        <p:spPr>
          <a:xfrm flipV="1">
            <a:off x="5333400" y="2045520"/>
            <a:ext cx="4152240" cy="1337040"/>
          </a:xfrm>
          <a:prstGeom prst="straightConnector1">
            <a:avLst/>
          </a:prstGeom>
          <a:ln w="41275">
            <a:solidFill>
              <a:srgbClr val="FFFF00"/>
            </a:solidFill>
          </a:ln>
        </p:spPr>
      </p:cxnSp>
      <p:cxnSp>
        <p:nvCxnSpPr>
          <p:cNvPr id="92" name="Conector recto 13"/>
          <p:cNvCxnSpPr/>
          <p:nvPr/>
        </p:nvCxnSpPr>
        <p:spPr>
          <a:xfrm flipV="1">
            <a:off x="5448600" y="2220480"/>
            <a:ext cx="4152240" cy="1337040"/>
          </a:xfrm>
          <a:prstGeom prst="straightConnector1">
            <a:avLst/>
          </a:prstGeom>
          <a:ln w="41275">
            <a:solidFill>
              <a:srgbClr val="FFFF00"/>
            </a:solidFill>
          </a:ln>
        </p:spPr>
      </p:cxnSp>
      <p:cxnSp>
        <p:nvCxnSpPr>
          <p:cNvPr id="93" name="Conector recto 14"/>
          <p:cNvCxnSpPr/>
          <p:nvPr/>
        </p:nvCxnSpPr>
        <p:spPr>
          <a:xfrm flipV="1">
            <a:off x="5797080" y="2316960"/>
            <a:ext cx="4152600" cy="1337040"/>
          </a:xfrm>
          <a:prstGeom prst="straightConnector1">
            <a:avLst/>
          </a:prstGeom>
          <a:ln w="41275">
            <a:solidFill>
              <a:srgbClr val="FFFF00"/>
            </a:solidFill>
          </a:ln>
        </p:spPr>
      </p:cxnSp>
      <p:cxnSp>
        <p:nvCxnSpPr>
          <p:cNvPr id="94" name="Conector recto 18"/>
          <p:cNvCxnSpPr/>
          <p:nvPr/>
        </p:nvCxnSpPr>
        <p:spPr>
          <a:xfrm flipV="1">
            <a:off x="5543280" y="2287080"/>
            <a:ext cx="4152240" cy="1337040"/>
          </a:xfrm>
          <a:prstGeom prst="straightConnector1">
            <a:avLst/>
          </a:prstGeom>
          <a:ln w="41275">
            <a:solidFill>
              <a:srgbClr val="FFFF00"/>
            </a:solidFill>
          </a:ln>
        </p:spPr>
      </p:cxnSp>
      <p:cxnSp>
        <p:nvCxnSpPr>
          <p:cNvPr id="95" name="Conector recto 19"/>
          <p:cNvCxnSpPr/>
          <p:nvPr/>
        </p:nvCxnSpPr>
        <p:spPr>
          <a:xfrm flipV="1">
            <a:off x="5695560" y="2439720"/>
            <a:ext cx="4152600" cy="1337040"/>
          </a:xfrm>
          <a:prstGeom prst="straightConnector1">
            <a:avLst/>
          </a:prstGeom>
          <a:ln w="41275">
            <a:solidFill>
              <a:srgbClr val="FFFF00"/>
            </a:solidFill>
          </a:ln>
        </p:spPr>
      </p:cxnSp>
      <p:cxnSp>
        <p:nvCxnSpPr>
          <p:cNvPr id="96" name="Conector recto 20"/>
          <p:cNvCxnSpPr/>
          <p:nvPr/>
        </p:nvCxnSpPr>
        <p:spPr>
          <a:xfrm flipV="1">
            <a:off x="5757120" y="2525400"/>
            <a:ext cx="4152600" cy="1337040"/>
          </a:xfrm>
          <a:prstGeom prst="straightConnector1">
            <a:avLst/>
          </a:prstGeom>
          <a:ln w="41275">
            <a:solidFill>
              <a:srgbClr val="FFFF00"/>
            </a:solidFill>
          </a:ln>
        </p:spPr>
      </p:cxnSp>
      <p:cxnSp>
        <p:nvCxnSpPr>
          <p:cNvPr id="97" name="Conector recto 21"/>
          <p:cNvCxnSpPr/>
          <p:nvPr/>
        </p:nvCxnSpPr>
        <p:spPr>
          <a:xfrm flipV="1">
            <a:off x="7053840" y="3679920"/>
            <a:ext cx="3943800" cy="1489320"/>
          </a:xfrm>
          <a:prstGeom prst="straightConnector1">
            <a:avLst/>
          </a:prstGeom>
          <a:ln w="41275">
            <a:solidFill>
              <a:srgbClr val="92D050"/>
            </a:solidFill>
          </a:ln>
        </p:spPr>
      </p:cxnSp>
      <p:cxnSp>
        <p:nvCxnSpPr>
          <p:cNvPr id="98" name="Conector recto 22"/>
          <p:cNvCxnSpPr/>
          <p:nvPr/>
        </p:nvCxnSpPr>
        <p:spPr>
          <a:xfrm flipV="1">
            <a:off x="7101360" y="3725640"/>
            <a:ext cx="3943800" cy="1489320"/>
          </a:xfrm>
          <a:prstGeom prst="straightConnector1">
            <a:avLst/>
          </a:prstGeom>
          <a:ln w="41275">
            <a:solidFill>
              <a:srgbClr val="92D050"/>
            </a:solidFill>
          </a:ln>
        </p:spPr>
      </p:cxnSp>
      <p:cxnSp>
        <p:nvCxnSpPr>
          <p:cNvPr id="99" name="Conector recto 23"/>
          <p:cNvCxnSpPr/>
          <p:nvPr/>
        </p:nvCxnSpPr>
        <p:spPr>
          <a:xfrm flipV="1">
            <a:off x="7253640" y="3877920"/>
            <a:ext cx="3944160" cy="1489320"/>
          </a:xfrm>
          <a:prstGeom prst="straightConnector1">
            <a:avLst/>
          </a:prstGeom>
          <a:ln w="41275">
            <a:solidFill>
              <a:srgbClr val="92D050"/>
            </a:solidFill>
          </a:ln>
        </p:spPr>
      </p:cxnSp>
      <p:cxnSp>
        <p:nvCxnSpPr>
          <p:cNvPr id="100" name="Conector recto 24"/>
          <p:cNvCxnSpPr/>
          <p:nvPr/>
        </p:nvCxnSpPr>
        <p:spPr>
          <a:xfrm flipV="1">
            <a:off x="7043400" y="3899160"/>
            <a:ext cx="3943800" cy="1489320"/>
          </a:xfrm>
          <a:prstGeom prst="straightConnector1">
            <a:avLst/>
          </a:prstGeom>
          <a:ln w="41275">
            <a:solidFill>
              <a:srgbClr val="92D050"/>
            </a:solidFill>
          </a:ln>
        </p:spPr>
      </p:cxnSp>
      <p:cxnSp>
        <p:nvCxnSpPr>
          <p:cNvPr id="101" name="Conector recto 25"/>
          <p:cNvCxnSpPr/>
          <p:nvPr/>
        </p:nvCxnSpPr>
        <p:spPr>
          <a:xfrm flipV="1">
            <a:off x="6824160" y="3168720"/>
            <a:ext cx="3753720" cy="1311840"/>
          </a:xfrm>
          <a:prstGeom prst="straightConnector1">
            <a:avLst/>
          </a:prstGeom>
          <a:ln w="63500">
            <a:solidFill>
              <a:srgbClr val="FF0000"/>
            </a:solidFill>
          </a:ln>
        </p:spPr>
      </p:cxnSp>
      <p:sp>
        <p:nvSpPr>
          <p:cNvPr id="102" name="Elipse 7"/>
          <p:cNvSpPr/>
          <p:nvPr/>
        </p:nvSpPr>
        <p:spPr>
          <a:xfrm rot="7045800">
            <a:off x="2976120" y="2916360"/>
            <a:ext cx="2129040" cy="1282320"/>
          </a:xfrm>
          <a:prstGeom prst="ellipse">
            <a:avLst/>
          </a:prstGeom>
          <a:solidFill>
            <a:srgbClr val="FFFF00">
              <a:alpha val="59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s-ES" sz="1800" b="0" u="none" strike="noStrike">
              <a:solidFill>
                <a:schemeClr val="lt1"/>
              </a:solidFill>
              <a:effectLst/>
              <a:uFillTx/>
              <a:latin typeface="Arial"/>
            </a:endParaRPr>
          </a:p>
        </p:txBody>
      </p:sp>
      <p:sp>
        <p:nvSpPr>
          <p:cNvPr id="103" name="Elipse 27"/>
          <p:cNvSpPr/>
          <p:nvPr/>
        </p:nvSpPr>
        <p:spPr>
          <a:xfrm rot="4102800">
            <a:off x="790920" y="2920320"/>
            <a:ext cx="2129040" cy="1282320"/>
          </a:xfrm>
          <a:prstGeom prst="ellipse">
            <a:avLst/>
          </a:prstGeom>
          <a:solidFill>
            <a:srgbClr val="92D050">
              <a:alpha val="61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s-ES" sz="1800" b="0" u="none" strike="noStrike">
              <a:solidFill>
                <a:schemeClr val="lt1"/>
              </a:solidFill>
              <a:effectLst/>
              <a:uFillTx/>
              <a:latin typeface="Arial"/>
            </a:endParaRPr>
          </a:p>
        </p:txBody>
      </p:sp>
      <p:sp>
        <p:nvSpPr>
          <p:cNvPr id="104" name="Elipse 28"/>
          <p:cNvSpPr/>
          <p:nvPr/>
        </p:nvSpPr>
        <p:spPr>
          <a:xfrm>
            <a:off x="2577960" y="4643640"/>
            <a:ext cx="742320" cy="652320"/>
          </a:xfrm>
          <a:prstGeom prst="ellipse">
            <a:avLst/>
          </a:prstGeom>
          <a:solidFill>
            <a:srgbClr val="FF0000">
              <a:alpha val="59000"/>
            </a:srgbClr>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s-ES" sz="1800" b="0" u="none" strike="noStrike">
              <a:solidFill>
                <a:schemeClr val="lt1"/>
              </a:solidFill>
              <a:effectLst/>
              <a:uFillTx/>
              <a:latin typeface="Arial"/>
            </a:endParaRPr>
          </a:p>
        </p:txBody>
      </p:sp>
      <p:sp>
        <p:nvSpPr>
          <p:cNvPr id="105" name="CustomShape 3"/>
          <p:cNvSpPr/>
          <p:nvPr/>
        </p:nvSpPr>
        <p:spPr>
          <a:xfrm>
            <a:off x="3944520" y="1553040"/>
            <a:ext cx="3579840" cy="64440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ES" sz="1800" b="0" u="none" strike="noStrike">
                <a:solidFill>
                  <a:schemeClr val="lt1"/>
                </a:solidFill>
                <a:effectLst/>
                <a:uFillTx/>
                <a:latin typeface="Arial"/>
                <a:ea typeface="DejaVu Sans"/>
              </a:rPr>
              <a:t>Y = β</a:t>
            </a:r>
            <a:r>
              <a:rPr lang="es-ES" sz="1800" b="0" u="none" strike="noStrike" baseline="-25000">
                <a:solidFill>
                  <a:schemeClr val="lt1"/>
                </a:solidFill>
                <a:effectLst/>
                <a:uFillTx/>
                <a:latin typeface="Arial"/>
                <a:ea typeface="DejaVu Sans"/>
              </a:rPr>
              <a:t>0</a:t>
            </a:r>
            <a:r>
              <a:rPr lang="es-ES" sz="1800" b="0" u="none" strike="noStrike">
                <a:solidFill>
                  <a:schemeClr val="lt1"/>
                </a:solidFill>
                <a:effectLst/>
                <a:uFillTx/>
                <a:latin typeface="Arial"/>
                <a:ea typeface="DejaVu Sans"/>
              </a:rPr>
              <a:t> + β</a:t>
            </a:r>
            <a:r>
              <a:rPr lang="es-ES" sz="1800" b="0" u="none" strike="noStrike" baseline="-25000">
                <a:solidFill>
                  <a:schemeClr val="lt1"/>
                </a:solidFill>
                <a:effectLst/>
                <a:uFillTx/>
                <a:latin typeface="Arial"/>
                <a:ea typeface="DejaVu Sans"/>
              </a:rPr>
              <a:t>1</a:t>
            </a:r>
            <a:r>
              <a:rPr lang="es-ES" sz="1800" b="0" u="none" strike="noStrike">
                <a:solidFill>
                  <a:schemeClr val="lt1"/>
                </a:solidFill>
                <a:effectLst/>
                <a:uFillTx/>
                <a:latin typeface="Arial"/>
                <a:ea typeface="DejaVu Sans"/>
              </a:rPr>
              <a:t>X</a:t>
            </a:r>
            <a:r>
              <a:rPr lang="es-ES" sz="1800" b="0" u="none" strike="noStrike" baseline="-25000">
                <a:solidFill>
                  <a:schemeClr val="lt1"/>
                </a:solidFill>
                <a:effectLst/>
                <a:uFillTx/>
                <a:latin typeface="Arial"/>
                <a:ea typeface="DejaVu Sans"/>
              </a:rPr>
              <a:t>1</a:t>
            </a:r>
            <a:endParaRPr lang="es-ES" sz="1800" b="0" u="none" strike="noStrike">
              <a:solidFill>
                <a:srgbClr val="FFFFFF"/>
              </a:solidFill>
              <a:effectLst/>
              <a:uFillTx/>
              <a:latin typeface="Arial"/>
            </a:endParaRPr>
          </a:p>
          <a:p>
            <a:pPr algn="ctr" defTabSz="914400">
              <a:lnSpc>
                <a:spcPct val="100000"/>
              </a:lnSpc>
            </a:pP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39" dur="indefinite" restart="never" nodeType="tmRoot">
          <p:childTnLst>
            <p:seq>
              <p:cTn id="40" dur="indefinite" nodeType="mainSeq">
                <p:childTnLst>
                  <p:par>
                    <p:cTn id="41" fill="hold">
                      <p:stCondLst>
                        <p:cond delay="indefinite"/>
                      </p:stCondLst>
                      <p:childTnLst>
                        <p:par>
                          <p:cTn id="42" fill="hold">
                            <p:stCondLst>
                              <p:cond delay="0"/>
                            </p:stCondLst>
                            <p:childTnLst>
                              <p:par>
                                <p:cTn id="43" presetID="1" presetClass="entr" fill="hold" nodeType="clickEffect">
                                  <p:stCondLst>
                                    <p:cond delay="0"/>
                                  </p:stCondLst>
                                  <p:childTnLst>
                                    <p:set>
                                      <p:cBhvr>
                                        <p:cTn id="44" dur="1" fill="hold">
                                          <p:stCondLst>
                                            <p:cond delay="0"/>
                                          </p:stCondLst>
                                        </p:cTn>
                                        <p:tgtEl>
                                          <p:spTgt spid="89"/>
                                        </p:tgtEl>
                                        <p:attrNameLst>
                                          <p:attrName>style.visibility</p:attrName>
                                        </p:attrNameLst>
                                      </p:cBhvr>
                                      <p:to>
                                        <p:strVal val="visible"/>
                                      </p:to>
                                    </p:set>
                                  </p:childTnLst>
                                </p:cTn>
                              </p:par>
                              <p:par>
                                <p:cTn id="45" presetID="1" presetClass="entr" fill="hold" nodeType="withEffect">
                                  <p:stCondLst>
                                    <p:cond delay="0"/>
                                  </p:stCondLst>
                                  <p:childTnLst>
                                    <p:set>
                                      <p:cBhvr>
                                        <p:cTn id="46" dur="1" fill="hold">
                                          <p:stCondLst>
                                            <p:cond delay="0"/>
                                          </p:stCondLst>
                                        </p:cTn>
                                        <p:tgtEl>
                                          <p:spTgt spid="91"/>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92"/>
                                        </p:tgtEl>
                                        <p:attrNameLst>
                                          <p:attrName>style.visibility</p:attrName>
                                        </p:attrNameLst>
                                      </p:cBhvr>
                                      <p:to>
                                        <p:strVal val="visible"/>
                                      </p:to>
                                    </p:set>
                                  </p:childTnLst>
                                </p:cTn>
                              </p:par>
                              <p:par>
                                <p:cTn id="49" presetID="1" presetClass="entr" fill="hold" nodeType="withEffect">
                                  <p:stCondLst>
                                    <p:cond delay="0"/>
                                  </p:stCondLst>
                                  <p:childTnLst>
                                    <p:set>
                                      <p:cBhvr>
                                        <p:cTn id="50" dur="1" fill="hold">
                                          <p:stCondLst>
                                            <p:cond delay="0"/>
                                          </p:stCondLst>
                                        </p:cTn>
                                        <p:tgtEl>
                                          <p:spTgt spid="93"/>
                                        </p:tgtEl>
                                        <p:attrNameLst>
                                          <p:attrName>style.visibility</p:attrName>
                                        </p:attrNameLst>
                                      </p:cBhvr>
                                      <p:to>
                                        <p:strVal val="visible"/>
                                      </p:to>
                                    </p:set>
                                  </p:childTnLst>
                                </p:cTn>
                              </p:par>
                              <p:par>
                                <p:cTn id="51" presetID="1" presetClass="entr" fill="hold" nodeType="withEffect">
                                  <p:stCondLst>
                                    <p:cond delay="0"/>
                                  </p:stCondLst>
                                  <p:childTnLst>
                                    <p:set>
                                      <p:cBhvr>
                                        <p:cTn id="52" dur="1" fill="hold">
                                          <p:stCondLst>
                                            <p:cond delay="0"/>
                                          </p:stCondLst>
                                        </p:cTn>
                                        <p:tgtEl>
                                          <p:spTgt spid="94"/>
                                        </p:tgtEl>
                                        <p:attrNameLst>
                                          <p:attrName>style.visibility</p:attrName>
                                        </p:attrNameLst>
                                      </p:cBhvr>
                                      <p:to>
                                        <p:strVal val="visible"/>
                                      </p:to>
                                    </p:set>
                                  </p:childTnLst>
                                </p:cTn>
                              </p:par>
                              <p:par>
                                <p:cTn id="53" presetID="1" presetClass="entr" fill="hold" nodeType="withEffect">
                                  <p:stCondLst>
                                    <p:cond delay="0"/>
                                  </p:stCondLst>
                                  <p:childTnLst>
                                    <p:set>
                                      <p:cBhvr>
                                        <p:cTn id="54" dur="1" fill="hold">
                                          <p:stCondLst>
                                            <p:cond delay="0"/>
                                          </p:stCondLst>
                                        </p:cTn>
                                        <p:tgtEl>
                                          <p:spTgt spid="95"/>
                                        </p:tgtEl>
                                        <p:attrNameLst>
                                          <p:attrName>style.visibility</p:attrName>
                                        </p:attrNameLst>
                                      </p:cBhvr>
                                      <p:to>
                                        <p:strVal val="visible"/>
                                      </p:to>
                                    </p:set>
                                  </p:childTnLst>
                                </p:cTn>
                              </p:par>
                              <p:par>
                                <p:cTn id="55" presetID="1" presetClass="entr" fill="hold" nodeType="withEffect">
                                  <p:stCondLst>
                                    <p:cond delay="0"/>
                                  </p:stCondLst>
                                  <p:childTnLst>
                                    <p:set>
                                      <p:cBhvr>
                                        <p:cTn id="56" dur="1" fill="hold">
                                          <p:stCondLst>
                                            <p:cond delay="0"/>
                                          </p:stCondLst>
                                        </p:cTn>
                                        <p:tgtEl>
                                          <p:spTgt spid="96"/>
                                        </p:tgtEl>
                                        <p:attrNameLst>
                                          <p:attrName>style.visibility</p:attrName>
                                        </p:attrNameLst>
                                      </p:cBhvr>
                                      <p:to>
                                        <p:strVal val="visible"/>
                                      </p:to>
                                    </p:set>
                                  </p:childTnLst>
                                </p:cTn>
                              </p:par>
                              <p:par>
                                <p:cTn id="57" presetID="1" presetClass="entr" fill="hold" nodeType="withEffect">
                                  <p:stCondLst>
                                    <p:cond delay="0"/>
                                  </p:stCondLst>
                                  <p:childTnLst>
                                    <p:set>
                                      <p:cBhvr>
                                        <p:cTn id="58" dur="1" fill="hold">
                                          <p:stCondLst>
                                            <p:cond delay="0"/>
                                          </p:stCondLst>
                                        </p:cTn>
                                        <p:tgtEl>
                                          <p:spTgt spid="10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fill="hold" nodeType="clickEffect">
                                  <p:stCondLst>
                                    <p:cond delay="0"/>
                                  </p:stCondLst>
                                  <p:childTnLst>
                                    <p:set>
                                      <p:cBhvr>
                                        <p:cTn id="62" dur="1" fill="hold">
                                          <p:stCondLst>
                                            <p:cond delay="0"/>
                                          </p:stCondLst>
                                        </p:cTn>
                                        <p:tgtEl>
                                          <p:spTgt spid="97"/>
                                        </p:tgtEl>
                                        <p:attrNameLst>
                                          <p:attrName>style.visibility</p:attrName>
                                        </p:attrNameLst>
                                      </p:cBhvr>
                                      <p:to>
                                        <p:strVal val="visible"/>
                                      </p:to>
                                    </p:set>
                                  </p:childTnLst>
                                </p:cTn>
                              </p:par>
                              <p:par>
                                <p:cTn id="63" presetID="1" presetClass="entr"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childTnLst>
                                </p:cTn>
                              </p:par>
                              <p:par>
                                <p:cTn id="65" presetID="1" presetClass="entr" fill="hold" nodeType="withEffect">
                                  <p:stCondLst>
                                    <p:cond delay="0"/>
                                  </p:stCondLst>
                                  <p:childTnLst>
                                    <p:set>
                                      <p:cBhvr>
                                        <p:cTn id="66" dur="1" fill="hold">
                                          <p:stCondLst>
                                            <p:cond delay="0"/>
                                          </p:stCondLst>
                                        </p:cTn>
                                        <p:tgtEl>
                                          <p:spTgt spid="99"/>
                                        </p:tgtEl>
                                        <p:attrNameLst>
                                          <p:attrName>style.visibility</p:attrName>
                                        </p:attrNameLst>
                                      </p:cBhvr>
                                      <p:to>
                                        <p:strVal val="visible"/>
                                      </p:to>
                                    </p:set>
                                  </p:childTnLst>
                                </p:cTn>
                              </p:par>
                              <p:par>
                                <p:cTn id="67" presetID="1" presetClass="entr" fill="hold" nodeType="withEffect">
                                  <p:stCondLst>
                                    <p:cond delay="0"/>
                                  </p:stCondLst>
                                  <p:childTnLst>
                                    <p:set>
                                      <p:cBhvr>
                                        <p:cTn id="68" dur="1" fill="hold">
                                          <p:stCondLst>
                                            <p:cond delay="0"/>
                                          </p:stCondLst>
                                        </p:cTn>
                                        <p:tgtEl>
                                          <p:spTgt spid="100"/>
                                        </p:tgtEl>
                                        <p:attrNameLst>
                                          <p:attrName>style.visibility</p:attrName>
                                        </p:attrNameLst>
                                      </p:cBhvr>
                                      <p:to>
                                        <p:strVal val="visible"/>
                                      </p:to>
                                    </p:set>
                                  </p:childTnLst>
                                </p:cTn>
                              </p:par>
                              <p:par>
                                <p:cTn id="69" presetID="1" presetClass="entr" fill="hold" nodeType="withEffect">
                                  <p:stCondLst>
                                    <p:cond delay="0"/>
                                  </p:stCondLst>
                                  <p:childTnLst>
                                    <p:set>
                                      <p:cBhvr>
                                        <p:cTn id="70" dur="1" fill="hold">
                                          <p:stCondLst>
                                            <p:cond delay="0"/>
                                          </p:stCondLst>
                                        </p:cTn>
                                        <p:tgtEl>
                                          <p:spTgt spid="10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fill="hold" nodeType="clickEffect">
                                  <p:stCondLst>
                                    <p:cond delay="0"/>
                                  </p:stCondLst>
                                  <p:childTnLst>
                                    <p:set>
                                      <p:cBhvr>
                                        <p:cTn id="74" dur="1" fill="hold">
                                          <p:stCondLst>
                                            <p:cond delay="0"/>
                                          </p:stCondLst>
                                        </p:cTn>
                                        <p:tgtEl>
                                          <p:spTgt spid="90"/>
                                        </p:tgtEl>
                                        <p:attrNameLst>
                                          <p:attrName>style.visibility</p:attrName>
                                        </p:attrNameLst>
                                      </p:cBhvr>
                                      <p:to>
                                        <p:strVal val="visible"/>
                                      </p:to>
                                    </p:set>
                                  </p:childTnLst>
                                </p:cTn>
                              </p:par>
                              <p:par>
                                <p:cTn id="75" presetID="1" presetClass="entr" fill="hold" nodeType="withEffect">
                                  <p:stCondLst>
                                    <p:cond delay="0"/>
                                  </p:stCondLst>
                                  <p:childTnLst>
                                    <p:set>
                                      <p:cBhvr>
                                        <p:cTn id="76" dur="1" fill="hold">
                                          <p:stCondLst>
                                            <p:cond delay="0"/>
                                          </p:stCondLst>
                                        </p:cTn>
                                        <p:tgtEl>
                                          <p:spTgt spid="101"/>
                                        </p:tgtEl>
                                        <p:attrNameLst>
                                          <p:attrName>style.visibility</p:attrName>
                                        </p:attrNameLst>
                                      </p:cBhvr>
                                      <p:to>
                                        <p:strVal val="visible"/>
                                      </p:to>
                                    </p:set>
                                  </p:childTnLst>
                                </p:cTn>
                              </p:par>
                              <p:par>
                                <p:cTn id="77" presetID="1" presetClass="entr" fill="hold" nodeType="withEffect">
                                  <p:stCondLst>
                                    <p:cond delay="0"/>
                                  </p:stCondLst>
                                  <p:childTnLst>
                                    <p:set>
                                      <p:cBhvr>
                                        <p:cTn id="78"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Gradient Descent</a:t>
            </a:r>
            <a:endParaRPr lang="es-ES" sz="4400" b="0" u="none" strike="noStrike">
              <a:solidFill>
                <a:srgbClr val="FFFFFF"/>
              </a:solidFill>
              <a:effectLst/>
              <a:uFillTx/>
              <a:latin typeface="Arial"/>
            </a:endParaRPr>
          </a:p>
        </p:txBody>
      </p:sp>
      <p:sp>
        <p:nvSpPr>
          <p:cNvPr id="107" name="CustomShape 2"/>
          <p:cNvSpPr/>
          <p:nvPr/>
        </p:nvSpPr>
        <p:spPr>
          <a:xfrm>
            <a:off x="838080" y="1620000"/>
            <a:ext cx="10259280" cy="8575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Problema de optimización matemática. El Gradient Descent es uno de los métodos más utilizados en algoritmos de aprendizaje supervisado.</a:t>
            </a: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¿Cuáles son los pesos W, que dan mejores resultados? Los que minimizan la función de coste</a:t>
            </a:r>
            <a:endParaRPr lang="es-ES" sz="1800" b="0" u="none" strike="noStrike">
              <a:solidFill>
                <a:srgbClr val="FFFFFF"/>
              </a:solidFill>
              <a:effectLst/>
              <a:uFillTx/>
              <a:latin typeface="Arial"/>
            </a:endParaRPr>
          </a:p>
        </p:txBody>
      </p:sp>
      <p:pic>
        <p:nvPicPr>
          <p:cNvPr id="108" name="Imagen 1"/>
          <p:cNvPicPr/>
          <p:nvPr/>
        </p:nvPicPr>
        <p:blipFill>
          <a:blip r:embed="rId1"/>
          <a:stretch/>
        </p:blipFill>
        <p:spPr>
          <a:xfrm>
            <a:off x="3057480" y="2832120"/>
            <a:ext cx="5181120" cy="3096000"/>
          </a:xfrm>
          <a:prstGeom prst="rect">
            <a:avLst/>
          </a:prstGeom>
          <a:noFill/>
          <a:ln w="0">
            <a:noFill/>
          </a:ln>
        </p:spPr>
      </p:pic>
      <p:sp>
        <p:nvSpPr>
          <p:cNvPr id="109" name="CustomShape 3"/>
          <p:cNvSpPr/>
          <p:nvPr/>
        </p:nvSpPr>
        <p:spPr>
          <a:xfrm>
            <a:off x="431640" y="6114960"/>
            <a:ext cx="1414800" cy="363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sng" strike="noStrike">
                <a:solidFill>
                  <a:srgbClr val="0563C1"/>
                </a:solidFill>
                <a:effectLst/>
                <a:uFillTx/>
                <a:latin typeface="Calibri"/>
                <a:ea typeface="DejaVu Sans"/>
                <a:hlinkClick r:id="rId2"/>
              </a:rPr>
              <a:t>Demo</a:t>
            </a: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Gradient Descent</a:t>
            </a:r>
            <a:endParaRPr lang="es-ES" sz="4400" b="0" u="none" strike="noStrike">
              <a:solidFill>
                <a:srgbClr val="FFFFFF"/>
              </a:solidFill>
              <a:effectLst/>
              <a:uFillTx/>
              <a:latin typeface="Arial"/>
            </a:endParaRPr>
          </a:p>
        </p:txBody>
      </p:sp>
      <p:pic>
        <p:nvPicPr>
          <p:cNvPr id="111" name="Imagen 71"/>
          <p:cNvPicPr/>
          <p:nvPr/>
        </p:nvPicPr>
        <p:blipFill>
          <a:blip r:embed="rId1"/>
          <a:stretch/>
        </p:blipFill>
        <p:spPr>
          <a:xfrm>
            <a:off x="6410160" y="1689840"/>
            <a:ext cx="4526280" cy="2316600"/>
          </a:xfrm>
          <a:prstGeom prst="rect">
            <a:avLst/>
          </a:prstGeom>
          <a:noFill/>
          <a:ln w="0">
            <a:noFill/>
          </a:ln>
        </p:spPr>
      </p:pic>
      <p:pic>
        <p:nvPicPr>
          <p:cNvPr id="112" name="Picture 2" descr="La parábola - MathCracker.com"/>
          <p:cNvPicPr/>
          <p:nvPr/>
        </p:nvPicPr>
        <p:blipFill>
          <a:blip r:embed="rId2"/>
          <a:stretch/>
        </p:blipFill>
        <p:spPr>
          <a:xfrm>
            <a:off x="1095480" y="1689840"/>
            <a:ext cx="3352320" cy="2405160"/>
          </a:xfrm>
          <a:prstGeom prst="rect">
            <a:avLst/>
          </a:prstGeom>
          <a:noFill/>
          <a:ln w="0">
            <a:noFill/>
          </a:ln>
        </p:spPr>
      </p:pic>
      <p:sp>
        <p:nvSpPr>
          <p:cNvPr id="113" name="CuadroTexto 1"/>
          <p:cNvSpPr/>
          <p:nvPr/>
        </p:nvSpPr>
        <p:spPr>
          <a:xfrm>
            <a:off x="4791240" y="1689840"/>
            <a:ext cx="1618920" cy="64584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chemeClr val="lt1"/>
                </a:solidFill>
                <a:effectLst/>
                <a:uFillTx/>
                <a:latin typeface="Arial"/>
                <a:ea typeface="DejaVu Sans"/>
              </a:rPr>
              <a:t>f(x) = x</a:t>
            </a:r>
            <a:r>
              <a:rPr lang="es-ES" sz="1800" b="0" u="none" strike="noStrike" baseline="30000">
                <a:solidFill>
                  <a:schemeClr val="lt1"/>
                </a:solidFill>
                <a:effectLst/>
                <a:uFillTx/>
                <a:latin typeface="Arial"/>
                <a:ea typeface="DejaVu Sans"/>
              </a:rPr>
              <a:t>2</a:t>
            </a: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d/dx = 2x</a:t>
            </a:r>
            <a:endParaRPr lang="es-ES" sz="1800" b="0" u="none" strike="noStrike">
              <a:solidFill>
                <a:srgbClr val="FFFFFF"/>
              </a:solidFill>
              <a:effectLst/>
              <a:uFillTx/>
              <a:latin typeface="Arial"/>
            </a:endParaRPr>
          </a:p>
        </p:txBody>
      </p:sp>
      <p:cxnSp>
        <p:nvCxnSpPr>
          <p:cNvPr id="114" name="Conector recto 8"/>
          <p:cNvCxnSpPr/>
          <p:nvPr/>
        </p:nvCxnSpPr>
        <p:spPr>
          <a:xfrm flipV="1">
            <a:off x="2736000" y="2238840"/>
            <a:ext cx="1582920" cy="1856880"/>
          </a:xfrm>
          <a:prstGeom prst="straightConnector1">
            <a:avLst/>
          </a:prstGeom>
          <a:ln w="12700">
            <a:solidFill>
              <a:srgbClr val="92D050"/>
            </a:solidFill>
          </a:ln>
        </p:spPr>
      </p:cxnSp>
      <p:cxnSp>
        <p:nvCxnSpPr>
          <p:cNvPr id="115" name="Conector recto 12"/>
          <p:cNvCxnSpPr/>
          <p:nvPr/>
        </p:nvCxnSpPr>
        <p:spPr>
          <a:xfrm>
            <a:off x="1171440" y="2404800"/>
            <a:ext cx="1360080" cy="1672200"/>
          </a:xfrm>
          <a:prstGeom prst="straightConnector1">
            <a:avLst/>
          </a:prstGeom>
          <a:ln w="12700">
            <a:solidFill>
              <a:srgbClr val="92D050"/>
            </a:solidFill>
          </a:ln>
        </p:spPr>
      </p:cxnSp>
      <p:cxnSp>
        <p:nvCxnSpPr>
          <p:cNvPr id="116" name="Conector recto de flecha 14"/>
          <p:cNvCxnSpPr/>
          <p:nvPr/>
        </p:nvCxnSpPr>
        <p:spPr>
          <a:xfrm flipV="1">
            <a:off x="3385800" y="3323160"/>
            <a:ext cx="360" cy="415440"/>
          </a:xfrm>
          <a:prstGeom prst="straightConnector1">
            <a:avLst/>
          </a:prstGeom>
          <a:ln w="19050">
            <a:solidFill>
              <a:srgbClr val="000000"/>
            </a:solidFill>
            <a:tailEnd len="med" type="triangle" w="med"/>
          </a:ln>
        </p:spPr>
      </p:cxnSp>
      <p:cxnSp>
        <p:nvCxnSpPr>
          <p:cNvPr id="117" name="Conector recto de flecha 21"/>
          <p:cNvCxnSpPr/>
          <p:nvPr/>
        </p:nvCxnSpPr>
        <p:spPr>
          <a:xfrm flipV="1">
            <a:off x="1915560" y="3323160"/>
            <a:ext cx="360" cy="415440"/>
          </a:xfrm>
          <a:prstGeom prst="straightConnector1">
            <a:avLst/>
          </a:prstGeom>
          <a:ln w="19050">
            <a:solidFill>
              <a:srgbClr val="000000"/>
            </a:solidFill>
            <a:tailEnd len="med" type="triangle" w="med"/>
          </a:ln>
        </p:spPr>
      </p:cxnSp>
      <p:sp>
        <p:nvSpPr>
          <p:cNvPr id="118" name="CuadroTexto 15"/>
          <p:cNvSpPr/>
          <p:nvPr/>
        </p:nvSpPr>
        <p:spPr>
          <a:xfrm>
            <a:off x="3788640" y="2763000"/>
            <a:ext cx="547200" cy="2149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ES" sz="800" b="0" u="none" strike="noStrike">
                <a:solidFill>
                  <a:schemeClr val="dk1"/>
                </a:solidFill>
                <a:effectLst/>
                <a:uFillTx/>
                <a:latin typeface="Arial"/>
                <a:ea typeface="DejaVu Sans"/>
              </a:rPr>
              <a:t>m = 4</a:t>
            </a:r>
            <a:endParaRPr lang="es-ES" sz="800" b="0" u="none" strike="noStrike">
              <a:solidFill>
                <a:srgbClr val="FFFFFF"/>
              </a:solidFill>
              <a:effectLst/>
              <a:uFillTx/>
              <a:latin typeface="Arial"/>
            </a:endParaRPr>
          </a:p>
        </p:txBody>
      </p:sp>
      <p:sp>
        <p:nvSpPr>
          <p:cNvPr id="119" name="CuadroTexto 23"/>
          <p:cNvSpPr/>
          <p:nvPr/>
        </p:nvSpPr>
        <p:spPr>
          <a:xfrm>
            <a:off x="1054080" y="2763000"/>
            <a:ext cx="547200" cy="2149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ES" sz="800" b="0" u="none" strike="noStrike">
                <a:solidFill>
                  <a:schemeClr val="dk1"/>
                </a:solidFill>
                <a:effectLst/>
                <a:uFillTx/>
                <a:latin typeface="Arial"/>
                <a:ea typeface="DejaVu Sans"/>
              </a:rPr>
              <a:t>m = -4</a:t>
            </a:r>
            <a:endParaRPr lang="es-ES" sz="800" b="0" u="none" strike="noStrike">
              <a:solidFill>
                <a:srgbClr val="FFFFFF"/>
              </a:solidFill>
              <a:effectLst/>
              <a:uFillTx/>
              <a:latin typeface="Arial"/>
            </a:endParaRPr>
          </a:p>
        </p:txBody>
      </p:sp>
      <p:sp>
        <p:nvSpPr>
          <p:cNvPr id="120" name="CustomShape 3"/>
          <p:cNvSpPr/>
          <p:nvPr/>
        </p:nvSpPr>
        <p:spPr>
          <a:xfrm>
            <a:off x="1025640" y="4925160"/>
            <a:ext cx="9484920" cy="12438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Buscamos que la pendiente sea 0</a:t>
            </a: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Si es positiva, estamos en el lado derecho de la curva -&gt; Descendemos X</a:t>
            </a: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Si es negativa, estamos en el lado izquierdo de la curva -&gt; Aumentamos X</a:t>
            </a: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79" dur="indefinite" restart="never" nodeType="tmRoot">
          <p:childTnLst>
            <p:seq>
              <p:cTn id="80" dur="indefinite" nodeType="mainSeq">
                <p:childTnLst>
                  <p:par>
                    <p:cTn id="81" fill="hold">
                      <p:stCondLst>
                        <p:cond delay="indefinite"/>
                      </p:stCondLst>
                      <p:childTnLst>
                        <p:par>
                          <p:cTn id="82" fill="hold">
                            <p:stCondLst>
                              <p:cond delay="0"/>
                            </p:stCondLst>
                            <p:childTnLst>
                              <p:par>
                                <p:cTn id="83" presetID="1" presetClass="entr" fill="hold" nodeType="clickEffect">
                                  <p:stCondLst>
                                    <p:cond delay="0"/>
                                  </p:stCondLst>
                                  <p:childTnLst>
                                    <p:set>
                                      <p:cBhvr>
                                        <p:cTn id="84" dur="1" fill="hold">
                                          <p:stCondLst>
                                            <p:cond delay="0"/>
                                          </p:stCondLst>
                                        </p:cTn>
                                        <p:tgtEl>
                                          <p:spTgt spid="116"/>
                                        </p:tgtEl>
                                        <p:attrNameLst>
                                          <p:attrName>style.visibility</p:attrName>
                                        </p:attrNameLst>
                                      </p:cBhvr>
                                      <p:to>
                                        <p:strVal val="visible"/>
                                      </p:to>
                                    </p:set>
                                  </p:childTnLst>
                                </p:cTn>
                              </p:par>
                              <p:par>
                                <p:cTn id="85" presetID="1" presetClass="entr" fill="hold" nodeType="withEffect">
                                  <p:stCondLst>
                                    <p:cond delay="0"/>
                                  </p:stCondLst>
                                  <p:childTnLst>
                                    <p:set>
                                      <p:cBhvr>
                                        <p:cTn id="86" dur="1" fill="hold">
                                          <p:stCondLst>
                                            <p:cond delay="0"/>
                                          </p:stCondLst>
                                        </p:cTn>
                                        <p:tgtEl>
                                          <p:spTgt spid="118"/>
                                        </p:tgtEl>
                                        <p:attrNameLst>
                                          <p:attrName>style.visibility</p:attrName>
                                        </p:attrNameLst>
                                      </p:cBhvr>
                                      <p:to>
                                        <p:strVal val="visible"/>
                                      </p:to>
                                    </p:set>
                                  </p:childTnLst>
                                </p:cTn>
                              </p:par>
                              <p:par>
                                <p:cTn id="87" presetID="1" presetClass="entr" fill="hold" nodeType="withEffect">
                                  <p:stCondLst>
                                    <p:cond delay="0"/>
                                  </p:stCondLst>
                                  <p:childTnLst>
                                    <p:set>
                                      <p:cBhvr>
                                        <p:cTn id="88" dur="1" fill="hold">
                                          <p:stCondLst>
                                            <p:cond delay="0"/>
                                          </p:stCondLst>
                                        </p:cTn>
                                        <p:tgtEl>
                                          <p:spTgt spid="114"/>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fill="hold" nodeType="clickEffect">
                                  <p:stCondLst>
                                    <p:cond delay="0"/>
                                  </p:stCondLst>
                                  <p:childTnLst>
                                    <p:set>
                                      <p:cBhvr>
                                        <p:cTn id="92" dur="1" fill="hold">
                                          <p:stCondLst>
                                            <p:cond delay="0"/>
                                          </p:stCondLst>
                                        </p:cTn>
                                        <p:tgtEl>
                                          <p:spTgt spid="117"/>
                                        </p:tgtEl>
                                        <p:attrNameLst>
                                          <p:attrName>style.visibility</p:attrName>
                                        </p:attrNameLst>
                                      </p:cBhvr>
                                      <p:to>
                                        <p:strVal val="visible"/>
                                      </p:to>
                                    </p:set>
                                  </p:childTnLst>
                                </p:cTn>
                              </p:par>
                              <p:par>
                                <p:cTn id="93" presetID="1" presetClass="entr" fill="hold" nodeType="withEffect">
                                  <p:stCondLst>
                                    <p:cond delay="0"/>
                                  </p:stCondLst>
                                  <p:childTnLst>
                                    <p:set>
                                      <p:cBhvr>
                                        <p:cTn id="94" dur="1" fill="hold">
                                          <p:stCondLst>
                                            <p:cond delay="0"/>
                                          </p:stCondLst>
                                        </p:cTn>
                                        <p:tgtEl>
                                          <p:spTgt spid="119"/>
                                        </p:tgtEl>
                                        <p:attrNameLst>
                                          <p:attrName>style.visibility</p:attrName>
                                        </p:attrNameLst>
                                      </p:cBhvr>
                                      <p:to>
                                        <p:strVal val="visible"/>
                                      </p:to>
                                    </p:set>
                                  </p:childTnLst>
                                </p:cTn>
                              </p:par>
                              <p:par>
                                <p:cTn id="95" presetID="1" presetClass="entr" fill="hold" nodeType="withEffect">
                                  <p:stCondLst>
                                    <p:cond delay="0"/>
                                  </p:stCondLst>
                                  <p:childTnLst>
                                    <p:set>
                                      <p:cBhvr>
                                        <p:cTn id="96" dur="1" fill="hold">
                                          <p:stCondLst>
                                            <p:cond delay="0"/>
                                          </p:stCondLst>
                                        </p:cTn>
                                        <p:tgtEl>
                                          <p:spTgt spid="115"/>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fill="hold" nodeType="clickEffect">
                                  <p:stCondLst>
                                    <p:cond delay="0"/>
                                  </p:stCondLst>
                                  <p:childTnLst>
                                    <p:set>
                                      <p:cBhvr>
                                        <p:cTn id="100" dur="1" fill="hold">
                                          <p:stCondLst>
                                            <p:cond delay="0"/>
                                          </p:stCondLst>
                                        </p:cTn>
                                        <p:tgtEl>
                                          <p:spTgt spid="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Gradient Descent</a:t>
            </a:r>
            <a:endParaRPr lang="es-ES" sz="4400" b="0" u="none" strike="noStrike">
              <a:solidFill>
                <a:srgbClr val="FFFFFF"/>
              </a:solidFill>
              <a:effectLst/>
              <a:uFillTx/>
              <a:latin typeface="Arial"/>
            </a:endParaRPr>
          </a:p>
        </p:txBody>
      </p:sp>
      <p:sp>
        <p:nvSpPr>
          <p:cNvPr id="122" name="CustomShape 3"/>
          <p:cNvSpPr/>
          <p:nvPr/>
        </p:nvSpPr>
        <p:spPr>
          <a:xfrm>
            <a:off x="838080" y="1573920"/>
            <a:ext cx="2877840" cy="434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1. Función de costes</a:t>
            </a:r>
            <a:endParaRPr lang="es-ES" sz="1800" b="0" u="none" strike="noStrike">
              <a:solidFill>
                <a:srgbClr val="FFFFFF"/>
              </a:solidFill>
              <a:effectLst/>
              <a:uFillTx/>
              <a:latin typeface="Arial"/>
            </a:endParaRPr>
          </a:p>
        </p:txBody>
      </p:sp>
      <p:pic>
        <p:nvPicPr>
          <p:cNvPr id="123" name="Imagen 3"/>
          <p:cNvPicPr/>
          <p:nvPr/>
        </p:nvPicPr>
        <p:blipFill>
          <a:blip r:embed="rId1"/>
          <a:stretch/>
        </p:blipFill>
        <p:spPr>
          <a:xfrm>
            <a:off x="899640" y="2009160"/>
            <a:ext cx="3407400" cy="714960"/>
          </a:xfrm>
          <a:prstGeom prst="rect">
            <a:avLst/>
          </a:prstGeom>
          <a:noFill/>
          <a:ln w="0">
            <a:noFill/>
          </a:ln>
        </p:spPr>
      </p:pic>
      <p:pic>
        <p:nvPicPr>
          <p:cNvPr id="124" name="Imagen 5"/>
          <p:cNvPicPr/>
          <p:nvPr/>
        </p:nvPicPr>
        <p:blipFill>
          <a:blip r:embed="rId2"/>
          <a:stretch/>
        </p:blipFill>
        <p:spPr>
          <a:xfrm>
            <a:off x="899640" y="3598200"/>
            <a:ext cx="2949480" cy="1035000"/>
          </a:xfrm>
          <a:prstGeom prst="rect">
            <a:avLst/>
          </a:prstGeom>
          <a:noFill/>
          <a:ln w="0">
            <a:noFill/>
          </a:ln>
        </p:spPr>
      </p:pic>
      <p:sp>
        <p:nvSpPr>
          <p:cNvPr id="125" name="CustomShape 3"/>
          <p:cNvSpPr/>
          <p:nvPr/>
        </p:nvSpPr>
        <p:spPr>
          <a:xfrm>
            <a:off x="838080" y="3260520"/>
            <a:ext cx="3834360" cy="434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2. Gradiente – Derivadas parciales parciales</a:t>
            </a:r>
            <a:endParaRPr lang="es-ES" sz="1800" b="0" u="none" strike="noStrike">
              <a:solidFill>
                <a:srgbClr val="FFFFFF"/>
              </a:solidFill>
              <a:effectLst/>
              <a:uFillTx/>
              <a:latin typeface="Arial"/>
            </a:endParaRPr>
          </a:p>
        </p:txBody>
      </p:sp>
      <p:sp>
        <p:nvSpPr>
          <p:cNvPr id="126" name="CustomShape 3"/>
          <p:cNvSpPr/>
          <p:nvPr/>
        </p:nvSpPr>
        <p:spPr>
          <a:xfrm>
            <a:off x="899640" y="5207040"/>
            <a:ext cx="4413240" cy="434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3. Vemos cuánto de lejos estamos del mínimo</a:t>
            </a:r>
            <a:endParaRPr lang="es-ES" sz="1800" b="0" u="none" strike="noStrike">
              <a:solidFill>
                <a:srgbClr val="FFFFFF"/>
              </a:solidFill>
              <a:effectLst/>
              <a:uFillTx/>
              <a:latin typeface="Arial"/>
            </a:endParaRPr>
          </a:p>
        </p:txBody>
      </p:sp>
      <p:sp>
        <p:nvSpPr>
          <p:cNvPr id="127" name="CustomShape 3"/>
          <p:cNvSpPr/>
          <p:nvPr/>
        </p:nvSpPr>
        <p:spPr>
          <a:xfrm>
            <a:off x="6158160" y="1573920"/>
            <a:ext cx="4413240" cy="434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4. Actualizamos w y b para la siguiente iteración</a:t>
            </a:r>
            <a:endParaRPr lang="es-ES" sz="1800" b="0" u="none" strike="noStrike">
              <a:solidFill>
                <a:srgbClr val="FFFFFF"/>
              </a:solidFill>
              <a:effectLst/>
              <a:uFillTx/>
              <a:latin typeface="Arial"/>
            </a:endParaRPr>
          </a:p>
        </p:txBody>
      </p:sp>
      <p:pic>
        <p:nvPicPr>
          <p:cNvPr id="128" name="Imagen 7"/>
          <p:cNvPicPr/>
          <p:nvPr/>
        </p:nvPicPr>
        <p:blipFill>
          <a:blip r:embed="rId3"/>
          <a:stretch/>
        </p:blipFill>
        <p:spPr>
          <a:xfrm>
            <a:off x="6284880" y="2338560"/>
            <a:ext cx="2070360" cy="1284480"/>
          </a:xfrm>
          <a:prstGeom prst="rect">
            <a:avLst/>
          </a:prstGeom>
          <a:noFill/>
          <a:ln w="0">
            <a:noFill/>
          </a:ln>
        </p:spPr>
      </p:pic>
      <p:sp>
        <p:nvSpPr>
          <p:cNvPr id="129" name="CustomShape 3"/>
          <p:cNvSpPr/>
          <p:nvPr/>
        </p:nvSpPr>
        <p:spPr>
          <a:xfrm>
            <a:off x="6218280" y="3814200"/>
            <a:ext cx="3890160" cy="434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1" u="none" strike="noStrike">
                <a:solidFill>
                  <a:schemeClr val="lt1"/>
                </a:solidFill>
                <a:effectLst/>
                <a:uFillTx/>
                <a:latin typeface="Arial"/>
                <a:ea typeface="DejaVu Sans"/>
              </a:rPr>
              <a:t>Learning rate</a:t>
            </a:r>
            <a:r>
              <a:rPr lang="es-ES" sz="1800" b="0" u="none" strike="noStrike">
                <a:solidFill>
                  <a:schemeClr val="lt1"/>
                </a:solidFill>
                <a:effectLst/>
                <a:uFillTx/>
                <a:latin typeface="Arial"/>
                <a:ea typeface="DejaVu Sans"/>
              </a:rPr>
              <a:t> (</a:t>
            </a:r>
            <a:r>
              <a:rPr lang="el-GR" sz="1800" b="0" u="none" strike="noStrike">
                <a:solidFill>
                  <a:schemeClr val="lt1"/>
                </a:solidFill>
                <a:effectLst/>
                <a:uFillTx/>
                <a:latin typeface="Arial"/>
                <a:ea typeface="DejaVu Sans"/>
              </a:rPr>
              <a:t>α</a:t>
            </a:r>
            <a:r>
              <a:rPr lang="es-ES" sz="1800" b="0" u="none" strike="noStrike">
                <a:solidFill>
                  <a:schemeClr val="lt1"/>
                </a:solidFill>
                <a:effectLst/>
                <a:uFillTx/>
                <a:latin typeface="Arial"/>
                <a:ea typeface="DejaVu Sans"/>
              </a:rPr>
              <a:t>): parámetro que determina el salto, definido por nosotros.</a:t>
            </a:r>
            <a:endParaRPr lang="es-ES" sz="1800" b="0" u="none" strike="noStrike">
              <a:solidFill>
                <a:srgbClr val="FFFFFF"/>
              </a:solidFill>
              <a:effectLst/>
              <a:uFillTx/>
              <a:latin typeface="Arial"/>
            </a:endParaRPr>
          </a:p>
        </p:txBody>
      </p:sp>
      <p:sp>
        <p:nvSpPr>
          <p:cNvPr id="130" name="CustomShape 3"/>
          <p:cNvSpPr/>
          <p:nvPr/>
        </p:nvSpPr>
        <p:spPr>
          <a:xfrm>
            <a:off x="6167160" y="5191560"/>
            <a:ext cx="4413240" cy="434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5. Acaba el algoritmo cuando alcanzamos la convergencia</a:t>
            </a: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01" dur="indefinite" restart="never" nodeType="tmRoot">
          <p:childTnLst>
            <p:seq>
              <p:cTn id="102" dur="indefinite" nodeType="mainSeq">
                <p:childTnLst>
                  <p:par>
                    <p:cTn id="103" fill="hold">
                      <p:stCondLst>
                        <p:cond delay="indefinite"/>
                      </p:stCondLst>
                      <p:childTnLst>
                        <p:par>
                          <p:cTn id="104" fill="hold">
                            <p:stCondLst>
                              <p:cond delay="0"/>
                            </p:stCondLst>
                            <p:childTnLst>
                              <p:par>
                                <p:cTn id="105" presetID="1" presetClass="entr" fill="hold" nodeType="clickEffect">
                                  <p:stCondLst>
                                    <p:cond delay="0"/>
                                  </p:stCondLst>
                                  <p:childTnLst>
                                    <p:set>
                                      <p:cBhvr>
                                        <p:cTn id="106" dur="1" fill="hold">
                                          <p:stCondLst>
                                            <p:cond delay="0"/>
                                          </p:stCondLst>
                                        </p:cTn>
                                        <p:tgtEl>
                                          <p:spTgt spid="125"/>
                                        </p:tgtEl>
                                        <p:attrNameLst>
                                          <p:attrName>style.visibility</p:attrName>
                                        </p:attrNameLst>
                                      </p:cBhvr>
                                      <p:to>
                                        <p:strVal val="visible"/>
                                      </p:to>
                                    </p:set>
                                  </p:childTnLst>
                                </p:cTn>
                              </p:par>
                              <p:par>
                                <p:cTn id="107" presetID="1" presetClass="entr" fill="hold" nodeType="withEffect">
                                  <p:stCondLst>
                                    <p:cond delay="0"/>
                                  </p:stCondLst>
                                  <p:childTnLst>
                                    <p:set>
                                      <p:cBhvr>
                                        <p:cTn id="108" dur="1" fill="hold">
                                          <p:stCondLst>
                                            <p:cond delay="0"/>
                                          </p:stCondLst>
                                        </p:cTn>
                                        <p:tgtEl>
                                          <p:spTgt spid="124"/>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fill="hold" nodeType="clickEffect">
                                  <p:stCondLst>
                                    <p:cond delay="0"/>
                                  </p:stCondLst>
                                  <p:childTnLst>
                                    <p:set>
                                      <p:cBhvr>
                                        <p:cTn id="112" dur="1" fill="hold">
                                          <p:stCondLst>
                                            <p:cond delay="0"/>
                                          </p:stCondLst>
                                        </p:cTn>
                                        <p:tgtEl>
                                          <p:spTgt spid="126"/>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fill="hold" nodeType="clickEffect">
                                  <p:stCondLst>
                                    <p:cond delay="0"/>
                                  </p:stCondLst>
                                  <p:childTnLst>
                                    <p:set>
                                      <p:cBhvr>
                                        <p:cTn id="116" dur="1" fill="hold">
                                          <p:stCondLst>
                                            <p:cond delay="0"/>
                                          </p:stCondLst>
                                        </p:cTn>
                                        <p:tgtEl>
                                          <p:spTgt spid="127"/>
                                        </p:tgtEl>
                                        <p:attrNameLst>
                                          <p:attrName>style.visibility</p:attrName>
                                        </p:attrNameLst>
                                      </p:cBhvr>
                                      <p:to>
                                        <p:strVal val="visible"/>
                                      </p:to>
                                    </p:set>
                                  </p:childTnLst>
                                </p:cTn>
                              </p:par>
                              <p:par>
                                <p:cTn id="117" presetID="1" presetClass="entr" fill="hold" nodeType="withEffect">
                                  <p:stCondLst>
                                    <p:cond delay="0"/>
                                  </p:stCondLst>
                                  <p:childTnLst>
                                    <p:set>
                                      <p:cBhvr>
                                        <p:cTn id="118" dur="1" fill="hold">
                                          <p:stCondLst>
                                            <p:cond delay="0"/>
                                          </p:stCondLst>
                                        </p:cTn>
                                        <p:tgtEl>
                                          <p:spTgt spid="128"/>
                                        </p:tgtEl>
                                        <p:attrNameLst>
                                          <p:attrName>style.visibility</p:attrName>
                                        </p:attrNameLst>
                                      </p:cBhvr>
                                      <p:to>
                                        <p:strVal val="visible"/>
                                      </p:to>
                                    </p:set>
                                  </p:childTnLst>
                                </p:cTn>
                              </p:par>
                              <p:par>
                                <p:cTn id="119" presetID="1" presetClass="entr" fill="hold" nodeType="withEffect">
                                  <p:stCondLst>
                                    <p:cond delay="0"/>
                                  </p:stCondLst>
                                  <p:childTnLst>
                                    <p:set>
                                      <p:cBhvr>
                                        <p:cTn id="120" dur="1" fill="hold">
                                          <p:stCondLst>
                                            <p:cond delay="0"/>
                                          </p:stCondLst>
                                        </p:cTn>
                                        <p:tgtEl>
                                          <p:spTgt spid="129"/>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presetID="1" presetClass="entr" fill="hold" nodeType="clickEffect">
                                  <p:stCondLst>
                                    <p:cond delay="0"/>
                                  </p:stCondLst>
                                  <p:childTnLst>
                                    <p:set>
                                      <p:cBhvr>
                                        <p:cTn id="124" dur="1" fill="hold">
                                          <p:stCondLst>
                                            <p:cond delay="0"/>
                                          </p:stCondLst>
                                        </p:cTn>
                                        <p:tgtEl>
                                          <p:spTgt spid="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CustomShape 1"/>
          <p:cNvSpPr/>
          <p:nvPr/>
        </p:nvSpPr>
        <p:spPr>
          <a:xfrm>
            <a:off x="2233440" y="2430000"/>
            <a:ext cx="7724520" cy="19972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4400" b="0" u="none" strike="noStrike">
                <a:solidFill>
                  <a:srgbClr val="FF0000"/>
                </a:solidFill>
                <a:effectLst/>
                <a:uFillTx/>
                <a:latin typeface="Calibri Light"/>
                <a:ea typeface="DejaVu Sans"/>
              </a:rPr>
              <a:t>¿Cómo interpreto los pesos (w)?</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Coeficientes</a:t>
            </a:r>
            <a:endParaRPr lang="es-ES" sz="4400" b="0" u="none" strike="noStrike">
              <a:solidFill>
                <a:srgbClr val="FFFFFF"/>
              </a:solidFill>
              <a:effectLst/>
              <a:uFillTx/>
              <a:latin typeface="Arial"/>
            </a:endParaRPr>
          </a:p>
        </p:txBody>
      </p:sp>
      <p:sp>
        <p:nvSpPr>
          <p:cNvPr id="133" name="CustomShape 2"/>
          <p:cNvSpPr/>
          <p:nvPr/>
        </p:nvSpPr>
        <p:spPr>
          <a:xfrm>
            <a:off x="900000" y="1800000"/>
            <a:ext cx="10439280" cy="601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Si queremos predecir el precio de casas de un DF, podríamos obtener los siguientes coeficientes:</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p:txBody>
      </p:sp>
      <p:sp>
        <p:nvSpPr>
          <p:cNvPr id="134" name="CustomShape 3"/>
          <p:cNvSpPr/>
          <p:nvPr/>
        </p:nvSpPr>
        <p:spPr>
          <a:xfrm>
            <a:off x="900000" y="4500000"/>
            <a:ext cx="10439280" cy="18813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E interpretaríamos la regresión lineal como:</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y = w1*x1 + w2*x2 + w3*x3 + w4*x4 + w5*x5</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Precio casas = 21.6 * (Avg. Area Income) + 165590.4 * (Avg. Area House Age)…..</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a:p>
            <a:pPr defTabSz="914400">
              <a:lnSpc>
                <a:spcPct val="100000"/>
              </a:lnSpc>
            </a:pPr>
            <a:r>
              <a:rPr lang="es-ES" sz="1800" b="1" u="none" strike="noStrike">
                <a:solidFill>
                  <a:schemeClr val="lt1"/>
                </a:solidFill>
                <a:effectLst/>
                <a:uFillTx/>
                <a:latin typeface="Arial"/>
                <a:ea typeface="DejaVu Sans"/>
              </a:rPr>
              <a:t>¿Cómo se interpreta esto?</a:t>
            </a:r>
            <a:r>
              <a:rPr lang="es-ES" sz="1800" b="0" u="none" strike="noStrike">
                <a:solidFill>
                  <a:schemeClr val="lt1"/>
                </a:solidFill>
                <a:effectLst/>
                <a:uFillTx/>
                <a:latin typeface="Arial"/>
                <a:ea typeface="DejaVu Sans"/>
              </a:rPr>
              <a:t> Por cada unidad de </a:t>
            </a:r>
            <a:r>
              <a:rPr lang="es-ES" sz="1800" b="0" i="1" u="none" strike="noStrike">
                <a:solidFill>
                  <a:schemeClr val="lt1"/>
                </a:solidFill>
                <a:effectLst/>
                <a:uFillTx/>
                <a:latin typeface="Arial"/>
                <a:ea typeface="DejaVu Sans"/>
              </a:rPr>
              <a:t>Avg. Area Income</a:t>
            </a:r>
            <a:r>
              <a:rPr lang="es-ES" sz="1800" b="0" u="none" strike="noStrike">
                <a:solidFill>
                  <a:schemeClr val="lt1"/>
                </a:solidFill>
                <a:effectLst/>
                <a:uFillTx/>
                <a:latin typeface="Arial"/>
                <a:ea typeface="DejaVu Sans"/>
              </a:rPr>
              <a:t>, aumenta 21.6 el precio </a:t>
            </a:r>
            <a:endParaRPr lang="es-ES" sz="1800" b="0" u="none" strike="noStrike">
              <a:solidFill>
                <a:srgbClr val="FFFFFF"/>
              </a:solidFill>
              <a:effectLst/>
              <a:uFillTx/>
              <a:latin typeface="Arial"/>
            </a:endParaRPr>
          </a:p>
        </p:txBody>
      </p:sp>
      <p:pic>
        <p:nvPicPr>
          <p:cNvPr id="135" name="Imagen 2"/>
          <p:cNvPicPr/>
          <p:nvPr/>
        </p:nvPicPr>
        <p:blipFill>
          <a:blip r:embed="rId1"/>
          <a:stretch/>
        </p:blipFill>
        <p:spPr>
          <a:xfrm>
            <a:off x="1015200" y="2280960"/>
            <a:ext cx="3552120" cy="208260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Feature importance</a:t>
            </a:r>
            <a:endParaRPr lang="es-ES" sz="4400" b="0" u="none" strike="noStrike">
              <a:solidFill>
                <a:srgbClr val="FFFFFF"/>
              </a:solidFill>
              <a:effectLst/>
              <a:uFillTx/>
              <a:latin typeface="Arial"/>
            </a:endParaRPr>
          </a:p>
        </p:txBody>
      </p:sp>
      <p:sp>
        <p:nvSpPr>
          <p:cNvPr id="137" name="CustomShape 2"/>
          <p:cNvSpPr/>
          <p:nvPr/>
        </p:nvSpPr>
        <p:spPr>
          <a:xfrm>
            <a:off x="900000" y="1800000"/>
            <a:ext cx="10439280" cy="6015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Vale, entonces cuanto más alto es el coeficiente, mayor es la importancia de la variable...</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p:txBody>
      </p:sp>
      <p:pic>
        <p:nvPicPr>
          <p:cNvPr id="138" name="Imagen 81"/>
          <p:cNvPicPr/>
          <p:nvPr/>
        </p:nvPicPr>
        <p:blipFill>
          <a:blip r:embed="rId1"/>
          <a:stretch/>
        </p:blipFill>
        <p:spPr>
          <a:xfrm>
            <a:off x="1029240" y="2373120"/>
            <a:ext cx="3533760" cy="1964520"/>
          </a:xfrm>
          <a:prstGeom prst="rect">
            <a:avLst/>
          </a:prstGeom>
          <a:noFill/>
          <a:ln w="0">
            <a:noFill/>
          </a:ln>
        </p:spPr>
      </p:pic>
      <p:sp>
        <p:nvSpPr>
          <p:cNvPr id="139" name="CustomShape 3"/>
          <p:cNvSpPr/>
          <p:nvPr/>
        </p:nvSpPr>
        <p:spPr>
          <a:xfrm>
            <a:off x="900000" y="4456080"/>
            <a:ext cx="10439280" cy="187740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r>
              <a:rPr lang="es-ES" sz="1800" b="0" u="none" strike="noStrike">
                <a:solidFill>
                  <a:schemeClr val="lt1"/>
                </a:solidFill>
                <a:effectLst/>
                <a:uFillTx/>
                <a:latin typeface="Arial"/>
                <a:ea typeface="DejaVu Sans"/>
              </a:rPr>
              <a:t>NO! Estamos comparando unidades diferentes. ¿La edad de la casa es más importante que la media de ingresos de la zona?</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Precio ($) = Edad(años) + Habitaciones(nº habitaciones)…</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a:p>
            <a:pPr defTabSz="914400">
              <a:lnSpc>
                <a:spcPct val="100000"/>
              </a:lnSpc>
            </a:pPr>
            <a:r>
              <a:rPr lang="es-ES" sz="1800" b="0" u="none" strike="noStrike">
                <a:solidFill>
                  <a:schemeClr val="lt1"/>
                </a:solidFill>
                <a:effectLst/>
                <a:uFillTx/>
                <a:latin typeface="Arial"/>
                <a:ea typeface="DejaVu Sans"/>
              </a:rPr>
              <a:t>¿Solución? Estandarizar los datos</a:t>
            </a:r>
            <a:endParaRPr lang="es-ES" sz="1800" b="0" u="none" strike="noStrike">
              <a:solidFill>
                <a:srgbClr val="FFFFFF"/>
              </a:solidFill>
              <a:effectLst/>
              <a:uFillTx/>
              <a:latin typeface="Arial"/>
            </a:endParaRPr>
          </a:p>
        </p:txBody>
      </p:sp>
      <p:pic>
        <p:nvPicPr>
          <p:cNvPr id="140" name="Imagen 6"/>
          <p:cNvPicPr/>
          <p:nvPr/>
        </p:nvPicPr>
        <p:blipFill>
          <a:blip r:embed="rId2"/>
          <a:stretch/>
        </p:blipFill>
        <p:spPr>
          <a:xfrm>
            <a:off x="5081400" y="2551680"/>
            <a:ext cx="2992320" cy="1754640"/>
          </a:xfrm>
          <a:prstGeom prst="rect">
            <a:avLst/>
          </a:prstGeom>
          <a:noFill/>
          <a:ln w="0">
            <a:noFill/>
          </a:ln>
        </p:spPr>
      </p:pic>
      <p:pic>
        <p:nvPicPr>
          <p:cNvPr id="141" name="Imagen 2"/>
          <p:cNvPicPr/>
          <p:nvPr/>
        </p:nvPicPr>
        <p:blipFill>
          <a:blip r:embed="rId3"/>
          <a:stretch/>
        </p:blipFill>
        <p:spPr>
          <a:xfrm>
            <a:off x="8229600" y="2551680"/>
            <a:ext cx="3093480" cy="1754640"/>
          </a:xfrm>
          <a:prstGeom prst="rect">
            <a:avLst/>
          </a:prstGeom>
          <a:noFill/>
          <a:ln w="0">
            <a:noFill/>
          </a:ln>
        </p:spPr>
      </p:pic>
      <p:pic>
        <p:nvPicPr>
          <p:cNvPr id="142" name="Picture 2" descr="python — ¿Alguien puede explicarme StandardScaler?"/>
          <p:cNvPicPr/>
          <p:nvPr/>
        </p:nvPicPr>
        <p:blipFill>
          <a:blip r:embed="rId4"/>
          <a:srcRect l="63919" t="12875" r="15090" b="70213"/>
          <a:stretch/>
        </p:blipFill>
        <p:spPr>
          <a:xfrm>
            <a:off x="7357320" y="5295960"/>
            <a:ext cx="1904040" cy="1064520"/>
          </a:xfrm>
          <a:prstGeom prst="rect">
            <a:avLst/>
          </a:prstGeom>
          <a:noFill/>
          <a:ln w="0">
            <a:noFill/>
          </a:ln>
        </p:spPr>
      </p:pic>
    </p:spTree>
  </p:cSld>
  <mc:AlternateContent>
    <mc:Choice Requires="p14">
      <p:transition spd="slow" p14:dur="2000"/>
    </mc:Choice>
    <mc:Fallback>
      <p:transition spd="slow"/>
    </mc:Fallback>
  </mc:AlternateContent>
  <p:timing>
    <p:tnLst>
      <p:par>
        <p:cTn id="125" dur="indefinite" restart="never" nodeType="tmRoot">
          <p:childTnLst>
            <p:seq>
              <p:cTn id="126" dur="indefinite" nodeType="mainSeq">
                <p:childTnLst>
                  <p:par>
                    <p:cTn id="127" fill="hold">
                      <p:stCondLst>
                        <p:cond delay="indefinite"/>
                      </p:stCondLst>
                      <p:childTnLst>
                        <p:par>
                          <p:cTn id="128" fill="hold">
                            <p:stCondLst>
                              <p:cond delay="0"/>
                            </p:stCondLst>
                            <p:childTnLst>
                              <p:par>
                                <p:cTn id="129" presetID="1" presetClass="entr" fill="hold" nodeType="clickEffect">
                                  <p:stCondLst>
                                    <p:cond delay="0"/>
                                  </p:stCondLst>
                                  <p:childTnLst>
                                    <p:set>
                                      <p:cBhvr>
                                        <p:cTn id="130" dur="1" fill="hold">
                                          <p:stCondLst>
                                            <p:cond delay="0"/>
                                          </p:stCondLst>
                                        </p:cTn>
                                        <p:tgtEl>
                                          <p:spTgt spid="138"/>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fill="hold" nodeType="clickEffect">
                                  <p:stCondLst>
                                    <p:cond delay="0"/>
                                  </p:stCondLst>
                                  <p:childTnLst>
                                    <p:set>
                                      <p:cBhvr>
                                        <p:cTn id="134" dur="1" fill="hold">
                                          <p:stCondLst>
                                            <p:cond delay="0"/>
                                          </p:stCondLst>
                                        </p:cTn>
                                        <p:tgtEl>
                                          <p:spTgt spid="142"/>
                                        </p:tgtEl>
                                        <p:attrNameLst>
                                          <p:attrName>style.visibility</p:attrName>
                                        </p:attrNameLst>
                                      </p:cBhvr>
                                      <p:to>
                                        <p:strVal val="visible"/>
                                      </p:to>
                                    </p:set>
                                  </p:childTnLst>
                                </p:cTn>
                              </p:par>
                              <p:par>
                                <p:cTn id="135" presetID="1" presetClass="entr" fill="hold" nodeType="withEffect">
                                  <p:stCondLst>
                                    <p:cond delay="0"/>
                                  </p:stCondLst>
                                  <p:childTnLst>
                                    <p:set>
                                      <p:cBhvr>
                                        <p:cTn id="136" dur="1" fill="hold">
                                          <p:stCondLst>
                                            <p:cond delay="0"/>
                                          </p:stCondLst>
                                        </p:cTn>
                                        <p:tgtEl>
                                          <p:spTgt spid="139"/>
                                        </p:tgtEl>
                                        <p:attrNameLst>
                                          <p:attrName>style.visibility</p:attrName>
                                        </p:attrNameLst>
                                      </p:cBhvr>
                                      <p:to>
                                        <p:strVal val="visible"/>
                                      </p:to>
                                    </p:set>
                                  </p:childTnLst>
                                </p:cTn>
                              </p:par>
                              <p:par>
                                <p:cTn id="137" presetID="1" presetClass="entr" fill="hold" nodeType="withEffect">
                                  <p:stCondLst>
                                    <p:cond delay="0"/>
                                  </p:stCondLst>
                                  <p:childTnLst>
                                    <p:set>
                                      <p:cBhvr>
                                        <p:cTn id="138" dur="1" fill="hold">
                                          <p:stCondLst>
                                            <p:cond delay="0"/>
                                          </p:stCondLst>
                                        </p:cTn>
                                        <p:tgtEl>
                                          <p:spTgt spid="140"/>
                                        </p:tgtEl>
                                        <p:attrNameLst>
                                          <p:attrName>style.visibility</p:attrName>
                                        </p:attrNameLst>
                                      </p:cBhvr>
                                      <p:to>
                                        <p:strVal val="visible"/>
                                      </p:to>
                                    </p:set>
                                  </p:childTnLst>
                                </p:cTn>
                              </p:par>
                              <p:par>
                                <p:cTn id="139" presetID="1" presetClass="entr" fill="hold" nodeType="withEffect">
                                  <p:stCondLst>
                                    <p:cond delay="0"/>
                                  </p:stCondLst>
                                  <p:childTnLst>
                                    <p:set>
                                      <p:cBhvr>
                                        <p:cTn id="140" dur="1" fill="hold">
                                          <p:stCondLst>
                                            <p:cond delay="0"/>
                                          </p:stCondLst>
                                        </p:cTn>
                                        <p:tgtEl>
                                          <p:spTgt spid="1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CustomShape 1"/>
          <p:cNvSpPr/>
          <p:nvPr/>
        </p:nvSpPr>
        <p:spPr>
          <a:xfrm>
            <a:off x="2233440" y="2430000"/>
            <a:ext cx="7724520" cy="19972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4400" b="0" u="none" strike="noStrike">
                <a:solidFill>
                  <a:srgbClr val="FF0000"/>
                </a:solidFill>
                <a:effectLst/>
                <a:uFillTx/>
                <a:latin typeface="Calibri Light"/>
                <a:ea typeface="DejaVu Sans"/>
              </a:rPr>
              <a:t>Condiciones para la regresión lineal</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Condiciones I</a:t>
            </a:r>
            <a:endParaRPr lang="es-ES" sz="4400" b="0" u="none" strike="noStrike">
              <a:solidFill>
                <a:srgbClr val="FFFFFF"/>
              </a:solidFill>
              <a:effectLst/>
              <a:uFillTx/>
              <a:latin typeface="Arial"/>
            </a:endParaRPr>
          </a:p>
        </p:txBody>
      </p:sp>
      <p:sp>
        <p:nvSpPr>
          <p:cNvPr id="145" name="CustomShape 3"/>
          <p:cNvSpPr/>
          <p:nvPr/>
        </p:nvSpPr>
        <p:spPr>
          <a:xfrm>
            <a:off x="875520" y="1577520"/>
            <a:ext cx="6011280" cy="43196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buClr>
                <a:srgbClr val="FFFFFF"/>
              </a:buClr>
              <a:buFont typeface="OpenSymbol"/>
              <a:buAutoNum type="arabicPeriod"/>
            </a:pPr>
            <a:r>
              <a:rPr lang="es-ES" sz="1800" b="0" u="none" strike="noStrike">
                <a:solidFill>
                  <a:schemeClr val="lt1"/>
                </a:solidFill>
                <a:effectLst/>
                <a:uFillTx/>
                <a:latin typeface="Arial"/>
                <a:ea typeface="DejaVu Sans"/>
              </a:rPr>
              <a:t>Distribución normal del target</a:t>
            </a:r>
            <a:endParaRPr lang="es-ES" sz="1800" b="0" u="none" strike="noStrike">
              <a:solidFill>
                <a:srgbClr val="FFFFFF"/>
              </a:solidFill>
              <a:effectLst/>
              <a:uFillTx/>
              <a:latin typeface="Arial"/>
            </a:endParaRPr>
          </a:p>
          <a:p>
            <a:pPr marL="343080" indent="-343080" defTabSz="914400">
              <a:lnSpc>
                <a:spcPct val="100000"/>
              </a:lnSpc>
              <a:buClr>
                <a:srgbClr val="FFFFFF"/>
              </a:buClr>
              <a:buFont typeface="OpenSymbol"/>
              <a:buAutoNum type="arabicPeriod"/>
            </a:pPr>
            <a:r>
              <a:rPr lang="es-ES" sz="1800" b="0" u="none" strike="noStrike">
                <a:solidFill>
                  <a:schemeClr val="lt1"/>
                </a:solidFill>
                <a:effectLst/>
                <a:uFillTx/>
                <a:latin typeface="Arial"/>
                <a:ea typeface="DejaVu Sans"/>
              </a:rPr>
              <a:t>No colinealidad o multicolinealidad. </a:t>
            </a:r>
            <a:r>
              <a:rPr lang="es-ES" sz="1400" b="0" u="none" strike="noStrike">
                <a:solidFill>
                  <a:schemeClr val="lt1"/>
                </a:solidFill>
                <a:effectLst/>
                <a:uFillTx/>
                <a:latin typeface="Arial"/>
                <a:ea typeface="DejaVu Sans"/>
              </a:rPr>
              <a:t>Correlación entre los predictores. Lo solucionamos eliminando uno de ellos. Hay que garantizar la independencia entre todos ellos. Un coeficiente representa el cambio en la variable dependiente cuando la variable independiente se modifica en uno su unidad, manteniendo el resto de los coeficientes constantes.</a:t>
            </a:r>
            <a:endParaRPr lang="es-ES" sz="1400" b="0" u="none" strike="noStrike">
              <a:solidFill>
                <a:srgbClr val="FFFFFF"/>
              </a:solidFill>
              <a:effectLst/>
              <a:uFillTx/>
              <a:latin typeface="Arial"/>
            </a:endParaRPr>
          </a:p>
          <a:p>
            <a:pPr marL="343080" indent="-343080" defTabSz="914400">
              <a:lnSpc>
                <a:spcPct val="100000"/>
              </a:lnSpc>
              <a:buClr>
                <a:srgbClr val="FFFFFF"/>
              </a:buClr>
              <a:buFont typeface="OpenSymbol"/>
              <a:buAutoNum type="arabicPeriod"/>
            </a:pPr>
            <a:r>
              <a:rPr lang="es-ES" sz="1800" b="0" u="none" strike="noStrike">
                <a:solidFill>
                  <a:schemeClr val="lt1"/>
                </a:solidFill>
                <a:effectLst/>
                <a:uFillTx/>
                <a:latin typeface="Arial"/>
                <a:ea typeface="DejaVu Sans"/>
              </a:rPr>
              <a:t>Relación lineal entre target y predictores. </a:t>
            </a:r>
            <a:r>
              <a:rPr lang="es-ES" sz="1400" b="0" u="none" strike="noStrike">
                <a:solidFill>
                  <a:schemeClr val="lt1"/>
                </a:solidFill>
                <a:effectLst/>
                <a:uFillTx/>
                <a:latin typeface="Arial"/>
                <a:ea typeface="DejaVu Sans"/>
              </a:rPr>
              <a:t>Matriz de correlación</a:t>
            </a:r>
            <a:endParaRPr lang="es-ES" sz="1400" b="0" u="none" strike="noStrike">
              <a:solidFill>
                <a:srgbClr val="FFFFFF"/>
              </a:solidFill>
              <a:effectLst/>
              <a:uFillTx/>
              <a:latin typeface="Arial"/>
            </a:endParaRPr>
          </a:p>
          <a:p>
            <a:pPr marL="343080" indent="-343080" defTabSz="914400">
              <a:lnSpc>
                <a:spcPct val="100000"/>
              </a:lnSpc>
              <a:buClr>
                <a:srgbClr val="FFFFFF"/>
              </a:buClr>
              <a:buFont typeface="OpenSymbol"/>
              <a:buAutoNum type="arabicPeriod"/>
            </a:pPr>
            <a:r>
              <a:rPr lang="es-ES" sz="1800" b="0" u="none" strike="noStrike">
                <a:solidFill>
                  <a:schemeClr val="lt1"/>
                </a:solidFill>
                <a:effectLst/>
                <a:uFillTx/>
                <a:latin typeface="Arial"/>
                <a:ea typeface="DejaVu Sans"/>
              </a:rPr>
              <a:t>Homocedasticidad. </a:t>
            </a:r>
            <a:r>
              <a:rPr lang="es-ES" sz="1400" b="0" u="none" strike="noStrike">
                <a:solidFill>
                  <a:schemeClr val="lt1"/>
                </a:solidFill>
                <a:effectLst/>
                <a:uFillTx/>
                <a:latin typeface="Arial"/>
                <a:ea typeface="DejaVu Sans"/>
              </a:rPr>
              <a:t>Varianza constante de los errores a lo largo de las observaciones.</a:t>
            </a:r>
            <a:endParaRPr lang="es-ES" sz="1400" b="0" u="none" strike="noStrike">
              <a:solidFill>
                <a:srgbClr val="FFFFFF"/>
              </a:solidFill>
              <a:effectLst/>
              <a:uFillTx/>
              <a:latin typeface="Arial"/>
            </a:endParaRPr>
          </a:p>
        </p:txBody>
      </p:sp>
      <p:pic>
        <p:nvPicPr>
          <p:cNvPr id="146" name="Picture 2" descr="Gaussian or normal (bell curve) distribution. | Download Scientific Diagram"/>
          <p:cNvPicPr/>
          <p:nvPr/>
        </p:nvPicPr>
        <p:blipFill>
          <a:blip r:embed="rId1"/>
          <a:stretch/>
        </p:blipFill>
        <p:spPr>
          <a:xfrm>
            <a:off x="7076520" y="1031400"/>
            <a:ext cx="3174120" cy="2397240"/>
          </a:xfrm>
          <a:prstGeom prst="rect">
            <a:avLst/>
          </a:prstGeom>
          <a:noFill/>
          <a:ln w="0">
            <a:noFill/>
          </a:ln>
        </p:spPr>
      </p:pic>
      <p:pic>
        <p:nvPicPr>
          <p:cNvPr id="147" name="Picture 4" descr="Better Heatmaps and Correlation Matrix Plots in Python | by Drazen Zaric |  Towards Data Science"/>
          <p:cNvPicPr/>
          <p:nvPr/>
        </p:nvPicPr>
        <p:blipFill>
          <a:blip r:embed="rId2"/>
          <a:stretch/>
        </p:blipFill>
        <p:spPr>
          <a:xfrm>
            <a:off x="1342080" y="4446360"/>
            <a:ext cx="2180520" cy="1927440"/>
          </a:xfrm>
          <a:prstGeom prst="rect">
            <a:avLst/>
          </a:prstGeom>
          <a:noFill/>
          <a:ln w="0">
            <a:noFill/>
          </a:ln>
        </p:spPr>
      </p:pic>
      <p:pic>
        <p:nvPicPr>
          <p:cNvPr id="148" name="Picture 6"/>
          <p:cNvPicPr/>
          <p:nvPr/>
        </p:nvPicPr>
        <p:blipFill>
          <a:blip r:embed="rId3"/>
          <a:stretch/>
        </p:blipFill>
        <p:spPr>
          <a:xfrm>
            <a:off x="4506120" y="4812120"/>
            <a:ext cx="2381040" cy="1561680"/>
          </a:xfrm>
          <a:prstGeom prst="rect">
            <a:avLst/>
          </a:prstGeom>
          <a:noFill/>
          <a:ln w="0">
            <a:noFill/>
          </a:ln>
        </p:spPr>
      </p:pic>
      <p:pic>
        <p:nvPicPr>
          <p:cNvPr id="149" name="Picture 8"/>
          <p:cNvPicPr/>
          <p:nvPr/>
        </p:nvPicPr>
        <p:blipFill>
          <a:blip r:embed="rId4"/>
          <a:stretch/>
        </p:blipFill>
        <p:spPr>
          <a:xfrm>
            <a:off x="7509600" y="4869360"/>
            <a:ext cx="2381040" cy="1504440"/>
          </a:xfrm>
          <a:prstGeom prst="rect">
            <a:avLst/>
          </a:prstGeom>
          <a:noFill/>
          <a:ln w="0">
            <a:noFill/>
          </a:ln>
        </p:spPr>
      </p:pic>
      <p:sp>
        <p:nvSpPr>
          <p:cNvPr id="150" name="CuadroTexto 2"/>
          <p:cNvSpPr/>
          <p:nvPr/>
        </p:nvSpPr>
        <p:spPr>
          <a:xfrm>
            <a:off x="4506120" y="6492960"/>
            <a:ext cx="2381040" cy="2613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100" b="0" u="none" strike="noStrike">
                <a:solidFill>
                  <a:schemeClr val="lt1"/>
                </a:solidFill>
                <a:effectLst/>
                <a:uFillTx/>
                <a:latin typeface="Arial"/>
                <a:ea typeface="DejaVu Sans"/>
              </a:rPr>
              <a:t>Distribución Homocedástica</a:t>
            </a:r>
            <a:endParaRPr lang="es-ES" sz="1100" b="0" u="none" strike="noStrike">
              <a:solidFill>
                <a:srgbClr val="FFFFFF"/>
              </a:solidFill>
              <a:effectLst/>
              <a:uFillTx/>
              <a:latin typeface="Arial"/>
            </a:endParaRPr>
          </a:p>
        </p:txBody>
      </p:sp>
      <p:sp>
        <p:nvSpPr>
          <p:cNvPr id="151" name="CuadroTexto 11"/>
          <p:cNvSpPr/>
          <p:nvPr/>
        </p:nvSpPr>
        <p:spPr>
          <a:xfrm>
            <a:off x="7509600" y="6492960"/>
            <a:ext cx="2381040" cy="2613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100" b="0" u="none" strike="noStrike">
                <a:solidFill>
                  <a:schemeClr val="lt1"/>
                </a:solidFill>
                <a:effectLst/>
                <a:uFillTx/>
                <a:latin typeface="Arial"/>
                <a:ea typeface="DejaVu Sans"/>
              </a:rPr>
              <a:t>Distribución Heterocedástica</a:t>
            </a:r>
            <a:endParaRPr lang="es-E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Condiciones II</a:t>
            </a:r>
            <a:endParaRPr lang="es-ES" sz="4400" b="0" u="none" strike="noStrike">
              <a:solidFill>
                <a:srgbClr val="FFFFFF"/>
              </a:solidFill>
              <a:effectLst/>
              <a:uFillTx/>
              <a:latin typeface="Arial"/>
            </a:endParaRPr>
          </a:p>
        </p:txBody>
      </p:sp>
      <p:sp>
        <p:nvSpPr>
          <p:cNvPr id="153" name="CustomShape 3"/>
          <p:cNvSpPr/>
          <p:nvPr/>
        </p:nvSpPr>
        <p:spPr>
          <a:xfrm>
            <a:off x="875520" y="1577520"/>
            <a:ext cx="6011280" cy="16268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buClr>
                <a:srgbClr val="FFFFFF"/>
              </a:buClr>
              <a:buFont typeface="OpenSymbol"/>
              <a:buAutoNum type="arabicPeriod"/>
            </a:pPr>
            <a:r>
              <a:rPr lang="es-ES" sz="1800" b="0" u="none" strike="noStrike">
                <a:solidFill>
                  <a:schemeClr val="lt1"/>
                </a:solidFill>
                <a:effectLst/>
                <a:uFillTx/>
                <a:latin typeface="Arial"/>
                <a:ea typeface="DejaVu Sans"/>
              </a:rPr>
              <a:t>Independencia de los residuos (errores)</a:t>
            </a:r>
            <a:endParaRPr lang="es-ES" sz="1800" b="0" u="none" strike="noStrike">
              <a:solidFill>
                <a:srgbClr val="FFFFFF"/>
              </a:solidFill>
              <a:effectLst/>
              <a:uFillTx/>
              <a:latin typeface="Arial"/>
            </a:endParaRPr>
          </a:p>
          <a:p>
            <a:pPr marL="343080" indent="-343080" defTabSz="914400">
              <a:lnSpc>
                <a:spcPct val="100000"/>
              </a:lnSpc>
              <a:buClr>
                <a:srgbClr val="FFFFFF"/>
              </a:buClr>
              <a:buFont typeface="OpenSymbol"/>
              <a:buAutoNum type="arabicPeriod"/>
            </a:pPr>
            <a:r>
              <a:rPr lang="es-ES" sz="1800" b="0" u="none" strike="noStrike">
                <a:solidFill>
                  <a:schemeClr val="lt1"/>
                </a:solidFill>
                <a:effectLst/>
                <a:uFillTx/>
                <a:latin typeface="Arial"/>
                <a:ea typeface="DejaVu Sans"/>
              </a:rPr>
              <a:t>Normalidad de los residuos (errores)</a:t>
            </a:r>
            <a:endParaRPr lang="es-ES" sz="1800" b="0" u="none" strike="noStrike">
              <a:solidFill>
                <a:srgbClr val="FFFFFF"/>
              </a:solidFill>
              <a:effectLst/>
              <a:uFillTx/>
              <a:latin typeface="Arial"/>
            </a:endParaRPr>
          </a:p>
          <a:p>
            <a:pPr defTabSz="914400">
              <a:lnSpc>
                <a:spcPct val="100000"/>
              </a:lnSpc>
            </a:pPr>
            <a:endParaRPr lang="es-ES" sz="1800" b="0" u="none" strike="noStrike">
              <a:solidFill>
                <a:srgbClr val="FFFFFF"/>
              </a:solidFill>
              <a:effectLst/>
              <a:uFillTx/>
              <a:latin typeface="Arial"/>
            </a:endParaRPr>
          </a:p>
        </p:txBody>
      </p:sp>
      <p:pic>
        <p:nvPicPr>
          <p:cNvPr id="154" name="Imagen 4"/>
          <p:cNvPicPr/>
          <p:nvPr/>
        </p:nvPicPr>
        <p:blipFill>
          <a:blip r:embed="rId1"/>
          <a:stretch/>
        </p:blipFill>
        <p:spPr>
          <a:xfrm>
            <a:off x="934560" y="3062160"/>
            <a:ext cx="2468520" cy="3018600"/>
          </a:xfrm>
          <a:prstGeom prst="rect">
            <a:avLst/>
          </a:prstGeom>
          <a:noFill/>
          <a:ln w="0">
            <a:noFill/>
          </a:ln>
        </p:spPr>
      </p:pic>
      <p:pic>
        <p:nvPicPr>
          <p:cNvPr id="155" name="Imagen 5"/>
          <p:cNvPicPr/>
          <p:nvPr/>
        </p:nvPicPr>
        <p:blipFill>
          <a:blip r:embed="rId2"/>
          <a:stretch/>
        </p:blipFill>
        <p:spPr>
          <a:xfrm>
            <a:off x="3981960" y="3204720"/>
            <a:ext cx="4806000" cy="2858040"/>
          </a:xfrm>
          <a:prstGeom prst="rect">
            <a:avLst/>
          </a:prstGeom>
          <a:noFill/>
          <a:ln w="0">
            <a:noFill/>
          </a:ln>
        </p:spPr>
      </p:pic>
      <p:pic>
        <p:nvPicPr>
          <p:cNvPr id="156" name="Picture 2" descr="Gaussian or normal (bell curve) distribution. | Download Scientific Diagram"/>
          <p:cNvPicPr/>
          <p:nvPr/>
        </p:nvPicPr>
        <p:blipFill>
          <a:blip r:embed="rId3"/>
          <a:stretch/>
        </p:blipFill>
        <p:spPr>
          <a:xfrm>
            <a:off x="9005400" y="3842280"/>
            <a:ext cx="2940120" cy="222048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CustomShape 1"/>
          <p:cNvSpPr/>
          <p:nvPr/>
        </p:nvSpPr>
        <p:spPr>
          <a:xfrm>
            <a:off x="2233440" y="2430000"/>
            <a:ext cx="7724520" cy="1997280"/>
          </a:xfrm>
          <a:prstGeom prst="rect">
            <a:avLst/>
          </a:prstGeom>
          <a:noFill/>
          <a:ln w="0">
            <a:noFill/>
          </a:ln>
        </p:spPr>
        <p:style>
          <a:lnRef idx="0"/>
          <a:fillRef idx="0"/>
          <a:effectRef idx="0"/>
          <a:fontRef idx="minor"/>
        </p:style>
        <p:txBody>
          <a:bodyPr lIns="90000" tIns="45000" rIns="90000" bIns="45000" anchor="ctr">
            <a:normAutofit/>
          </a:bodyPr>
          <a:p>
            <a:pPr algn="ctr" defTabSz="914400">
              <a:lnSpc>
                <a:spcPct val="90000"/>
              </a:lnSpc>
            </a:pPr>
            <a:r>
              <a:rPr lang="es-ES" sz="4400" b="0" u="none" strike="noStrike">
                <a:solidFill>
                  <a:srgbClr val="FF0000"/>
                </a:solidFill>
                <a:effectLst/>
                <a:uFillTx/>
                <a:latin typeface="Calibri Light"/>
                <a:ea typeface="DejaVu Sans"/>
              </a:rPr>
              <a:t>Evaluación del modelo</a:t>
            </a:r>
            <a:endParaRPr lang="es-ES" sz="4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CustomShape 1"/>
          <p:cNvSpPr/>
          <p:nvPr/>
        </p:nvSpPr>
        <p:spPr>
          <a:xfrm>
            <a:off x="838080" y="365040"/>
            <a:ext cx="572508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Regresión lineal: errores</a:t>
            </a:r>
            <a:endParaRPr lang="es-ES" sz="4400" b="0" u="none" strike="noStrike">
              <a:solidFill>
                <a:srgbClr val="FFFFFF"/>
              </a:solidFill>
              <a:effectLst/>
              <a:uFillTx/>
              <a:latin typeface="Arial"/>
            </a:endParaRPr>
          </a:p>
        </p:txBody>
      </p:sp>
      <p:sp>
        <p:nvSpPr>
          <p:cNvPr id="159" name="CustomShape 2"/>
          <p:cNvSpPr/>
          <p:nvPr/>
        </p:nvSpPr>
        <p:spPr>
          <a:xfrm>
            <a:off x="943920" y="1690560"/>
            <a:ext cx="5256720" cy="3821040"/>
          </a:xfrm>
          <a:prstGeom prst="rect">
            <a:avLst/>
          </a:prstGeom>
          <a:noFill/>
          <a:ln w="0">
            <a:noFill/>
          </a:ln>
        </p:spPr>
        <p:style>
          <a:lnRef idx="0"/>
          <a:fillRef idx="0"/>
          <a:effectRef idx="0"/>
          <a:fontRef idx="minor"/>
        </p:style>
        <p:txBody>
          <a:bodyPr lIns="90000" tIns="45000" rIns="90000" bIns="45000" anchor="t">
            <a:normAutofit fontScale="85000" lnSpcReduction="9999"/>
          </a:bodyPr>
          <a:p>
            <a:pPr marL="228600" indent="-227880" defTabSz="914400">
              <a:lnSpc>
                <a:spcPct val="90000"/>
              </a:lnSpc>
              <a:spcBef>
                <a:spcPts val="1001"/>
              </a:spcBef>
              <a:buClr>
                <a:srgbClr val="FFFFFF"/>
              </a:buClr>
              <a:buFont typeface="Arial"/>
              <a:buChar char="•"/>
            </a:pPr>
            <a:r>
              <a:rPr lang="en-US" sz="2000" b="0" u="none" strike="noStrike">
                <a:solidFill>
                  <a:srgbClr val="FFFFFF"/>
                </a:solidFill>
                <a:effectLst/>
                <a:uFillTx/>
                <a:latin typeface="Calibri"/>
                <a:ea typeface="DejaVu Sans"/>
              </a:rPr>
              <a:t>Mean Absolute Error (MAE). </a:t>
            </a:r>
            <a:r>
              <a:rPr lang="en-US" sz="1600" b="0" u="none" strike="noStrike">
                <a:solidFill>
                  <a:srgbClr val="FFFFFF"/>
                </a:solidFill>
                <a:effectLst/>
                <a:uFillTx/>
                <a:latin typeface="Calibri"/>
                <a:ea typeface="DejaVu Sans"/>
              </a:rPr>
              <a:t>Errores en unidades del target</a:t>
            </a:r>
            <a:endParaRPr lang="es-ES" sz="1600" b="0" u="none" strike="noStrike">
              <a:solidFill>
                <a:srgbClr val="FFFFFF"/>
              </a:solidFill>
              <a:effectLst/>
              <a:uFillTx/>
              <a:latin typeface="Arial"/>
            </a:endParaRPr>
          </a:p>
          <a:p>
            <a:pPr defTabSz="914400">
              <a:lnSpc>
                <a:spcPct val="90000"/>
              </a:lnSpc>
              <a:spcBef>
                <a:spcPts val="1001"/>
              </a:spcBef>
            </a:pPr>
            <a:endParaRPr lang="es-ES" sz="2000" b="0" u="none" strike="noStrike">
              <a:solidFill>
                <a:srgbClr val="FFFFFF"/>
              </a:solidFill>
              <a:effectLst/>
              <a:uFillTx/>
              <a:latin typeface="Arial"/>
            </a:endParaRPr>
          </a:p>
          <a:p>
            <a:pPr defTabSz="914400">
              <a:lnSpc>
                <a:spcPct val="90000"/>
              </a:lnSpc>
              <a:spcBef>
                <a:spcPts val="1001"/>
              </a:spcBef>
            </a:pPr>
            <a:endParaRPr lang="es-ES" sz="2000" b="0" u="none" strike="noStrike">
              <a:solidFill>
                <a:srgbClr val="FFFFFF"/>
              </a:solidFill>
              <a:effectLst/>
              <a:uFillTx/>
              <a:latin typeface="Arial"/>
            </a:endParaRPr>
          </a:p>
          <a:p>
            <a:pPr defTabSz="914400">
              <a:lnSpc>
                <a:spcPct val="90000"/>
              </a:lnSpc>
              <a:spcBef>
                <a:spcPts val="1001"/>
              </a:spcBef>
            </a:pPr>
            <a:endParaRPr lang="es-ES" sz="2000" b="0" u="none" strike="noStrike">
              <a:solidFill>
                <a:srgbClr val="FFFFFF"/>
              </a:solidFill>
              <a:effectLst/>
              <a:uFillTx/>
              <a:latin typeface="Arial"/>
            </a:endParaRPr>
          </a:p>
          <a:p>
            <a:pPr defTabSz="914400">
              <a:lnSpc>
                <a:spcPct val="90000"/>
              </a:lnSpc>
              <a:spcBef>
                <a:spcPts val="1001"/>
              </a:spcBef>
            </a:pPr>
            <a:endParaRPr lang="es-ES" sz="2000" b="0" u="none" strike="noStrike">
              <a:solidFill>
                <a:srgbClr val="FFFFFF"/>
              </a:solidFill>
              <a:effectLst/>
              <a:uFillTx/>
              <a:latin typeface="Arial"/>
            </a:endParaRPr>
          </a:p>
          <a:p>
            <a:pPr marL="228600" indent="-227880" defTabSz="914400">
              <a:lnSpc>
                <a:spcPct val="90000"/>
              </a:lnSpc>
              <a:spcBef>
                <a:spcPts val="1001"/>
              </a:spcBef>
              <a:buClr>
                <a:srgbClr val="FFFFFF"/>
              </a:buClr>
              <a:buFont typeface="Arial"/>
              <a:buChar char="•"/>
            </a:pPr>
            <a:r>
              <a:rPr lang="en-US" sz="2000" b="0" u="none" strike="noStrike">
                <a:solidFill>
                  <a:srgbClr val="FFFFFF"/>
                </a:solidFill>
                <a:effectLst/>
                <a:uFillTx/>
                <a:latin typeface="Calibri"/>
                <a:ea typeface="DejaVu Sans"/>
              </a:rPr>
              <a:t>Mean Squared Error (MSE). No se interpreta bien al ir al cuadrado, pero enfatiza mucho más los errores altos</a:t>
            </a:r>
            <a:endParaRPr lang="es-ES" sz="2000" b="0" u="none" strike="noStrike">
              <a:solidFill>
                <a:srgbClr val="FFFFFF"/>
              </a:solidFill>
              <a:effectLst/>
              <a:uFillTx/>
              <a:latin typeface="Arial"/>
            </a:endParaRPr>
          </a:p>
          <a:p>
            <a:pPr defTabSz="914400">
              <a:lnSpc>
                <a:spcPct val="90000"/>
              </a:lnSpc>
              <a:spcBef>
                <a:spcPts val="1001"/>
              </a:spcBef>
            </a:pPr>
            <a:endParaRPr lang="es-ES" sz="2000" b="0" u="none" strike="noStrike">
              <a:solidFill>
                <a:srgbClr val="FFFFFF"/>
              </a:solidFill>
              <a:effectLst/>
              <a:uFillTx/>
              <a:latin typeface="Arial"/>
            </a:endParaRPr>
          </a:p>
          <a:p>
            <a:pPr defTabSz="914400">
              <a:lnSpc>
                <a:spcPct val="90000"/>
              </a:lnSpc>
              <a:spcBef>
                <a:spcPts val="1001"/>
              </a:spcBef>
            </a:pPr>
            <a:endParaRPr lang="es-ES" sz="2000" b="0" u="none" strike="noStrike">
              <a:solidFill>
                <a:srgbClr val="FFFFFF"/>
              </a:solidFill>
              <a:effectLst/>
              <a:uFillTx/>
              <a:latin typeface="Arial"/>
            </a:endParaRPr>
          </a:p>
          <a:p>
            <a:pPr defTabSz="914400">
              <a:lnSpc>
                <a:spcPct val="90000"/>
              </a:lnSpc>
              <a:spcBef>
                <a:spcPts val="1001"/>
              </a:spcBef>
            </a:pPr>
            <a:endParaRPr lang="es-ES" sz="2000" b="0" u="none" strike="noStrike">
              <a:solidFill>
                <a:srgbClr val="FFFFFF"/>
              </a:solidFill>
              <a:effectLst/>
              <a:uFillTx/>
              <a:latin typeface="Arial"/>
            </a:endParaRPr>
          </a:p>
          <a:p>
            <a:pPr marL="228600" indent="-227880" defTabSz="914400">
              <a:lnSpc>
                <a:spcPct val="90000"/>
              </a:lnSpc>
              <a:spcBef>
                <a:spcPts val="1001"/>
              </a:spcBef>
              <a:buClr>
                <a:srgbClr val="FFFFFF"/>
              </a:buClr>
              <a:buFont typeface="Arial"/>
              <a:buChar char="•"/>
            </a:pPr>
            <a:r>
              <a:rPr lang="en-US" sz="2000" b="0" u="none" strike="noStrike">
                <a:solidFill>
                  <a:srgbClr val="FFFFFF"/>
                </a:solidFill>
                <a:effectLst/>
                <a:uFillTx/>
                <a:latin typeface="Calibri"/>
                <a:ea typeface="DejaVu Sans"/>
              </a:rPr>
              <a:t>Root Mean Squared Error (RMSE)</a:t>
            </a:r>
            <a:endParaRPr lang="es-ES" sz="2000" b="0" u="none" strike="noStrike">
              <a:solidFill>
                <a:srgbClr val="FFFFFF"/>
              </a:solidFill>
              <a:effectLst/>
              <a:uFillTx/>
              <a:latin typeface="Arial"/>
            </a:endParaRPr>
          </a:p>
        </p:txBody>
      </p:sp>
      <p:pic>
        <p:nvPicPr>
          <p:cNvPr id="160" name="Picture 5"/>
          <p:cNvPicPr/>
          <p:nvPr/>
        </p:nvPicPr>
        <p:blipFill>
          <a:blip r:embed="rId1"/>
          <a:stretch/>
        </p:blipFill>
        <p:spPr>
          <a:xfrm>
            <a:off x="7313040" y="2565360"/>
            <a:ext cx="4206960" cy="2635200"/>
          </a:xfrm>
          <a:prstGeom prst="rect">
            <a:avLst/>
          </a:prstGeom>
          <a:noFill/>
          <a:ln w="0">
            <a:noFill/>
          </a:ln>
        </p:spPr>
      </p:pic>
      <p:pic>
        <p:nvPicPr>
          <p:cNvPr id="161" name="Picture 4"/>
          <p:cNvPicPr/>
          <p:nvPr/>
        </p:nvPicPr>
        <p:blipFill>
          <a:blip r:embed="rId2"/>
          <a:stretch/>
        </p:blipFill>
        <p:spPr>
          <a:xfrm>
            <a:off x="2055240" y="2283120"/>
            <a:ext cx="2599560" cy="808560"/>
          </a:xfrm>
          <a:prstGeom prst="rect">
            <a:avLst/>
          </a:prstGeom>
          <a:noFill/>
          <a:ln w="0">
            <a:noFill/>
          </a:ln>
        </p:spPr>
      </p:pic>
      <p:pic>
        <p:nvPicPr>
          <p:cNvPr id="162" name="Picture 6"/>
          <p:cNvPicPr/>
          <p:nvPr/>
        </p:nvPicPr>
        <p:blipFill>
          <a:blip r:embed="rId3"/>
          <a:stretch/>
        </p:blipFill>
        <p:spPr>
          <a:xfrm>
            <a:off x="2055240" y="3883320"/>
            <a:ext cx="2780640" cy="837360"/>
          </a:xfrm>
          <a:prstGeom prst="rect">
            <a:avLst/>
          </a:prstGeom>
          <a:noFill/>
          <a:ln w="0">
            <a:noFill/>
          </a:ln>
        </p:spPr>
      </p:pic>
      <p:pic>
        <p:nvPicPr>
          <p:cNvPr id="163" name="Picture 9"/>
          <p:cNvPicPr/>
          <p:nvPr/>
        </p:nvPicPr>
        <p:blipFill>
          <a:blip r:embed="rId4"/>
          <a:stretch/>
        </p:blipFill>
        <p:spPr>
          <a:xfrm>
            <a:off x="2055240" y="5465160"/>
            <a:ext cx="2877120" cy="83736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4" name="CustomShape 1"/>
          <p:cNvSpPr/>
          <p:nvPr/>
        </p:nvSpPr>
        <p:spPr>
          <a:xfrm>
            <a:off x="838080" y="365040"/>
            <a:ext cx="1051452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R-Squared</a:t>
            </a:r>
            <a:endParaRPr lang="es-ES" sz="4400" b="0" u="none" strike="noStrike">
              <a:solidFill>
                <a:srgbClr val="FFFFFF"/>
              </a:solidFill>
              <a:effectLst/>
              <a:uFillTx/>
              <a:latin typeface="Arial"/>
            </a:endParaRPr>
          </a:p>
        </p:txBody>
      </p:sp>
      <p:pic>
        <p:nvPicPr>
          <p:cNvPr id="165" name="Imagen 89"/>
          <p:cNvPicPr/>
          <p:nvPr/>
        </p:nvPicPr>
        <p:blipFill>
          <a:blip r:embed="rId1"/>
          <a:stretch/>
        </p:blipFill>
        <p:spPr>
          <a:xfrm>
            <a:off x="3291840" y="2696400"/>
            <a:ext cx="5028840" cy="3739320"/>
          </a:xfrm>
          <a:prstGeom prst="rect">
            <a:avLst/>
          </a:prstGeom>
          <a:noFill/>
          <a:ln w="0">
            <a:noFill/>
          </a:ln>
        </p:spPr>
      </p:pic>
      <p:sp>
        <p:nvSpPr>
          <p:cNvPr id="166" name="CuadroTexto 1"/>
          <p:cNvSpPr/>
          <p:nvPr/>
        </p:nvSpPr>
        <p:spPr>
          <a:xfrm>
            <a:off x="838080" y="1371600"/>
            <a:ext cx="9824400" cy="11998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ES" sz="1800" b="0" u="none" strike="noStrike">
                <a:solidFill>
                  <a:schemeClr val="lt1"/>
                </a:solidFill>
                <a:effectLst/>
                <a:uFillTx/>
                <a:latin typeface="Calibri"/>
                <a:ea typeface="DejaVu Sans"/>
              </a:rPr>
              <a:t>Coeficiente de determinación. Mide cuánto de bien una regresión se ajusta a los datos. También se define como la porción de variación de la variable dependiente (y) predecible mediante la independiente (x). Va de [0,1]. Cuanto mejor se ajuste, más se acercará a 1. Cuanto más cercano a 0, menos fiable será.</a:t>
            </a:r>
            <a:endParaRPr lang="es-E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CustomShape 1"/>
          <p:cNvSpPr/>
          <p:nvPr/>
        </p:nvSpPr>
        <p:spPr>
          <a:xfrm>
            <a:off x="838080" y="365040"/>
            <a:ext cx="5725080" cy="1324440"/>
          </a:xfrm>
          <a:prstGeom prst="rect">
            <a:avLst/>
          </a:prstGeom>
          <a:noFill/>
          <a:ln w="0">
            <a:noFill/>
          </a:ln>
        </p:spPr>
        <p:style>
          <a:lnRef idx="0"/>
          <a:fillRef idx="0"/>
          <a:effectRef idx="0"/>
          <a:fontRef idx="minor"/>
        </p:style>
        <p:txBody>
          <a:bodyPr lIns="90000" tIns="45000" rIns="90000" bIns="45000" anchor="ctr">
            <a:noAutofit/>
          </a:bodyPr>
          <a:p>
            <a:pPr defTabSz="914400">
              <a:lnSpc>
                <a:spcPct val="90000"/>
              </a:lnSpc>
            </a:pPr>
            <a:r>
              <a:rPr lang="es-ES" sz="4400" b="0" u="none" strike="noStrike">
                <a:solidFill>
                  <a:srgbClr val="FF0000"/>
                </a:solidFill>
                <a:effectLst/>
                <a:uFillTx/>
                <a:latin typeface="Calibri Light"/>
                <a:ea typeface="DejaVu Sans"/>
              </a:rPr>
              <a:t>Bibliografía</a:t>
            </a:r>
            <a:endParaRPr lang="es-ES" sz="4400" b="0" u="none" strike="noStrike">
              <a:solidFill>
                <a:srgbClr val="FFFFFF"/>
              </a:solidFill>
              <a:effectLst/>
              <a:uFillTx/>
              <a:latin typeface="Arial"/>
            </a:endParaRPr>
          </a:p>
        </p:txBody>
      </p:sp>
      <p:sp>
        <p:nvSpPr>
          <p:cNvPr id="168" name="CustomShape 2"/>
          <p:cNvSpPr/>
          <p:nvPr/>
        </p:nvSpPr>
        <p:spPr>
          <a:xfrm>
            <a:off x="943920" y="1690560"/>
            <a:ext cx="10548720" cy="3821040"/>
          </a:xfrm>
          <a:prstGeom prst="rect">
            <a:avLst/>
          </a:prstGeom>
          <a:noFill/>
          <a:ln w="0">
            <a:noFill/>
          </a:ln>
        </p:spPr>
        <p:style>
          <a:lnRef idx="0"/>
          <a:fillRef idx="0"/>
          <a:effectRef idx="0"/>
          <a:fontRef idx="minor"/>
        </p:style>
        <p:txBody>
          <a:bodyPr lIns="90000" tIns="45000" rIns="90000" bIns="45000" anchor="t">
            <a:normAutofit/>
          </a:bodyPr>
          <a:p>
            <a:pPr marL="720" defTabSz="914400">
              <a:lnSpc>
                <a:spcPct val="90000"/>
              </a:lnSpc>
              <a:spcBef>
                <a:spcPts val="1001"/>
              </a:spcBef>
            </a:pPr>
            <a:r>
              <a:rPr lang="en-US" sz="1600" b="0" u="sng" strike="noStrike">
                <a:solidFill>
                  <a:srgbClr val="0563C1"/>
                </a:solidFill>
                <a:effectLst/>
                <a:uFillTx/>
                <a:latin typeface="Calibri"/>
                <a:ea typeface="DejaVu Sans"/>
                <a:hlinkClick r:id="rId1"/>
              </a:rPr>
              <a:t>https://learning.oreilly.com/library/view/hands-on-machine-learning/9781492032632/</a:t>
            </a:r>
            <a:endParaRPr lang="es-ES" sz="1600" b="0" u="none" strike="noStrike">
              <a:solidFill>
                <a:srgbClr val="FFFFFF"/>
              </a:solidFill>
              <a:effectLst/>
              <a:uFillTx/>
              <a:latin typeface="Arial"/>
            </a:endParaRPr>
          </a:p>
          <a:p>
            <a:pPr marL="720" defTabSz="914400">
              <a:lnSpc>
                <a:spcPct val="90000"/>
              </a:lnSpc>
              <a:spcBef>
                <a:spcPts val="1001"/>
              </a:spcBef>
            </a:pPr>
            <a:endParaRPr lang="es-ES" sz="1600" b="0" u="none" strike="noStrike">
              <a:solidFill>
                <a:srgbClr val="FFFFFF"/>
              </a:solidFill>
              <a:effectLst/>
              <a:uFillTx/>
              <a:latin typeface="Arial"/>
            </a:endParaRPr>
          </a:p>
          <a:p>
            <a:pPr marL="720" defTabSz="914400">
              <a:lnSpc>
                <a:spcPct val="90000"/>
              </a:lnSpc>
              <a:spcBef>
                <a:spcPts val="1001"/>
              </a:spcBef>
            </a:pPr>
            <a:r>
              <a:rPr lang="es-ES" sz="1600" b="0" u="sng" strike="noStrike">
                <a:solidFill>
                  <a:srgbClr val="0563C1"/>
                </a:solidFill>
                <a:effectLst/>
                <a:uFillTx/>
                <a:latin typeface="Arial"/>
                <a:ea typeface="DejaVu Sans"/>
                <a:hlinkClick r:id="rId2"/>
              </a:rPr>
              <a:t>https://www.cienciadedatos.net/documentos/py10-regresion-lineal-python.html</a:t>
            </a:r>
            <a:endParaRPr lang="es-ES" sz="1600" b="0" u="none" strike="noStrike">
              <a:solidFill>
                <a:srgbClr val="FFFFFF"/>
              </a:solidFill>
              <a:effectLst/>
              <a:uFillTx/>
              <a:latin typeface="Arial"/>
            </a:endParaRPr>
          </a:p>
          <a:p>
            <a:pPr marL="720" defTabSz="914400">
              <a:lnSpc>
                <a:spcPct val="90000"/>
              </a:lnSpc>
              <a:spcBef>
                <a:spcPts val="1001"/>
              </a:spcBef>
            </a:pPr>
            <a:endParaRPr lang="es-ES" sz="1600" b="0" u="none" strike="noStrike">
              <a:solidFill>
                <a:srgbClr val="FFFFFF"/>
              </a:solidFill>
              <a:effectLst/>
              <a:uFillTx/>
              <a:latin typeface="Arial"/>
            </a:endParaRPr>
          </a:p>
          <a:p>
            <a:pPr marL="720" defTabSz="914400">
              <a:lnSpc>
                <a:spcPct val="90000"/>
              </a:lnSpc>
              <a:spcBef>
                <a:spcPts val="1001"/>
              </a:spcBef>
            </a:pPr>
            <a:r>
              <a:rPr lang="es-ES" sz="1800" b="0" u="sng" strike="noStrike">
                <a:solidFill>
                  <a:srgbClr val="0563C1"/>
                </a:solidFill>
                <a:effectLst/>
                <a:uFillTx/>
                <a:latin typeface="Calibri"/>
                <a:ea typeface="DejaVu Sans"/>
                <a:hlinkClick r:id="rId3"/>
              </a:rPr>
              <a:t>https://machinelearningmastery.com/gradient-descent-for-machine-learning/</a:t>
            </a:r>
            <a:endParaRPr lang="es-ES" sz="1800" b="0" u="none" strike="noStrike">
              <a:solidFill>
                <a:srgbClr val="FFFFFF"/>
              </a:solidFill>
              <a:effectLst/>
              <a:uFillTx/>
              <a:latin typeface="Arial"/>
            </a:endParaRPr>
          </a:p>
          <a:p>
            <a:pPr marL="720" defTabSz="914400">
              <a:lnSpc>
                <a:spcPct val="90000"/>
              </a:lnSpc>
              <a:spcBef>
                <a:spcPts val="1001"/>
              </a:spcBef>
            </a:pPr>
            <a:endParaRPr lang="es-ES" sz="1600" b="0" u="none" strike="noStrike">
              <a:solidFill>
                <a:srgbClr val="FFFFFF"/>
              </a:solidFill>
              <a:effectLst/>
              <a:uFillTx/>
              <a:latin typeface="Arial"/>
            </a:endParaRPr>
          </a:p>
          <a:p>
            <a:pPr marL="720" defTabSz="914400">
              <a:lnSpc>
                <a:spcPct val="90000"/>
              </a:lnSpc>
              <a:spcBef>
                <a:spcPts val="1001"/>
              </a:spcBef>
            </a:pPr>
            <a:r>
              <a:rPr lang="es-ES" sz="1800" b="0" u="sng" strike="noStrike">
                <a:solidFill>
                  <a:srgbClr val="0563C1"/>
                </a:solidFill>
                <a:effectLst/>
                <a:uFillTx/>
                <a:latin typeface="Calibri"/>
                <a:ea typeface="DejaVu Sans"/>
                <a:hlinkClick r:id="rId4"/>
              </a:rPr>
              <a:t>https://towardsdatascience.com/gradient-descent-animation-1-simple-linear-regression-e49315b24672</a:t>
            </a:r>
            <a:endParaRPr lang="es-ES" sz="1800" b="0" u="none" strike="noStrike">
              <a:solidFill>
                <a:srgbClr val="FFFFFF"/>
              </a:solidFill>
              <a:effectLst/>
              <a:uFillTx/>
              <a:latin typeface="Arial"/>
            </a:endParaRPr>
          </a:p>
          <a:p>
            <a:pPr marL="720" defTabSz="914400">
              <a:lnSpc>
                <a:spcPct val="90000"/>
              </a:lnSpc>
              <a:spcBef>
                <a:spcPts val="1001"/>
              </a:spcBef>
            </a:pPr>
            <a:endParaRPr lang="es-E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FF0000"/>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11215</TotalTime>
  <Application>LibreOffice/26.2.2.2$Windows_X86_64 LibreOffice_project/1f77d10d6938fd34972958f64b2bcfa54f8b1ba5</Application>
  <AppVersion>15.0000</AppVersion>
  <Words>1000</Words>
  <Paragraphs>138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2020-08-31T20:14:59Z</dcterms:created>
  <dc:creator>Gabriel VT</dc:creator>
  <dc:description/>
  <dc:language>es-ES</dc:language>
  <cp:lastModifiedBy/>
  <dcterms:modified xsi:type="dcterms:W3CDTF">2026-04-17T12:48:26Z</dcterms:modified>
  <cp:revision>29</cp:revision>
  <dc:subject/>
  <dc:title>Machine Learning   Regresión Lineal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0</vt:i4>
  </property>
  <property fmtid="{D5CDD505-2E9C-101B-9397-08002B2CF9AE}" pid="3" name="HyperlinksChanged">
    <vt:bool>0</vt:bool>
  </property>
  <property fmtid="{D5CDD505-2E9C-101B-9397-08002B2CF9AE}" pid="4" name="LinksUpToDate">
    <vt:bool>0</vt:bool>
  </property>
  <property fmtid="{D5CDD505-2E9C-101B-9397-08002B2CF9AE}" pid="5" name="MMClips">
    <vt:i4>0</vt:i4>
  </property>
  <property fmtid="{D5CDD505-2E9C-101B-9397-08002B2CF9AE}" pid="6" name="Notes">
    <vt:i4>24</vt:i4>
  </property>
  <property fmtid="{D5CDD505-2E9C-101B-9397-08002B2CF9AE}" pid="7" name="PresentationFormat">
    <vt:lpwstr>Widescreen</vt:lpwstr>
  </property>
  <property fmtid="{D5CDD505-2E9C-101B-9397-08002B2CF9AE}" pid="8" name="ScaleCrop">
    <vt:bool>0</vt:bool>
  </property>
  <property fmtid="{D5CDD505-2E9C-101B-9397-08002B2CF9AE}" pid="9" name="ShareDoc">
    <vt:bool>0</vt:bool>
  </property>
  <property fmtid="{D5CDD505-2E9C-101B-9397-08002B2CF9AE}" pid="10" name="Slides">
    <vt:i4>24</vt:i4>
  </property>
</Properties>
</file>
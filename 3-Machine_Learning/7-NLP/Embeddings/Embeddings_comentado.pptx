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comments/comment4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6.xml" ContentType="application/vnd.openxmlformats-officedocument.presentationml.comments+xml"/>
  <Override PartName="/ppt/comments/comment8.xml" ContentType="application/vnd.openxmlformats-officedocument.presentationml.comment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1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559675" cy="10691813"/>
</p:presentation>
</file>

<file path=ppt/commentAuthors.xml><?xml version="1.0" encoding="utf-8"?>
<p:cmAuthorLst xmlns:p="http://schemas.openxmlformats.org/presentationml/2006/main">
  <p:cmAuthor id="0" name="" initials="" lastIdx="4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<Relationship Id="rId25" Type="http://schemas.openxmlformats.org/officeDocument/2006/relationships/commentAuthors" Target="commentAuthors.xml"/>
</Relationships>
</file>

<file path=ppt/comments/comment4.xml><?xml version="1.0" encoding="utf-8"?>
<p:cmLst xmlns:p="http://schemas.openxmlformats.org/presentationml/2006/main">
  <p:cm authorId="0" dt="2026-05-12T09:32:38.000000000" idx="1">
    <p:pos x="0" y="0"/>
    <p:text>Tabla ascii</p:text>
  </p:cm>
</p:cmLst>
</file>

<file path=ppt/comments/comment6.xml><?xml version="1.0" encoding="utf-8"?>
<p:cmLst xmlns:p="http://schemas.openxmlformats.org/presentationml/2006/main">
  <p:cm authorId="0" dt="2026-05-12T09:38:40.000000000" idx="2">
    <p:pos x="0" y="0"/>
    <p:text>Precede de ceros hasta que todas las frases son igual de largas, 8 features</p:text>
  </p:cm>
</p:cmLst>
</file>

<file path=ppt/comments/comment8.xml><?xml version="1.0" encoding="utf-8"?>
<p:cmLst xmlns:p="http://schemas.openxmlformats.org/presentationml/2006/main">
  <p:cm authorId="0" dt="2026-05-12T09:46:56.000000000" idx="3">
    <p:pos x="0" y="0"/>
    <p:text>Jet cumple las 3 caracteristicas
Una red neuronal da esas caracteristicas sobre la marcha.
Palabras que apuntan a una direccio similar son similares.</p:text>
  </p:cm>
</p:cmLst>
</file>

<file path=ppt/comments/comment10.xml><?xml version="1.0" encoding="utf-8"?>
<p:cmLst xmlns:p="http://schemas.openxmlformats.org/presentationml/2006/main">
  <p:cm authorId="0" dt="2026-05-12T09:59:48.000000000" idx="4">
    <p:pos x="0" y="0"/>
    <p:text>Se le dan unos ejemplos ya clasificados, es supervisado.
Después el sistema precide si el comentario es de una clase u otra.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8C2F37-3E5D-4F78-A74E-E0F7880243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buNone/>
            </a:pP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68D608-A446-401C-8D14-3526D9C86A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889920" y="365040"/>
            <a:ext cx="1463040" cy="614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 vert="eaVert">
            <a:noAutofit/>
          </a:bodyPr>
          <a:p>
            <a:pPr indent="0" algn="l">
              <a:buNone/>
            </a:pP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838080" y="369360"/>
            <a:ext cx="8178120" cy="580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buNone/>
            </a:pP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5F9CC9-5BC5-4417-9E8B-03390425A2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buNone/>
            </a:pP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571D144-4D95-4E17-ACA9-B321BF1DBA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7D74F2E-0C36-4C05-ACD6-2A424A879F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buNone/>
            </a:pP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A3A4E0B-DC1C-431D-B11A-BC6DD07FE9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889920" y="365040"/>
            <a:ext cx="1463040" cy="614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 vert="eaVert">
            <a:noAutofit/>
          </a:bodyPr>
          <a:p>
            <a:pPr indent="0" algn="l">
              <a:buNone/>
            </a:pP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369360"/>
            <a:ext cx="8178120" cy="580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p>
            <a:pPr indent="0" algn="l">
              <a:buNone/>
            </a:pP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C26519B-115D-4694-BD41-DE3FFDE3DB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5D13DE4-B0B3-446A-888D-7B3F0BADAC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buNone/>
            </a:pP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buNone/>
            </a:pP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B0F2093-EDB0-4CE5-B7D8-D44B221DD3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BB7F7BE-4D71-463F-8C15-67313CF8CE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422132B-B6FA-4854-A59E-08A29AC04D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217AE89-2264-4412-9E5E-55C57AB914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E07791B-6D65-4158-9E37-2984EC701A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B41323F-0427-4F69-A002-89E10AE8AA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4C0C724-D6D1-461A-8589-8D28B67E77B2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s-ES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s-E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BA6103-401D-485D-8590-E581AF7C611A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2244388-B0DC-4A92-AF6F-E0DBB7D18D22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61E30B-3B90-407C-ACE3-CF7F166C510E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90512A-93B6-46D9-ADE8-474101A17E60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5283D0-F3BE-4EEC-BA59-DD9AB571EFB0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DAD2EF-DCF5-4F1B-93C0-8C61EAFE3230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5ABFD43-C3B1-49C6-A494-F21FEF514BD0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25B103C-106A-4952-89A9-152167755C4D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FBF0C6B-6E89-40E1-A030-FF3911026687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8CD44A-8ED8-420C-9FA3-CD7BBA73ABD8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comments" Target="../comments/commen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4.xml"/><Relationship Id="rId5" Type="http://schemas.openxmlformats.org/officeDocument/2006/relationships/comments" Target="../comments/commen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3" Type="http://schemas.openxmlformats.org/officeDocument/2006/relationships/comments" Target="../comments/commen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omments" Target="../comments/commen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learning.oreilly.com/library/view/ai-and-machine/9781492078180/ch06.html" TargetMode="External"/><Relationship Id="rId2" Type="http://schemas.openxmlformats.org/officeDocument/2006/relationships/hyperlink" Target="https://medium.com/@kadircanercetin/intuitive-understanding-of-word-embeddings-with-keras-6435fe92a57b" TargetMode="External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523880" y="1447200"/>
            <a:ext cx="9143280" cy="21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Machine Learning</a:t>
            </a:r>
            <a:br>
              <a:rPr sz="6000"/>
            </a:br>
            <a:r>
              <a:rPr lang="es-ES" sz="40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Embeddings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1523880" y="420264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Data Science Bootcamp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The Bridge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Google Shape;90;p1" descr="Events organizados por The Bridge | Digital Talent Accelerator | Eventbrite"/>
          <p:cNvPicPr/>
          <p:nvPr/>
        </p:nvPicPr>
        <p:blipFill>
          <a:blip r:embed="rId1"/>
          <a:stretch/>
        </p:blipFill>
        <p:spPr>
          <a:xfrm>
            <a:off x="10630080" y="5505480"/>
            <a:ext cx="823320" cy="82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120" cy="30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Definición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Deep Learning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120" cy="47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D8D8D8"/>
                </a:solidFill>
                <a:effectLst/>
                <a:uFillTx/>
                <a:latin typeface="Calibri"/>
                <a:ea typeface="Calibri"/>
              </a:rPr>
              <a:t>Entrenamiento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02;p3"/>
          <p:cNvSpPr/>
          <p:nvPr/>
        </p:nvSpPr>
        <p:spPr>
          <a:xfrm>
            <a:off x="497520" y="763200"/>
            <a:ext cx="89280" cy="65376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2" descr="How Neural Networks process input data | by Sunil Sandhu | Artificial  Intelligence in Plain English"/>
          <p:cNvPicPr/>
          <p:nvPr/>
        </p:nvPicPr>
        <p:blipFill>
          <a:blip r:embed="rId1"/>
          <a:stretch/>
        </p:blipFill>
        <p:spPr>
          <a:xfrm>
            <a:off x="3161880" y="2061360"/>
            <a:ext cx="5625000" cy="329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CuadroTexto 1"/>
          <p:cNvSpPr/>
          <p:nvPr/>
        </p:nvSpPr>
        <p:spPr>
          <a:xfrm>
            <a:off x="1055160" y="3017160"/>
            <a:ext cx="190080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“La peor película que he visto nunca”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“Muy buen argumento”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“No la recomendaría”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CuadroTexto 7"/>
          <p:cNvSpPr/>
          <p:nvPr/>
        </p:nvSpPr>
        <p:spPr>
          <a:xfrm>
            <a:off x="1878840" y="5784480"/>
            <a:ext cx="8433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El modelo no puede procesar texto, por lo que tenemos que traducir a números: CODIFICAR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CuadroTexto 8"/>
          <p:cNvSpPr/>
          <p:nvPr/>
        </p:nvSpPr>
        <p:spPr>
          <a:xfrm>
            <a:off x="9362520" y="3100680"/>
            <a:ext cx="1900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Output Reviews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Buena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Mala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Codificar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120" cy="47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D8D8D8"/>
                </a:solidFill>
                <a:effectLst/>
                <a:uFillTx/>
                <a:latin typeface="Calibri"/>
                <a:ea typeface="Calibri"/>
              </a:rPr>
              <a:t>Caracteres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2;p3"/>
          <p:cNvSpPr/>
          <p:nvPr/>
        </p:nvSpPr>
        <p:spPr>
          <a:xfrm>
            <a:off x="497520" y="763200"/>
            <a:ext cx="89280" cy="65376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Picture 2" descr="Informatika na Gymnáziu a Jazykové škole s právem státní jazykové zkoušky  Zlín"/>
          <p:cNvPicPr/>
          <p:nvPr/>
        </p:nvPicPr>
        <p:blipFill>
          <a:blip r:embed="rId1"/>
          <a:stretch/>
        </p:blipFill>
        <p:spPr>
          <a:xfrm>
            <a:off x="3004920" y="2029680"/>
            <a:ext cx="6399000" cy="345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CuadroTexto 7"/>
          <p:cNvSpPr/>
          <p:nvPr/>
        </p:nvSpPr>
        <p:spPr>
          <a:xfrm>
            <a:off x="1987560" y="5859000"/>
            <a:ext cx="8433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Lo que tenemos que codificar son palabras, no caracteres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Tokenizar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120" cy="47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D8D8D8"/>
                </a:solidFill>
                <a:effectLst/>
                <a:uFillTx/>
                <a:latin typeface="Calibri"/>
                <a:ea typeface="Calibri"/>
              </a:rPr>
              <a:t>Palabras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;p3"/>
          <p:cNvSpPr/>
          <p:nvPr/>
        </p:nvSpPr>
        <p:spPr>
          <a:xfrm>
            <a:off x="497520" y="763200"/>
            <a:ext cx="89280" cy="65376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0" name="Imagen 8"/>
          <p:cNvPicPr/>
          <p:nvPr/>
        </p:nvPicPr>
        <p:blipFill>
          <a:blip r:embed="rId1"/>
          <a:stretch/>
        </p:blipFill>
        <p:spPr>
          <a:xfrm>
            <a:off x="2389680" y="1836000"/>
            <a:ext cx="7169040" cy="19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Flecha: a la derecha 9"/>
          <p:cNvSpPr/>
          <p:nvPr/>
        </p:nvSpPr>
        <p:spPr>
          <a:xfrm rot="5400000">
            <a:off x="5212440" y="4419360"/>
            <a:ext cx="1310040" cy="456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2" name="CuadroTexto 14"/>
          <p:cNvSpPr/>
          <p:nvPr/>
        </p:nvSpPr>
        <p:spPr>
          <a:xfrm>
            <a:off x="6304320" y="4116600"/>
            <a:ext cx="1900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Ya podemos transformar frases a secuencias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n 11"/>
          <p:cNvPicPr/>
          <p:nvPr/>
        </p:nvPicPr>
        <p:blipFill>
          <a:blip r:embed="rId2"/>
          <a:stretch/>
        </p:blipFill>
        <p:spPr>
          <a:xfrm>
            <a:off x="2548080" y="5574960"/>
            <a:ext cx="6638040" cy="69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CuadroTexto 17"/>
          <p:cNvSpPr/>
          <p:nvPr/>
        </p:nvSpPr>
        <p:spPr>
          <a:xfrm>
            <a:off x="9559800" y="5511240"/>
            <a:ext cx="19008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YA PODEMOS ENTRENAR UN MODELO!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CuadroTexto 18"/>
          <p:cNvSpPr/>
          <p:nvPr/>
        </p:nvSpPr>
        <p:spPr>
          <a:xfrm>
            <a:off x="497520" y="4120560"/>
            <a:ext cx="33026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Comodin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OOV – Out of Vocabulary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Todas las palabras que no encuentre, serán una nueva palabra en el vocabulario: “OOV”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Padding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2;p3"/>
          <p:cNvSpPr/>
          <p:nvPr/>
        </p:nvSpPr>
        <p:spPr>
          <a:xfrm>
            <a:off x="497520" y="763200"/>
            <a:ext cx="89280" cy="65376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CuadroTexto 1"/>
          <p:cNvSpPr/>
          <p:nvPr/>
        </p:nvSpPr>
        <p:spPr>
          <a:xfrm>
            <a:off x="843120" y="1981080"/>
            <a:ext cx="9854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Para entrenar un algoritmo de ML siempre tendremos que establecer unos inputs con el mismo número de dimensiones.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No puede ser que cada frase mida diferente.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Esto se soluciona rellenando con 0s mediante la técnica “padding”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n 8"/>
          <p:cNvPicPr/>
          <p:nvPr/>
        </p:nvPicPr>
        <p:blipFill>
          <a:blip r:embed="rId1"/>
          <a:stretch/>
        </p:blipFill>
        <p:spPr>
          <a:xfrm>
            <a:off x="946800" y="3249360"/>
            <a:ext cx="4157280" cy="14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Flecha: a la derecha 9"/>
          <p:cNvSpPr/>
          <p:nvPr/>
        </p:nvSpPr>
        <p:spPr>
          <a:xfrm>
            <a:off x="5435640" y="3840480"/>
            <a:ext cx="1137240" cy="41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n 11"/>
          <p:cNvPicPr/>
          <p:nvPr/>
        </p:nvPicPr>
        <p:blipFill>
          <a:blip r:embed="rId2"/>
          <a:stretch/>
        </p:blipFill>
        <p:spPr>
          <a:xfrm>
            <a:off x="7341120" y="3249360"/>
            <a:ext cx="2795040" cy="14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Imagen 14"/>
          <p:cNvPicPr/>
          <p:nvPr/>
        </p:nvPicPr>
        <p:blipFill>
          <a:blip r:embed="rId3"/>
          <a:stretch/>
        </p:blipFill>
        <p:spPr>
          <a:xfrm>
            <a:off x="6957720" y="4961880"/>
            <a:ext cx="3561480" cy="14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120" cy="47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D8D8D8"/>
                </a:solidFill>
                <a:effectLst/>
                <a:uFillTx/>
                <a:latin typeface="Calibri"/>
                <a:ea typeface="Calibri"/>
              </a:rPr>
              <a:t>Dimensiones homogeneas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Orden vectores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120" cy="47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D8D8D8"/>
                </a:solidFill>
                <a:effectLst/>
                <a:uFillTx/>
                <a:latin typeface="Calibri"/>
                <a:ea typeface="Calibri"/>
              </a:rPr>
              <a:t>Relativo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02;p3"/>
          <p:cNvSpPr/>
          <p:nvPr/>
        </p:nvSpPr>
        <p:spPr>
          <a:xfrm>
            <a:off x="497520" y="763200"/>
            <a:ext cx="89280" cy="65376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CuadroTexto 1"/>
          <p:cNvSpPr/>
          <p:nvPr/>
        </p:nvSpPr>
        <p:spPr>
          <a:xfrm>
            <a:off x="843120" y="1981080"/>
            <a:ext cx="561780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“Me llevaré a la playa una sombrilla, bañador y quizás unas cartas. Cerveza ya compro en el chiringuito”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Eliminando stopwords…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playa: 1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sombrilla: 2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bañador: 3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cartas: 4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cerveza: 5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chiringuito: 6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8" name="Conector recto 3"/>
          <p:cNvCxnSpPr/>
          <p:nvPr/>
        </p:nvCxnSpPr>
        <p:spPr>
          <a:xfrm flipV="1">
            <a:off x="2910600" y="5303160"/>
            <a:ext cx="6606360" cy="1080"/>
          </a:xfrm>
          <a:prstGeom prst="straightConnector1">
            <a:avLst/>
          </a:prstGeom>
          <a:ln w="98425">
            <a:solidFill>
              <a:srgbClr val="3F6EC2"/>
            </a:solidFill>
            <a:round/>
          </a:ln>
        </p:spPr>
      </p:cxnSp>
      <p:pic>
        <p:nvPicPr>
          <p:cNvPr id="99" name="Imagen 5"/>
          <p:cNvPicPr/>
          <p:nvPr/>
        </p:nvPicPr>
        <p:blipFill>
          <a:blip r:embed="rId1"/>
          <a:stretch/>
        </p:blipFill>
        <p:spPr>
          <a:xfrm>
            <a:off x="7439760" y="4052880"/>
            <a:ext cx="867600" cy="86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Imagen 7"/>
          <p:cNvPicPr/>
          <p:nvPr/>
        </p:nvPicPr>
        <p:blipFill>
          <a:blip r:embed="rId2"/>
          <a:stretch/>
        </p:blipFill>
        <p:spPr>
          <a:xfrm>
            <a:off x="4123800" y="4030920"/>
            <a:ext cx="948960" cy="9489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1" name="Conector recto 12"/>
          <p:cNvCxnSpPr/>
          <p:nvPr/>
        </p:nvCxnSpPr>
        <p:spPr>
          <a:xfrm>
            <a:off x="3652200" y="5034600"/>
            <a:ext cx="720" cy="549000"/>
          </a:xfrm>
          <a:prstGeom prst="straightConnector1">
            <a:avLst/>
          </a:prstGeom>
          <a:ln w="34925">
            <a:solidFill>
              <a:srgbClr val="D9D9D9"/>
            </a:solidFill>
            <a:round/>
          </a:ln>
        </p:spPr>
      </p:cxnSp>
      <p:cxnSp>
        <p:nvCxnSpPr>
          <p:cNvPr id="102" name="Conector recto 18"/>
          <p:cNvCxnSpPr/>
          <p:nvPr/>
        </p:nvCxnSpPr>
        <p:spPr>
          <a:xfrm>
            <a:off x="4685040" y="5029200"/>
            <a:ext cx="720" cy="549000"/>
          </a:xfrm>
          <a:prstGeom prst="straightConnector1">
            <a:avLst/>
          </a:prstGeom>
          <a:ln w="34925">
            <a:solidFill>
              <a:srgbClr val="D9D9D9"/>
            </a:solidFill>
            <a:round/>
          </a:ln>
        </p:spPr>
      </p:cxnSp>
      <p:cxnSp>
        <p:nvCxnSpPr>
          <p:cNvPr id="103" name="Conector recto 19"/>
          <p:cNvCxnSpPr/>
          <p:nvPr/>
        </p:nvCxnSpPr>
        <p:spPr>
          <a:xfrm>
            <a:off x="5735160" y="5034600"/>
            <a:ext cx="720" cy="549000"/>
          </a:xfrm>
          <a:prstGeom prst="straightConnector1">
            <a:avLst/>
          </a:prstGeom>
          <a:ln w="34925">
            <a:solidFill>
              <a:srgbClr val="D9D9D9"/>
            </a:solidFill>
            <a:round/>
          </a:ln>
        </p:spPr>
      </p:cxnSp>
      <p:cxnSp>
        <p:nvCxnSpPr>
          <p:cNvPr id="104" name="Conector recto 20"/>
          <p:cNvCxnSpPr/>
          <p:nvPr/>
        </p:nvCxnSpPr>
        <p:spPr>
          <a:xfrm>
            <a:off x="6801840" y="5034600"/>
            <a:ext cx="720" cy="549000"/>
          </a:xfrm>
          <a:prstGeom prst="straightConnector1">
            <a:avLst/>
          </a:prstGeom>
          <a:ln w="34925">
            <a:solidFill>
              <a:srgbClr val="D9D9D9"/>
            </a:solidFill>
            <a:round/>
          </a:ln>
        </p:spPr>
      </p:cxnSp>
      <p:cxnSp>
        <p:nvCxnSpPr>
          <p:cNvPr id="105" name="Conector recto 21"/>
          <p:cNvCxnSpPr/>
          <p:nvPr/>
        </p:nvCxnSpPr>
        <p:spPr>
          <a:xfrm>
            <a:off x="7832520" y="5034600"/>
            <a:ext cx="720" cy="549000"/>
          </a:xfrm>
          <a:prstGeom prst="straightConnector1">
            <a:avLst/>
          </a:prstGeom>
          <a:ln w="34925">
            <a:solidFill>
              <a:srgbClr val="D9D9D9"/>
            </a:solidFill>
            <a:round/>
          </a:ln>
        </p:spPr>
      </p:cxnSp>
      <p:cxnSp>
        <p:nvCxnSpPr>
          <p:cNvPr id="106" name="Conector recto 22"/>
          <p:cNvCxnSpPr/>
          <p:nvPr/>
        </p:nvCxnSpPr>
        <p:spPr>
          <a:xfrm>
            <a:off x="8799840" y="5034600"/>
            <a:ext cx="720" cy="549000"/>
          </a:xfrm>
          <a:prstGeom prst="straightConnector1">
            <a:avLst/>
          </a:prstGeom>
          <a:ln w="34925">
            <a:solidFill>
              <a:srgbClr val="D9D9D9"/>
            </a:solidFill>
            <a:round/>
          </a:ln>
        </p:spPr>
      </p:cxnSp>
      <p:sp>
        <p:nvSpPr>
          <p:cNvPr id="107" name="CuadroTexto 24"/>
          <p:cNvSpPr/>
          <p:nvPr/>
        </p:nvSpPr>
        <p:spPr>
          <a:xfrm>
            <a:off x="3159720" y="5810760"/>
            <a:ext cx="984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CuadroTexto 25"/>
          <p:cNvSpPr/>
          <p:nvPr/>
        </p:nvSpPr>
        <p:spPr>
          <a:xfrm>
            <a:off x="4172040" y="5810040"/>
            <a:ext cx="984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CuadroTexto 26"/>
          <p:cNvSpPr/>
          <p:nvPr/>
        </p:nvSpPr>
        <p:spPr>
          <a:xfrm>
            <a:off x="5242680" y="5810400"/>
            <a:ext cx="984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CuadroTexto 27"/>
          <p:cNvSpPr/>
          <p:nvPr/>
        </p:nvSpPr>
        <p:spPr>
          <a:xfrm>
            <a:off x="6309360" y="5810400"/>
            <a:ext cx="984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CuadroTexto 28"/>
          <p:cNvSpPr/>
          <p:nvPr/>
        </p:nvSpPr>
        <p:spPr>
          <a:xfrm>
            <a:off x="7358040" y="5810400"/>
            <a:ext cx="984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CuadroTexto 29"/>
          <p:cNvSpPr/>
          <p:nvPr/>
        </p:nvSpPr>
        <p:spPr>
          <a:xfrm>
            <a:off x="8307000" y="5810040"/>
            <a:ext cx="984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n 110"/>
          <p:cNvPicPr/>
          <p:nvPr/>
        </p:nvPicPr>
        <p:blipFill>
          <a:blip r:embed="rId3"/>
          <a:stretch/>
        </p:blipFill>
        <p:spPr>
          <a:xfrm>
            <a:off x="5392800" y="4306680"/>
            <a:ext cx="711000" cy="71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Imagen 113"/>
          <p:cNvPicPr/>
          <p:nvPr/>
        </p:nvPicPr>
        <p:blipFill>
          <a:blip r:embed="rId4"/>
          <a:stretch/>
        </p:blipFill>
        <p:spPr>
          <a:xfrm>
            <a:off x="3296520" y="4190760"/>
            <a:ext cx="711000" cy="71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Imagen 115"/>
          <p:cNvPicPr/>
          <p:nvPr/>
        </p:nvPicPr>
        <p:blipFill>
          <a:blip r:embed="rId5"/>
          <a:stretch/>
        </p:blipFill>
        <p:spPr>
          <a:xfrm>
            <a:off x="6406560" y="4238280"/>
            <a:ext cx="711000" cy="71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Imagen 118"/>
          <p:cNvPicPr/>
          <p:nvPr/>
        </p:nvPicPr>
        <p:blipFill>
          <a:blip r:embed="rId6"/>
          <a:stretch/>
        </p:blipFill>
        <p:spPr>
          <a:xfrm>
            <a:off x="8452440" y="4156560"/>
            <a:ext cx="763920" cy="76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Embeddings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02;p3"/>
          <p:cNvSpPr/>
          <p:nvPr/>
        </p:nvSpPr>
        <p:spPr>
          <a:xfrm>
            <a:off x="497520" y="763200"/>
            <a:ext cx="89280" cy="65376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CuadroTexto 1"/>
          <p:cNvSpPr/>
          <p:nvPr/>
        </p:nvSpPr>
        <p:spPr>
          <a:xfrm>
            <a:off x="716760" y="1634760"/>
            <a:ext cx="985464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Vectores de alta dimensionalidad van a representar palabras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En el siguiente ejemplo vemos que cada palabra está representada en un vector en tres dimensiones. Hay algunas de las palabras que van a estar más próximas a otras.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Los modelos de Deep Learning inicializan estos vectores con pesos aleatorios y se van ajustando los pesos en cada iteración de backpropagation, por lo que cada espacio dimensional de los embeddings se adaptará a cada problema de ML.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2" descr="Word embeddings: the (very) basics – Around the word"/>
          <p:cNvPicPr/>
          <p:nvPr/>
        </p:nvPicPr>
        <p:blipFill>
          <a:blip r:embed="rId1"/>
          <a:stretch/>
        </p:blipFill>
        <p:spPr>
          <a:xfrm>
            <a:off x="3820320" y="3297600"/>
            <a:ext cx="4118400" cy="309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Embeddings en Tensorflow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02;p3"/>
          <p:cNvSpPr/>
          <p:nvPr/>
        </p:nvSpPr>
        <p:spPr>
          <a:xfrm>
            <a:off x="497520" y="763200"/>
            <a:ext cx="89280" cy="65376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Imagen 3"/>
          <p:cNvPicPr/>
          <p:nvPr/>
        </p:nvPicPr>
        <p:blipFill>
          <a:blip r:embed="rId1"/>
          <a:stretch/>
        </p:blipFill>
        <p:spPr>
          <a:xfrm>
            <a:off x="6095880" y="5015520"/>
            <a:ext cx="5378400" cy="153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CuadroTexto 7"/>
          <p:cNvSpPr/>
          <p:nvPr/>
        </p:nvSpPr>
        <p:spPr>
          <a:xfrm>
            <a:off x="716760" y="1634760"/>
            <a:ext cx="9854640" cy="39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Tokenizar (vocab_size)</a:t>
            </a: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: montar un diccionario con el vocabulario de cada observación, donde cada palabra la identificamos con un número.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Vectorizar</a:t>
            </a: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: Pasar cada frase a su secuencia de tokens numéricos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Padding (sequence length)</a:t>
            </a: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: pasamos cada frase a una secuencia de números siempre fija. Habrá que fijar la longitud fija de cada frase, mediante padding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Establecemos la capa de </a:t>
            </a:r>
            <a:r>
              <a:rPr lang="es-ES" sz="1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embedding</a:t>
            </a: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, donde ponemos la cantidad máxima del vocabulario, esto podría ser de palabras que al menos salgan 20 veces. Cuanto más vocabulario, más se ajusta el entrenamiento a todas las palabras de train. Configuramos el embedding size, que es la longitud del vector que va a representar cada palabra. Una buena práctica es usar la raíz cuarta del tamaño del vocabulario.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Después una PoolingLayer que pasará todos los datos a una única dimensión.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Las capas que necesitemos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Capa de Output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Capa Embedding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02;p3"/>
          <p:cNvSpPr/>
          <p:nvPr/>
        </p:nvSpPr>
        <p:spPr>
          <a:xfrm>
            <a:off x="497520" y="763200"/>
            <a:ext cx="89280" cy="65376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ángulo 1"/>
          <p:cNvSpPr/>
          <p:nvPr/>
        </p:nvSpPr>
        <p:spPr>
          <a:xfrm>
            <a:off x="963360" y="1857600"/>
            <a:ext cx="573480" cy="157068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8" name="CuadroTexto 6"/>
          <p:cNvSpPr/>
          <p:nvPr/>
        </p:nvSpPr>
        <p:spPr>
          <a:xfrm>
            <a:off x="61560" y="2322720"/>
            <a:ext cx="1045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samples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CuadroTexto 8"/>
          <p:cNvSpPr/>
          <p:nvPr/>
        </p:nvSpPr>
        <p:spPr>
          <a:xfrm>
            <a:off x="727200" y="1505160"/>
            <a:ext cx="1045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Text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ángulo 9"/>
          <p:cNvSpPr/>
          <p:nvPr/>
        </p:nvSpPr>
        <p:spPr>
          <a:xfrm>
            <a:off x="2202840" y="1857600"/>
            <a:ext cx="1716480" cy="157068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1" name="CuadroTexto 10"/>
          <p:cNvSpPr/>
          <p:nvPr/>
        </p:nvSpPr>
        <p:spPr>
          <a:xfrm>
            <a:off x="2007360" y="1505160"/>
            <a:ext cx="2107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Tokenizamos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Flecha: a la derecha 2"/>
          <p:cNvSpPr/>
          <p:nvPr/>
        </p:nvSpPr>
        <p:spPr>
          <a:xfrm>
            <a:off x="1659240" y="2430360"/>
            <a:ext cx="405720" cy="307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ángulo 11"/>
          <p:cNvSpPr/>
          <p:nvPr/>
        </p:nvSpPr>
        <p:spPr>
          <a:xfrm>
            <a:off x="4806360" y="1857600"/>
            <a:ext cx="2549520" cy="157068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4" name="Flecha: a la derecha 12"/>
          <p:cNvSpPr/>
          <p:nvPr/>
        </p:nvSpPr>
        <p:spPr>
          <a:xfrm>
            <a:off x="4178880" y="2430360"/>
            <a:ext cx="405720" cy="307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5" name="CuadroTexto 13"/>
          <p:cNvSpPr/>
          <p:nvPr/>
        </p:nvSpPr>
        <p:spPr>
          <a:xfrm>
            <a:off x="5027400" y="1505160"/>
            <a:ext cx="2107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1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Vocabulary size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ángulo 14"/>
          <p:cNvSpPr/>
          <p:nvPr/>
        </p:nvSpPr>
        <p:spPr>
          <a:xfrm>
            <a:off x="8418240" y="4759920"/>
            <a:ext cx="2549520" cy="157068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7" name="Flecha: a la derecha 15"/>
          <p:cNvSpPr/>
          <p:nvPr/>
        </p:nvSpPr>
        <p:spPr>
          <a:xfrm rot="5400000">
            <a:off x="9336960" y="3636000"/>
            <a:ext cx="405720" cy="307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ángulo 17"/>
          <p:cNvSpPr/>
          <p:nvPr/>
        </p:nvSpPr>
        <p:spPr>
          <a:xfrm>
            <a:off x="8197200" y="4962240"/>
            <a:ext cx="2549520" cy="157068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ángulo 18"/>
          <p:cNvSpPr/>
          <p:nvPr/>
        </p:nvSpPr>
        <p:spPr>
          <a:xfrm>
            <a:off x="7862040" y="5176440"/>
            <a:ext cx="2549520" cy="157068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" name="CuadroTexto 19"/>
          <p:cNvSpPr/>
          <p:nvPr/>
        </p:nvSpPr>
        <p:spPr>
          <a:xfrm>
            <a:off x="10490760" y="4869720"/>
            <a:ext cx="2107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1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Embedding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CuadroTexto 4"/>
          <p:cNvSpPr/>
          <p:nvPr/>
        </p:nvSpPr>
        <p:spPr>
          <a:xfrm>
            <a:off x="255960" y="3863160"/>
            <a:ext cx="1988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[ “frase 1 con texto”,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”otra frase”            ]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CuadroTexto 21"/>
          <p:cNvSpPr/>
          <p:nvPr/>
        </p:nvSpPr>
        <p:spPr>
          <a:xfrm>
            <a:off x="2270160" y="3849120"/>
            <a:ext cx="2321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[[ “frase”, “1”, “con”, “texto],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[ ”otra”, “frase”      ] ]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CuadroTexto 22"/>
          <p:cNvSpPr/>
          <p:nvPr/>
        </p:nvSpPr>
        <p:spPr>
          <a:xfrm>
            <a:off x="5149080" y="3843000"/>
            <a:ext cx="1716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[ 1,   2,   3,   4]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[ 5,   1]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CuadroTexto 23"/>
          <p:cNvSpPr/>
          <p:nvPr/>
        </p:nvSpPr>
        <p:spPr>
          <a:xfrm>
            <a:off x="5466600" y="2060280"/>
            <a:ext cx="171648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{ “frase”: 1,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“1”: 2,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“con”: 3,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“texto”: 4,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“otra”: 5 }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CuadroTexto 24"/>
          <p:cNvSpPr/>
          <p:nvPr/>
        </p:nvSpPr>
        <p:spPr>
          <a:xfrm>
            <a:off x="34200" y="4554360"/>
            <a:ext cx="2431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(n_samples x 1)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Flecha: a la derecha 25"/>
          <p:cNvSpPr/>
          <p:nvPr/>
        </p:nvSpPr>
        <p:spPr>
          <a:xfrm>
            <a:off x="7610400" y="2397240"/>
            <a:ext cx="405720" cy="307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ángulo 26"/>
          <p:cNvSpPr/>
          <p:nvPr/>
        </p:nvSpPr>
        <p:spPr>
          <a:xfrm>
            <a:off x="8273520" y="1870920"/>
            <a:ext cx="2549520" cy="157068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es-E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8" name="CuadroTexto 27"/>
          <p:cNvSpPr/>
          <p:nvPr/>
        </p:nvSpPr>
        <p:spPr>
          <a:xfrm>
            <a:off x="8425800" y="1490760"/>
            <a:ext cx="2107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1400" b="1" u="none" strike="noStrike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Arial"/>
              </a:rPr>
              <a:t>Padding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CuadroTexto 29"/>
          <p:cNvSpPr/>
          <p:nvPr/>
        </p:nvSpPr>
        <p:spPr>
          <a:xfrm>
            <a:off x="10109880" y="1035360"/>
            <a:ext cx="1716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[ 1,   2,   3,   4]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[ 0,   0,   5,   1]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CuadroTexto 28"/>
          <p:cNvSpPr/>
          <p:nvPr/>
        </p:nvSpPr>
        <p:spPr>
          <a:xfrm>
            <a:off x="7423200" y="3952080"/>
            <a:ext cx="4768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(n_samples x sequence_length)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CuadroTexto 31"/>
          <p:cNvSpPr/>
          <p:nvPr/>
        </p:nvSpPr>
        <p:spPr>
          <a:xfrm>
            <a:off x="8339400" y="5379480"/>
            <a:ext cx="171648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{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1: [1.21, 0.3, 2.2],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2: [-0.21, 1.7, 0.01]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…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} 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CuadroTexto 32"/>
          <p:cNvSpPr/>
          <p:nvPr/>
        </p:nvSpPr>
        <p:spPr>
          <a:xfrm>
            <a:off x="1920600" y="6303960"/>
            <a:ext cx="6161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(n_samples x sequence_length x embedding)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CuadroTexto 33"/>
          <p:cNvSpPr/>
          <p:nvPr/>
        </p:nvSpPr>
        <p:spPr>
          <a:xfrm>
            <a:off x="10395000" y="1823040"/>
            <a:ext cx="2107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ES" sz="1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sequence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ES" sz="1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length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Bibliografía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02;p3"/>
          <p:cNvSpPr/>
          <p:nvPr/>
        </p:nvSpPr>
        <p:spPr>
          <a:xfrm>
            <a:off x="497520" y="763200"/>
            <a:ext cx="89280" cy="65376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CuadroTexto 1"/>
          <p:cNvSpPr/>
          <p:nvPr/>
        </p:nvSpPr>
        <p:spPr>
          <a:xfrm>
            <a:off x="716760" y="1965960"/>
            <a:ext cx="89488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400" b="0" u="sng" strike="noStrike">
                <a:solidFill>
                  <a:srgbClr val="0563C1"/>
                </a:solidFill>
                <a:effectLst/>
                <a:uFillTx/>
                <a:latin typeface="Arial"/>
                <a:ea typeface="Arial"/>
                <a:hlinkClick r:id="rId1"/>
              </a:rPr>
              <a:t>https://learning.oreilly.com/library/view/ai-and-machine/9781492078180/ch06.html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1400" b="0" u="sng" strike="noStrike">
                <a:solidFill>
                  <a:srgbClr val="0563C1"/>
                </a:solidFill>
                <a:effectLst/>
                <a:uFillTx/>
                <a:latin typeface="Arial"/>
                <a:ea typeface="Arial"/>
                <a:hlinkClick r:id="rId2"/>
              </a:rPr>
              <a:t>https://medium.com/@kadircanercetin/intuitive-understanding-of-word-embeddings-with-keras-6435fe92a57b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3566</TotalTime>
  <Application>LibreOffice/26.2.2.2$Windows_X86_64 LibreOffice_project/1f77d10d6938fd34972958f64b2bcfa54f8b1ba5</Application>
  <AppVersion>15.0000</AppVersion>
  <Words>624</Words>
  <Paragraphs>104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2020-10-12T14:09:12Z</dcterms:created>
  <dc:creator>Daniel Ortiz</dc:creator>
  <dc:description/>
  <dc:language>es-ES</dc:language>
  <cp:lastModifiedBy/>
  <dcterms:modified xsi:type="dcterms:W3CDTF">2026-05-12T10:00:07Z</dcterms:modified>
  <cp:revision>37</cp:revision>
  <dc:subject/>
  <dc:title>Machine Learning Conceptos Aprendizaje Supervisado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11</vt:i4>
  </property>
</Properties>
</file>